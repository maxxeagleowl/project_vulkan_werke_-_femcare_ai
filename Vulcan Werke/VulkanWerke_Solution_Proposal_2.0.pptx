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2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2" r:id="rId5"/>
    <p:sldId id="259" r:id="rId6"/>
    <p:sldId id="261" r:id="rId7"/>
    <p:sldId id="260" r:id="rId8"/>
    <p:sldId id="267" r:id="rId9"/>
    <p:sldId id="264" r:id="rId10"/>
    <p:sldId id="265" r:id="rId11"/>
    <p:sldId id="266" r:id="rId12"/>
    <p:sldId id="263" r:id="rId13"/>
    <p:sldId id="269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45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44" autoAdjust="0"/>
    <p:restoredTop sz="85015" autoAdjust="0"/>
  </p:normalViewPr>
  <p:slideViewPr>
    <p:cSldViewPr snapToGrid="0" snapToObjects="1">
      <p:cViewPr varScale="1">
        <p:scale>
          <a:sx n="136" d="100"/>
          <a:sy n="136" d="100"/>
        </p:scale>
        <p:origin x="883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1373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QM Report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Creates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prestructured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report / Analyzes Data Gap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Review content and add missing context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0245-C722-5A7C-ACC8-C3AE92558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EC410-67CA-B42A-66DB-98D8283FE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905ECC-C54E-C899-557D-3CB50F8AB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F359-983B-4A77-8B73-D73373824C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10527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3AB86E5-0DE4-3B28-5B7B-B0B0344F3C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7301429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2194560"/>
            <a:ext cx="6400800" cy="6400800"/>
          </a:xfrm>
          <a:prstGeom prst="ellipse">
            <a:avLst/>
          </a:prstGeom>
          <a:solidFill>
            <a:srgbClr val="0B1E4D">
              <a:alpha val="25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766560" y="914400"/>
            <a:ext cx="1097280" cy="6400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766560" y="914400"/>
            <a:ext cx="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0" y="1554480"/>
            <a:ext cx="64008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63840" y="155448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863840" y="1554480"/>
            <a:ext cx="731520" cy="8229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06640" y="2651760"/>
            <a:ext cx="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06640" y="265176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595360" y="237744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0" y="3383280"/>
            <a:ext cx="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29600" y="3383280"/>
            <a:ext cx="36576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406640" y="2651760"/>
            <a:ext cx="82296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32320" y="3749040"/>
            <a:ext cx="1005840" cy="3657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711696" y="85953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743517" y="8913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99832" y="149047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836957" y="152759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458200" y="77724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484718" y="803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51776" y="259689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83597" y="262871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49640" y="23317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576158" y="23582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59652" y="2061972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83518" y="208583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79308" y="33329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08477" y="33621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091172" y="370789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15038" y="373175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101584" y="40782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122798" y="40994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-27432" y="177850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737" y="180767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4320" y="6400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1051560"/>
            <a:ext cx="7498080" cy="1051560"/>
          </a:xfrm>
          <a:prstGeom prst="rect">
            <a:avLst/>
          </a:prstGeom>
          <a:noFill/>
          <a:ln/>
          <a:effectLst>
            <a:outerShdw blurRad="203200" dist="50800" dir="16200000" algn="bl" rotWithShape="0">
              <a:srgbClr val="5B9BFF">
                <a:alpha val="4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Data Intelligence</a:t>
            </a:r>
            <a:endParaRPr lang="en-US" sz="4400" dirty="0"/>
          </a:p>
        </p:txBody>
      </p:sp>
      <p:sp>
        <p:nvSpPr>
          <p:cNvPr id="40" name="Text 38"/>
          <p:cNvSpPr/>
          <p:nvPr/>
        </p:nvSpPr>
        <p:spPr>
          <a:xfrm>
            <a:off x="274320" y="224028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&amp; Solution Proposal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274320" y="2816352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4320" y="29809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  ·  June 1, 2026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974336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– Internal Use Only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1/13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 for a centralized data &amp; knowledge platform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54406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5440680" cy="54864"/>
          </a:xfrm>
          <a:prstGeom prst="rect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1060704"/>
            <a:ext cx="5074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faces growing operational friction: fragmented data, disconnected systems, manual reporting, and heavy dependence on individual experts for critical information.</a:t>
            </a:r>
            <a:endParaRPr lang="en-US" sz="1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Manufacturing, quality, and operational data live in systems that don't talk to each other. Root cause investigations are slow, quality issues surface too late, reporting eats time, and knowledge stays locked in a few heads.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</a:t>
            </a:r>
            <a:endParaRPr lang="en-US" sz="1200" dirty="0"/>
          </a:p>
          <a:p>
            <a:pPr marL="0" indent="0"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combines operational data from multiple systems into a single trusted source of truth — built on proven software, with AI applied only where it creates measurable business value.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70448" y="8778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applied only where it pays off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870448" y="1243584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870448" y="1243584"/>
            <a:ext cx="91440" cy="102412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25896" y="14538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052414" y="14804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36208" y="1371600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retrieval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236208" y="1700784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know-how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870448" y="2414016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870448" y="2414016"/>
            <a:ext cx="91440" cy="102412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025896" y="262432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52414" y="265084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236208" y="2542032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support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36208" y="2871216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Faster, evidence-based root cause analysis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70448" y="3584448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870448" y="3584448"/>
            <a:ext cx="91440" cy="102412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025896" y="379476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052414" y="38212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236208" y="3712464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236208" y="4041648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ISO, quality, and audit reporting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85585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87706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domains, one root cause: fragmented data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779776" cy="5120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16636" y="163220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4580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062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8638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Defects &amp; quality issues detected too late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6636" y="238493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45805" y="241410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0624" y="230721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86384" y="227063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costs continue to increase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16636" y="306159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45805" y="309076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20624" y="298387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86384" y="294729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investigations slow and difficult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0040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00400" y="841248"/>
            <a:ext cx="2779776" cy="5120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34670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3442716" y="1632204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47188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4670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71246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knowledge depends on few individuals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442716" y="26014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347188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34670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71246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retrieval is manual and time-consuming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442716" y="3570732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347188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34670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71246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scattered across many systems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12648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126480" y="841248"/>
            <a:ext cx="2779776" cy="51206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27278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6368796" y="1632204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39796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27278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63854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 requires significant effort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368796" y="26014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39796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27278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63854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is largely manual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368796" y="3570732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639796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627278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63854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evidence for improvements hard to provide</a:t>
            </a:r>
            <a:endParaRPr lang="en-US" sz="1100" dirty="0"/>
          </a:p>
        </p:txBody>
      </p:sp>
      <p:sp>
        <p:nvSpPr>
          <p:cNvPr id="72" name="Shape 36">
            <a:extLst>
              <a:ext uri="{FF2B5EF4-FFF2-40B4-BE49-F238E27FC236}">
                <a16:creationId xmlns:a16="http://schemas.microsoft.com/office/drawing/2014/main" id="{91D940D3-3B3D-F24F-006F-2E255BF6DA37}"/>
              </a:ext>
            </a:extLst>
          </p:cNvPr>
          <p:cNvSpPr/>
          <p:nvPr/>
        </p:nvSpPr>
        <p:spPr>
          <a:xfrm>
            <a:off x="516636" y="3765747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37">
            <a:extLst>
              <a:ext uri="{FF2B5EF4-FFF2-40B4-BE49-F238E27FC236}">
                <a16:creationId xmlns:a16="http://schemas.microsoft.com/office/drawing/2014/main" id="{1580CB88-B797-31F9-D5BA-452F8AC2F7B8}"/>
              </a:ext>
            </a:extLst>
          </p:cNvPr>
          <p:cNvSpPr/>
          <p:nvPr/>
        </p:nvSpPr>
        <p:spPr>
          <a:xfrm>
            <a:off x="545805" y="3794916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38">
            <a:extLst>
              <a:ext uri="{FF2B5EF4-FFF2-40B4-BE49-F238E27FC236}">
                <a16:creationId xmlns:a16="http://schemas.microsoft.com/office/drawing/2014/main" id="{59E0880F-D2B2-47AE-E56A-90FF857D6BA6}"/>
              </a:ext>
            </a:extLst>
          </p:cNvPr>
          <p:cNvSpPr/>
          <p:nvPr/>
        </p:nvSpPr>
        <p:spPr>
          <a:xfrm>
            <a:off x="420624" y="3688023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</a:rPr>
              <a:t>4</a:t>
            </a:r>
            <a:endParaRPr lang="en-US" sz="9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3A80E0B1-2A06-9CB5-8A83-8D1CCEB67ACF}"/>
              </a:ext>
            </a:extLst>
          </p:cNvPr>
          <p:cNvSpPr/>
          <p:nvPr/>
        </p:nvSpPr>
        <p:spPr>
          <a:xfrm>
            <a:off x="786384" y="3651447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&amp; data based decision not possible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Components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agents — each scoped to a clear business value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075688" cy="42062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43484" y="100126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653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02336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knowledge.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02336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2336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downtime data?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02336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is OEE calculated?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2336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feeds this report?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02336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02336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2336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expert dependency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02336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onboarding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02336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478024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478024" y="841248"/>
            <a:ext cx="2075688" cy="42062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647188" y="10012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676357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862072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2606040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root cause investigations.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06040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06040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rework increase?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606040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downtime occur?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606040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incidents before?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606040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606040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06040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606040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decisions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606040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Improved transparency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681728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681728" y="841248"/>
            <a:ext cx="2075688" cy="42062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850892" y="10012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880061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065776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4809744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preparation.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4809744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809744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reports</a:t>
            </a:r>
          </a:p>
        </p:txBody>
      </p:sp>
      <p:sp>
        <p:nvSpPr>
          <p:cNvPr id="65" name="Text 63"/>
          <p:cNvSpPr/>
          <p:nvPr/>
        </p:nvSpPr>
        <p:spPr>
          <a:xfrm>
            <a:off x="4809744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management summaries</a:t>
            </a:r>
          </a:p>
        </p:txBody>
      </p:sp>
      <p:sp>
        <p:nvSpPr>
          <p:cNvPr id="66" name="Text 64"/>
          <p:cNvSpPr/>
          <p:nvPr/>
        </p:nvSpPr>
        <p:spPr>
          <a:xfrm>
            <a:off x="4809744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packages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809744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809744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4809744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reporting effort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809744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4809744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docs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885432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6885432" y="841248"/>
            <a:ext cx="2075688" cy="420624"/>
          </a:xfrm>
          <a:prstGeom prst="rect">
            <a:avLst/>
          </a:prstGeom>
          <a:solidFill>
            <a:srgbClr val="FFC23D">
              <a:alpha val="18000"/>
            </a:srgbClr>
          </a:solidFill>
          <a:ln w="12700">
            <a:solidFill>
              <a:srgbClr val="FFC23D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7054596" y="1001268"/>
            <a:ext cx="100584" cy="10058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7083765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7269480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7013448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Proactive early warning and trend detection.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7013448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7013448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Rising scrap rates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013448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Unusual downtime patterns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7013448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maintenance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013448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7013448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7013448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visibility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013448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013448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surprises</a:t>
            </a:r>
            <a:endParaRPr lang="en-US" sz="850" dirty="0"/>
          </a:p>
        </p:txBody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B65F9AB8-DB6C-A179-4CC1-3133ACAC0CD3}"/>
              </a:ext>
            </a:extLst>
          </p:cNvPr>
          <p:cNvSpPr/>
          <p:nvPr/>
        </p:nvSpPr>
        <p:spPr>
          <a:xfrm>
            <a:off x="1042162" y="4574286"/>
            <a:ext cx="1321562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600" dirty="0">
                <a:solidFill>
                  <a:srgbClr val="9DBEF0"/>
                </a:solidFill>
                <a:latin typeface="Aptos" pitchFamily="34" charset="0"/>
              </a:rPr>
              <a:t>*Overall Equipment Effectiveness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82296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Architecture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74320" y="4297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GDPR-compliant  ·  AI Act Minimal Risk  ·  AI never sees raw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5/13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10528" y="731520"/>
            <a:ext cx="16459" cy="4187952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solidFill>
            <a:srgbClr val="36E0FF">
              <a:alpha val="20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solidFill>
            <a:srgbClr val="3DEFC4">
              <a:alpha val="20000"/>
            </a:srgbClr>
          </a:solidFill>
          <a:ln w="635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solidFill>
            <a:srgbClr val="5B9BFF">
              <a:alpha val="20000"/>
            </a:srgbClr>
          </a:solidFill>
          <a:ln w="6350">
            <a:solidFill>
              <a:srgbClr val="5B9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solidFill>
            <a:srgbClr val="6B82B5">
              <a:alpha val="20000"/>
            </a:srgbClr>
          </a:solidFill>
          <a:ln w="6350">
            <a:solidFill>
              <a:srgbClr val="6B82B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932688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32688" y="822960"/>
            <a:ext cx="1627632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7552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/ </a:t>
            </a:r>
          </a:p>
          <a:p>
            <a:pPr marL="0" indent="0" algn="ctr">
              <a:buNone/>
            </a:pPr>
            <a:r>
              <a:rPr lang="en-US" sz="1000" b="1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Alerts</a:t>
            </a:r>
          </a:p>
        </p:txBody>
      </p:sp>
      <p:sp>
        <p:nvSpPr>
          <p:cNvPr id="35" name="Shape 33"/>
          <p:cNvSpPr/>
          <p:nvPr/>
        </p:nvSpPr>
        <p:spPr>
          <a:xfrm>
            <a:off x="1746504" y="1792224"/>
            <a:ext cx="0" cy="0"/>
          </a:xfrm>
          <a:prstGeom prst="line">
            <a:avLst/>
          </a:prstGeom>
          <a:noFill/>
          <a:ln w="12700">
            <a:solidFill>
              <a:srgbClr val="36E0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0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743200" y="822960"/>
            <a:ext cx="1627632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98064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5701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553712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553712" y="822960"/>
            <a:ext cx="1627632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608576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&amp; Reports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67528" y="1792224"/>
            <a:ext cx="0" cy="0"/>
          </a:xfrm>
          <a:prstGeom prst="line">
            <a:avLst/>
          </a:prstGeom>
          <a:noFill/>
          <a:ln w="12700">
            <a:solidFill>
              <a:srgbClr val="A78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914400" y="1810512"/>
            <a:ext cx="5394960" cy="950975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987552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87552" y="1883664"/>
            <a:ext cx="1225296" cy="45719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554480" y="2093976"/>
            <a:ext cx="91440" cy="81981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580998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024128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24128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know-how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322576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322576" y="1883664"/>
            <a:ext cx="1225296" cy="45719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2889504" y="2093976"/>
            <a:ext cx="91440" cy="81981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916022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359152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359152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657600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0" y="1883664"/>
            <a:ext cx="1225296" cy="45719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224528" y="2093976"/>
            <a:ext cx="91440" cy="81981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251046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694176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94176" y="2420112"/>
            <a:ext cx="1152144" cy="300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 / audit reports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992624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992624" y="1883664"/>
            <a:ext cx="1225296" cy="45719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59552" y="2093976"/>
            <a:ext cx="91440" cy="81981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586070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0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29200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· alerts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932688" y="2944368"/>
            <a:ext cx="1627632" cy="859536"/>
          </a:xfrm>
          <a:prstGeom prst="rect">
            <a:avLst/>
          </a:prstGeom>
          <a:solidFill>
            <a:srgbClr val="0A1430"/>
          </a:solidFill>
          <a:ln w="22860">
            <a:solidFill>
              <a:srgbClr val="5B9BFF"/>
            </a:solidFill>
            <a:prstDash val="solid"/>
          </a:ln>
          <a:effectLst>
            <a:outerShdw blurRad="152400" dist="50800" dir="16200000" algn="bl" rotWithShape="0">
              <a:srgbClr val="5B9BFF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32688" y="2944368"/>
            <a:ext cx="1627632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969264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987552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source of truth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2743200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743200" y="2944368"/>
            <a:ext cx="1627632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779776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Layer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2798064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· NDA · Minimization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4553712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553712" y="2944368"/>
            <a:ext cx="1627632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590288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&amp; Analytics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4608576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Engine · Aggregation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560320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4370832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602736" y="2944368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60273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932688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932688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932688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932688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011680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011680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011680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2011680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3090672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3090672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3090672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3090672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QMS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3529584" y="4206240"/>
            <a:ext cx="73152" cy="0"/>
          </a:xfrm>
          <a:prstGeom prst="line">
            <a:avLst/>
          </a:prstGeom>
          <a:noFill/>
          <a:ln w="12700">
            <a:solidFill>
              <a:srgbClr val="5B9B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4169664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4169664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169664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4169664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608576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248656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248656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248656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5248656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87568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6601968" y="80467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GUARANTEE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6601968" y="1042416"/>
            <a:ext cx="2432304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114300" dist="50800" dir="16200000" algn="bl" rotWithShape="0">
              <a:srgbClr val="5B9BFF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6748272" y="1152144"/>
            <a:ext cx="21579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never receives raw production data.</a:t>
            </a:r>
            <a:endParaRPr lang="en-US" sz="1050" dirty="0"/>
          </a:p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request passes access validation, NDA checks, filtering, KPI calculation and aggregation first. Only the resulting business context reaches the LLM.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6601968" y="25420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6601968" y="2798064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601968" y="2798064"/>
            <a:ext cx="54864" cy="438912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6711696" y="279806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260336" y="2834640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PII to AI  ·  Art. 6(1)(f)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6601968" y="3310128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6601968" y="3310128"/>
            <a:ext cx="54864" cy="438912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6711696" y="331012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Act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7260336" y="3346704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Risk  ·  Human approval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6601968" y="3822192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6601968" y="3822192"/>
            <a:ext cx="54864" cy="43891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6711696" y="382219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7260336" y="385876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audit trails  ·  Traceable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6601968" y="4334256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601968" y="4334256"/>
            <a:ext cx="54864" cy="43891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6711696" y="4334256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/ IP</a:t>
            </a:r>
            <a:endParaRPr lang="en-US" sz="800" dirty="0"/>
          </a:p>
        </p:txBody>
      </p:sp>
      <p:sp>
        <p:nvSpPr>
          <p:cNvPr id="130" name="Text 128"/>
          <p:cNvSpPr/>
          <p:nvPr/>
        </p:nvSpPr>
        <p:spPr>
          <a:xfrm>
            <a:off x="7260336" y="4370832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Role-based access</a:t>
            </a:r>
            <a:endParaRPr lang="en-US" sz="800" dirty="0"/>
          </a:p>
        </p:txBody>
      </p:sp>
      <p:sp>
        <p:nvSpPr>
          <p:cNvPr id="134" name="Shape 80">
            <a:extLst>
              <a:ext uri="{FF2B5EF4-FFF2-40B4-BE49-F238E27FC236}">
                <a16:creationId xmlns:a16="http://schemas.microsoft.com/office/drawing/2014/main" id="{528CE517-00FA-756D-616B-8CD360EC5BFA}"/>
              </a:ext>
            </a:extLst>
          </p:cNvPr>
          <p:cNvSpPr/>
          <p:nvPr/>
        </p:nvSpPr>
        <p:spPr>
          <a:xfrm flipV="1">
            <a:off x="5151120" y="2761487"/>
            <a:ext cx="0" cy="18974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80">
            <a:extLst>
              <a:ext uri="{FF2B5EF4-FFF2-40B4-BE49-F238E27FC236}">
                <a16:creationId xmlns:a16="http://schemas.microsoft.com/office/drawing/2014/main" id="{353C7863-6CD6-28A0-733B-11A9170E2033}"/>
              </a:ext>
            </a:extLst>
          </p:cNvPr>
          <p:cNvSpPr/>
          <p:nvPr/>
        </p:nvSpPr>
        <p:spPr>
          <a:xfrm flipH="1" flipV="1">
            <a:off x="3602736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80">
            <a:extLst>
              <a:ext uri="{FF2B5EF4-FFF2-40B4-BE49-F238E27FC236}">
                <a16:creationId xmlns:a16="http://schemas.microsoft.com/office/drawing/2014/main" id="{59B98B5D-417B-7F40-4E68-C30CC5AAE5C4}"/>
              </a:ext>
            </a:extLst>
          </p:cNvPr>
          <p:cNvSpPr/>
          <p:nvPr/>
        </p:nvSpPr>
        <p:spPr>
          <a:xfrm flipH="1" flipV="1">
            <a:off x="5334000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80">
            <a:extLst>
              <a:ext uri="{FF2B5EF4-FFF2-40B4-BE49-F238E27FC236}">
                <a16:creationId xmlns:a16="http://schemas.microsoft.com/office/drawing/2014/main" id="{95C0D784-0EDA-C3E6-B485-0BB3158C4F6D}"/>
              </a:ext>
            </a:extLst>
          </p:cNvPr>
          <p:cNvSpPr/>
          <p:nvPr/>
        </p:nvSpPr>
        <p:spPr>
          <a:xfrm flipH="1" flipV="1">
            <a:off x="1746504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cxnSp>
        <p:nvCxnSpPr>
          <p:cNvPr id="145" name="Verbinder: gewinkelt 144">
            <a:extLst>
              <a:ext uri="{FF2B5EF4-FFF2-40B4-BE49-F238E27FC236}">
                <a16:creationId xmlns:a16="http://schemas.microsoft.com/office/drawing/2014/main" id="{F08504C3-5A44-EAAB-539D-7B2301E19102}"/>
              </a:ext>
            </a:extLst>
          </p:cNvPr>
          <p:cNvCxnSpPr>
            <a:stCxn id="86" idx="0"/>
            <a:endCxn id="69" idx="2"/>
          </p:cNvCxnSpPr>
          <p:nvPr/>
        </p:nvCxnSpPr>
        <p:spPr>
          <a:xfrm rot="5400000" flipH="1" flipV="1">
            <a:off x="1357884" y="3817620"/>
            <a:ext cx="402336" cy="374904"/>
          </a:xfrm>
          <a:prstGeom prst="bentConnector3">
            <a:avLst/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5EDE1C30-937F-5D0E-6DDD-853147743A3D}"/>
              </a:ext>
            </a:extLst>
          </p:cNvPr>
          <p:cNvCxnSpPr>
            <a:cxnSpLocks/>
            <a:stCxn id="106" idx="0"/>
            <a:endCxn id="69" idx="2"/>
          </p:cNvCxnSpPr>
          <p:nvPr/>
        </p:nvCxnSpPr>
        <p:spPr>
          <a:xfrm rot="16200000" flipV="1">
            <a:off x="3515868" y="2034540"/>
            <a:ext cx="402336" cy="3941064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8" name="Verbinder: gewinkelt 147">
            <a:extLst>
              <a:ext uri="{FF2B5EF4-FFF2-40B4-BE49-F238E27FC236}">
                <a16:creationId xmlns:a16="http://schemas.microsoft.com/office/drawing/2014/main" id="{59FCAC94-E499-DFA5-C859-1CB177A33D2B}"/>
              </a:ext>
            </a:extLst>
          </p:cNvPr>
          <p:cNvCxnSpPr>
            <a:cxnSpLocks/>
            <a:stCxn id="101" idx="0"/>
            <a:endCxn id="69" idx="2"/>
          </p:cNvCxnSpPr>
          <p:nvPr/>
        </p:nvCxnSpPr>
        <p:spPr>
          <a:xfrm rot="16200000" flipV="1">
            <a:off x="2976372" y="2574036"/>
            <a:ext cx="402336" cy="2862072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0" name="Verbinder: gewinkelt 149">
            <a:extLst>
              <a:ext uri="{FF2B5EF4-FFF2-40B4-BE49-F238E27FC236}">
                <a16:creationId xmlns:a16="http://schemas.microsoft.com/office/drawing/2014/main" id="{99A53F2D-3E84-DBA4-AF63-2D0BEE6CFAF8}"/>
              </a:ext>
            </a:extLst>
          </p:cNvPr>
          <p:cNvCxnSpPr>
            <a:cxnSpLocks/>
            <a:stCxn id="96" idx="0"/>
            <a:endCxn id="69" idx="2"/>
          </p:cNvCxnSpPr>
          <p:nvPr/>
        </p:nvCxnSpPr>
        <p:spPr>
          <a:xfrm rot="16200000" flipV="1">
            <a:off x="2436876" y="3113532"/>
            <a:ext cx="402336" cy="178308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2" name="Verbinder: gewinkelt 151">
            <a:extLst>
              <a:ext uri="{FF2B5EF4-FFF2-40B4-BE49-F238E27FC236}">
                <a16:creationId xmlns:a16="http://schemas.microsoft.com/office/drawing/2014/main" id="{6BC85863-1ECF-C7EC-A0F6-C620413AAC78}"/>
              </a:ext>
            </a:extLst>
          </p:cNvPr>
          <p:cNvCxnSpPr>
            <a:cxnSpLocks/>
            <a:stCxn id="91" idx="0"/>
            <a:endCxn id="69" idx="2"/>
          </p:cNvCxnSpPr>
          <p:nvPr/>
        </p:nvCxnSpPr>
        <p:spPr>
          <a:xfrm rot="16200000" flipV="1">
            <a:off x="1897380" y="3653028"/>
            <a:ext cx="402336" cy="704088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 &amp; Report Accuracy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Quantified savings — and how AI reports stay trustworthy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AI reports stay accurate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1152144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1152144"/>
            <a:ext cx="54864" cy="457200"/>
          </a:xfrm>
          <a:prstGeom prst="rect">
            <a:avLst/>
          </a:prstGeom>
          <a:solidFill>
            <a:srgbClr val="6B82B5"/>
          </a:solidFill>
          <a:ln w="12700">
            <a:solidFill>
              <a:srgbClr val="6B82B5"/>
            </a:solidFill>
            <a:prstDash val="solid"/>
          </a:ln>
          <a:effectLst>
            <a:outerShdw blurRad="63500" dist="50800" dir="16200000" algn="bl" rotWithShape="0">
              <a:srgbClr val="6B82B5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58368" y="1325880"/>
            <a:ext cx="109728" cy="109728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90189" y="135770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3504" y="1243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115214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QM Report</a:t>
            </a:r>
          </a:p>
        </p:txBody>
      </p:sp>
      <p:sp>
        <p:nvSpPr>
          <p:cNvPr id="34" name="Shape 32"/>
          <p:cNvSpPr/>
          <p:nvPr/>
        </p:nvSpPr>
        <p:spPr>
          <a:xfrm>
            <a:off x="740664" y="1609344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" y="1719072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" y="1719072"/>
            <a:ext cx="54864" cy="4572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" y="1892808"/>
            <a:ext cx="109728" cy="109728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90189" y="1924629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03504" y="18105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14400" y="17190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Sources &amp; Evidence Collection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0664" y="2176272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57200" y="2286000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8368" y="2459736"/>
            <a:ext cx="109728" cy="109728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90189" y="24915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3504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14400" y="2286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Draft Report 	</a:t>
            </a:r>
            <a:r>
              <a:rPr lang="en-US" sz="8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[predefined structure / analyzes data gaps]</a:t>
            </a:r>
            <a:endParaRPr lang="en-US" sz="1100" i="1" dirty="0"/>
          </a:p>
        </p:txBody>
      </p:sp>
      <p:sp>
        <p:nvSpPr>
          <p:cNvPr id="48" name="Shape 46"/>
          <p:cNvSpPr/>
          <p:nvPr/>
        </p:nvSpPr>
        <p:spPr>
          <a:xfrm>
            <a:off x="740664" y="2743200"/>
            <a:ext cx="0" cy="109728"/>
          </a:xfrm>
          <a:prstGeom prst="line">
            <a:avLst/>
          </a:prstGeom>
          <a:noFill/>
          <a:ln w="12700">
            <a:solidFill>
              <a:srgbClr val="A78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57200" y="2852928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57200" y="2852928"/>
            <a:ext cx="54864" cy="4572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58368" y="3026664"/>
            <a:ext cx="109728" cy="109728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90189" y="3058485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03504" y="29443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14400" y="28529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Validation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40664" y="3310128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57200" y="3419856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57200" y="3419856"/>
            <a:ext cx="54864" cy="45720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58368" y="3593592"/>
            <a:ext cx="109728" cy="109728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90189" y="3625413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03504" y="35112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914400" y="341985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[Review content and add missing context]</a:t>
            </a:r>
            <a:endParaRPr lang="en-US" sz="1100" i="1" dirty="0"/>
          </a:p>
        </p:txBody>
      </p:sp>
      <p:sp>
        <p:nvSpPr>
          <p:cNvPr id="62" name="Shape 60"/>
          <p:cNvSpPr/>
          <p:nvPr/>
        </p:nvSpPr>
        <p:spPr>
          <a:xfrm>
            <a:off x="740664" y="3877056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57200" y="3986784"/>
            <a:ext cx="3840480" cy="457200"/>
          </a:xfrm>
          <a:prstGeom prst="rect">
            <a:avLst/>
          </a:prstGeom>
          <a:solidFill>
            <a:srgbClr val="0A1430"/>
          </a:solidFill>
          <a:ln w="20320">
            <a:solidFill>
              <a:srgbClr val="3DEFC4"/>
            </a:solidFill>
            <a:prstDash val="solid"/>
          </a:ln>
          <a:effectLst>
            <a:outerShdw blurRad="127000" dist="50800" dir="16200000" algn="bl" rotWithShape="0">
              <a:srgbClr val="3DEFC4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57200" y="3986784"/>
            <a:ext cx="54864" cy="4572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58368" y="4160520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90189" y="419234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03504" y="40782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14400" y="398678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Final Report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46268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first  ·  No unsupported assumptions  ·  Human approval required  ·  Full traceability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663440" y="841248"/>
            <a:ext cx="4224528" cy="12984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127000" dist="50800" dir="16200000" algn="bl" rotWithShape="0">
              <a:srgbClr val="3DEFC4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663440" y="841248"/>
            <a:ext cx="4224528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846320" y="950976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/ audit report preparation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4846320" y="109151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~4 weeks</a:t>
            </a:r>
            <a:r>
              <a:rPr lang="en-US" sz="2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→   </a:t>
            </a:r>
            <a:r>
              <a:rPr lang="en-US" sz="2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3–4 days</a:t>
            </a:r>
            <a:endParaRPr lang="en-US" sz="2400" dirty="0"/>
          </a:p>
        </p:txBody>
      </p:sp>
      <p:sp>
        <p:nvSpPr>
          <p:cNvPr id="74" name="Text 72"/>
          <p:cNvSpPr/>
          <p:nvPr/>
        </p:nvSpPr>
        <p:spPr>
          <a:xfrm>
            <a:off x="4846320" y="1615327"/>
            <a:ext cx="3931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Ingrid's recurring reporting effort, today vs. with the platform</a:t>
            </a:r>
          </a:p>
          <a:p>
            <a:pPr marL="0" indent="0">
              <a:buNone/>
            </a:pPr>
            <a:endParaRPr lang="en-US" sz="850" i="1" dirty="0">
              <a:solidFill>
                <a:srgbClr val="9DBEF0"/>
              </a:solidFill>
              <a:latin typeface="Aptos" pitchFamily="34" charset="0"/>
            </a:endParaRPr>
          </a:p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</a:rPr>
              <a:t>80% average reduction in time for complex report, up to 92% reduction in ad-hoc responses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63440" y="2286000"/>
            <a:ext cx="42245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FURTHER IMPACT  ·  estimated, to be validated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663440" y="2542032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663440" y="2542032"/>
            <a:ext cx="54864" cy="65836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4828032" y="26151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investigations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4828032" y="288950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analysis through guided evidence retrieval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solidFill>
            <a:srgbClr val="36E0FF">
              <a:alpha val="22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2" name="Shape 80"/>
          <p:cNvSpPr/>
          <p:nvPr/>
        </p:nvSpPr>
        <p:spPr>
          <a:xfrm>
            <a:off x="4663440" y="3291840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663440" y="3291840"/>
            <a:ext cx="54864" cy="658368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828032" y="33649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4828032" y="36393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reaction via proactive monitoring &amp; alerts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solidFill>
            <a:srgbClr val="FFC23D">
              <a:alpha val="22000"/>
            </a:srgbClr>
          </a:solidFill>
          <a:ln w="635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4663440" y="4041648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663440" y="4041648"/>
            <a:ext cx="54864" cy="65836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4828032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Sustained quality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4828032" y="4389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recognition fixes root causes for good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solidFill>
            <a:srgbClr val="A78BFF">
              <a:alpha val="22000"/>
            </a:srgbClr>
          </a:solidFill>
          <a:ln w="635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96B1E413-0C63-8053-A546-F31FFD07FFBB}"/>
              </a:ext>
            </a:extLst>
          </p:cNvPr>
          <p:cNvCxnSpPr>
            <a:stCxn id="56" idx="3"/>
            <a:endCxn id="42" idx="3"/>
          </p:cNvCxnSpPr>
          <p:nvPr/>
        </p:nvCxnSpPr>
        <p:spPr>
          <a:xfrm flipV="1">
            <a:off x="4297680" y="2514600"/>
            <a:ext cx="12700" cy="1133856"/>
          </a:xfrm>
          <a:prstGeom prst="bentConnector3">
            <a:avLst>
              <a:gd name="adj1" fmla="val 990000"/>
            </a:avLst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question becomes a trusted, traceable answer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pipeline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117043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30352" y="1307592"/>
            <a:ext cx="128016" cy="128016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67477" y="13447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248" y="117043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Question	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" y="1572768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65760" y="168249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30352" y="1819656"/>
            <a:ext cx="128016" cy="12801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67477" y="185678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1746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" y="168249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 Check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" y="2084832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65760" y="2194560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30352" y="2331720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67477" y="2368845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5720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1248" y="2194560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Data Selection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" y="2596896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65760" y="2706624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30352" y="2843784"/>
            <a:ext cx="128016" cy="128016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567477" y="2880909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5720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41248" y="270662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Calculation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94360" y="3108960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65760" y="3218688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5B9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0352" y="3355848"/>
            <a:ext cx="128016" cy="12801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67477" y="33929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5720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41248" y="3218688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94360" y="3621024"/>
            <a:ext cx="0" cy="109728"/>
          </a:xfrm>
          <a:prstGeom prst="line">
            <a:avLst/>
          </a:prstGeom>
          <a:noFill/>
          <a:ln w="12700">
            <a:solidFill>
              <a:srgbClr val="5B9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" y="373075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30352" y="3867912"/>
            <a:ext cx="128016" cy="12801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67477" y="390503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57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41248" y="373075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Analysis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94360" y="4133088"/>
            <a:ext cx="0" cy="109728"/>
          </a:xfrm>
          <a:prstGeom prst="line">
            <a:avLst/>
          </a:prstGeom>
          <a:noFill/>
          <a:ln w="12700">
            <a:solidFill>
              <a:srgbClr val="3DEFC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365760" y="424281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30352" y="437997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67477" y="441710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572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41248" y="424281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→ Final Decision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892040" y="841248"/>
            <a:ext cx="39959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892040" y="841248"/>
            <a:ext cx="3995928" cy="548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0749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5074920" y="1335024"/>
            <a:ext cx="3630168" cy="548640"/>
          </a:xfrm>
          <a:prstGeom prst="rect">
            <a:avLst/>
          </a:prstGeom>
          <a:solidFill>
            <a:srgbClr val="08112A"/>
          </a:solidFill>
          <a:ln w="1016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5184648" y="1335024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"Why did rework increase on Line 3 last week?"</a:t>
            </a:r>
            <a:endParaRPr lang="en-US" sz="1150" dirty="0"/>
          </a:p>
        </p:txBody>
      </p:sp>
      <p:sp>
        <p:nvSpPr>
          <p:cNvPr id="74" name="Text 72"/>
          <p:cNvSpPr/>
          <p:nvPr/>
        </p:nvSpPr>
        <p:spPr>
          <a:xfrm>
            <a:off x="5074920" y="202996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 sent to the AI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074920" y="23408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5074920" y="23408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239512" y="23408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increased from 3.2% to 7.4%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074920" y="27980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074920" y="27980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5239512" y="27980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Torque station alarms up by 38%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074920" y="32552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5074920" y="32552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5239512" y="32552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intervention occurred Tuesday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5074920" y="37124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5074920" y="37124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239512" y="37124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event recorded in March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074920" y="4224528"/>
            <a:ext cx="36301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The AI receives only this filtered context — never the full production databases or customer data.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 Monitoring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observability of the AI system — not the production systems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7818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tracked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06984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" y="106984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9496" y="138074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6014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106984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requests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78608" y="106984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78608" y="106984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843784" y="138074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870302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35808" y="106984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documents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191109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191109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39496" y="222199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66014" y="224851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1520" y="191109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responses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578608" y="191109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578608" y="191109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843784" y="222199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870302" y="224851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035808" y="191109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outputs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75234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274320" y="275234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39496" y="306324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66014" y="3089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31520" y="275234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578608" y="275234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578608" y="275234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2843784" y="306324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870302" y="3089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035808" y="275234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74320" y="3593592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74320" y="3593592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39496" y="390448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66014" y="393100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31520" y="3593592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2578608" y="3593592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2578608" y="3593592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843784" y="390448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2870302" y="393100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3035808" y="3593592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feedback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956048" y="841248"/>
            <a:ext cx="3931920" cy="23774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956048" y="841248"/>
            <a:ext cx="3931920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138928" y="841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138928" y="1426464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transparency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6675120" y="142646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 action is visible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138928" y="18470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auditability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6675120" y="18470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review of outputs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138928" y="226771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in AI insights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6675120" y="226771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for decision-makers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138928" y="2688336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evidence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6675120" y="268833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for regulatory review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4956048" y="3346704"/>
            <a:ext cx="3931920" cy="1408176"/>
          </a:xfrm>
          <a:prstGeom prst="rect">
            <a:avLst/>
          </a:prstGeom>
          <a:solidFill>
            <a:srgbClr val="08112A"/>
          </a:solidFill>
          <a:ln w="12700">
            <a:solidFill>
              <a:srgbClr val="5B9BFF">
                <a:alpha val="60000"/>
              </a:srgbClr>
            </a:solidFill>
            <a:prstDash val="solid"/>
          </a:ln>
          <a:effectLst>
            <a:outerShdw blurRad="101600" dist="50800" dir="16200000" algn="bl" rotWithShape="0">
              <a:srgbClr val="5B9BFF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956048" y="3346704"/>
            <a:ext cx="91440" cy="1408176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5157216" y="3474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traceability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5157216" y="378561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AI-generated report, recommendation and investigation can be traced back to its source and reviewed by authorized personnel.</a:t>
            </a:r>
            <a:endParaRPr lang="en-US" sz="1050" dirty="0"/>
          </a:p>
        </p:txBody>
      </p:sp>
      <p:sp>
        <p:nvSpPr>
          <p:cNvPr id="83" name="Text 80">
            <a:extLst>
              <a:ext uri="{FF2B5EF4-FFF2-40B4-BE49-F238E27FC236}">
                <a16:creationId xmlns:a16="http://schemas.microsoft.com/office/drawing/2014/main" id="{D1A0ABCB-79C7-9DB4-3B67-21D6BD6A80F6}"/>
              </a:ext>
            </a:extLst>
          </p:cNvPr>
          <p:cNvSpPr/>
          <p:nvPr/>
        </p:nvSpPr>
        <p:spPr>
          <a:xfrm>
            <a:off x="182880" y="443484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</a:t>
            </a: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not watching machines, it’s watching the AI itself. </a:t>
            </a:r>
            <a:b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ensuring each draft, recommendation and investigation is traceable and reviewable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 Strategy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Machine-first data processing with strict personal-data controls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4224528" cy="19202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4224528" cy="548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987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data is processed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1298448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primarily processes machine and operational data. Limited personal data may include: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accounts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42316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51460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Employee names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information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42316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1460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records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2871216"/>
            <a:ext cx="4224528" cy="1883664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74320" y="2871216"/>
            <a:ext cx="91440" cy="1883664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5488" y="29992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Lawful basis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75488" y="3310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Legitimate Interest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475488" y="3767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Article 6(1)(f) GDPR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5488" y="407822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is necessary for legitimate operational interests, balanced against data-subject rights through the controls applied.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841248"/>
            <a:ext cx="42245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663440" y="841248"/>
            <a:ext cx="422452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46320" y="841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 in place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846320" y="142646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46320" y="142646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010912" y="1481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010912" y="17190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authorized users reach permitted data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46320" y="206654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846320" y="206654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010912" y="2121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010912" y="2359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protected at rest and in transit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46320" y="270662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846320" y="270662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010912" y="2761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logging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10912" y="29992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access and request is recorded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846320" y="334670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846320" y="334670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10912" y="34015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Pseudonymization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10912" y="3639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where appropriate to limit exposure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846320" y="398678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4846320" y="398678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010912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minimization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010912" y="4279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required fields are processed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1143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A78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&amp; IP Protection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NDAs and OEM agreements enforced by design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8404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5488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governing principle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" y="137160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can only access information that the requesting user is authorized to view.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75488" y="26974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operates under customer NDAs and OEM agreements. Protection is not a policy layer on top — it is enforced at every request, end to end.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279392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 measures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79392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279392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07992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45117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425696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25696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On-premises deployment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620256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620256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848856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85981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766560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766560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unrestricted external data transfer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279392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279392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07992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545117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425696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425696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classification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620256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620256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848856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885981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766560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766560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permissions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279392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279392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507992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545117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425696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425696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Restricted customer data access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620256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6620256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848856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885981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76656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766560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trail for all AI requests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Classification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system qualifies as Minimal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20040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3200400" cy="5486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1188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LEVEL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1517904"/>
            <a:ext cx="3200400" cy="64008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274320" y="2139696"/>
            <a:ext cx="3200400" cy="54864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3400" dirty="0"/>
          </a:p>
        </p:txBody>
      </p:sp>
      <p:sp>
        <p:nvSpPr>
          <p:cNvPr id="32" name="Shape 30"/>
          <p:cNvSpPr/>
          <p:nvPr/>
        </p:nvSpPr>
        <p:spPr>
          <a:xfrm>
            <a:off x="1170432" y="2889504"/>
            <a:ext cx="1371600" cy="18288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303580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tier under the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framework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39312" y="8778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39312" y="1225296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749040" y="1380744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775558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931920" y="1225296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automated decisions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39312" y="1719072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749040" y="18745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775558" y="19010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931920" y="1719072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machine control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639312" y="2212848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749040" y="23682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775558" y="23948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931920" y="2212848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employee evaluation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39312" y="2706624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3749040" y="2862072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775558" y="288859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931920" y="2706624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safety-critical operation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639312" y="3200400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749040" y="3355848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775558" y="338236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931920" y="3200400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approval required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565392" y="87782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allocation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565392" y="1225296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565392" y="1225296"/>
            <a:ext cx="2322576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711696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6711696" y="1755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Provider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711696" y="204825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Builds and supplies the AI system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65392" y="2706624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565392" y="2706624"/>
            <a:ext cx="2322576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711696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6711696" y="323697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Deployer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711696" y="352958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Operates the system in production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944368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965582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1060704"/>
            <a:ext cx="8595360" cy="20117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161288" y="996696"/>
            <a:ext cx="146304" cy="14630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20371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09728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74320" y="1426464"/>
            <a:ext cx="2066544" cy="475488"/>
          </a:xfrm>
          <a:prstGeom prst="rect">
            <a:avLst/>
          </a:prstGeom>
          <a:solidFill>
            <a:srgbClr val="5B9BFF">
              <a:alpha val="20000"/>
            </a:srgbClr>
          </a:solidFill>
          <a:ln w="12700">
            <a:solidFill>
              <a:srgbClr val="5B9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1426464"/>
            <a:ext cx="2066544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Foundation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8404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trusted single source of truth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8404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0233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manufacturing data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8404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datasets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8404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8404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8404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governance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404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model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340864" y="1664208"/>
            <a:ext cx="128016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355848" y="996696"/>
            <a:ext cx="146304" cy="14630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39827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46888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29184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6888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2468880" y="1426464"/>
            <a:ext cx="2066544" cy="475488"/>
          </a:xfrm>
          <a:prstGeom prst="rect">
            <a:avLst/>
          </a:prstGeom>
          <a:solidFill>
            <a:srgbClr val="3DEFC4">
              <a:alpha val="20000"/>
            </a:srgbClr>
          </a:solidFill>
          <a:ln w="12700">
            <a:solidFill>
              <a:srgbClr val="3DEFC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468880" y="1426464"/>
            <a:ext cx="2066544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57860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Agent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57860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dependency on individual experts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57860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259689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data lookup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57860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OEE calculation logic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57860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data sources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57860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57860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info access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57860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57860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bottlenecks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535424" y="1664208"/>
            <a:ext cx="128016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550408" y="996696"/>
            <a:ext cx="146304" cy="14630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9283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66344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640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6344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663440" y="1426464"/>
            <a:ext cx="2066544" cy="475488"/>
          </a:xfrm>
          <a:prstGeom prst="rect">
            <a:avLst/>
          </a:prstGeom>
          <a:solidFill>
            <a:srgbClr val="A78BFF">
              <a:alpha val="20000"/>
            </a:srgbClr>
          </a:solidFill>
          <a:ln w="12700">
            <a:solidFill>
              <a:srgbClr val="A78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663440" y="1426464"/>
            <a:ext cx="2066544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77316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Agent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477316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77316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479145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 reports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77316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77316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summaries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77316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477316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manual effort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77316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documentation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77316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729984" y="1664208"/>
            <a:ext cx="128016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7744968" y="996696"/>
            <a:ext cx="146304" cy="14630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778739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685800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768096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85800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858000" y="1426464"/>
            <a:ext cx="2066544" cy="475488"/>
          </a:xfrm>
          <a:prstGeom prst="rect">
            <a:avLst/>
          </a:prstGeom>
          <a:solidFill>
            <a:srgbClr val="FFC23D">
              <a:alpha val="20000"/>
            </a:srgbClr>
          </a:solidFill>
          <a:ln w="12700">
            <a:solidFill>
              <a:srgbClr val="FFC23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6858000" y="1426464"/>
            <a:ext cx="2066544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696772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&amp; Monitoring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696772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visibility &amp; issue detection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96772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98601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696772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alerts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696772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trend monitoring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96772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96772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696772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rework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696772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00" dirty="0"/>
          </a:p>
        </p:txBody>
      </p:sp>
      <p:sp>
        <p:nvSpPr>
          <p:cNvPr id="99" name="Pfeil: Fünfeck 98">
            <a:extLst>
              <a:ext uri="{FF2B5EF4-FFF2-40B4-BE49-F238E27FC236}">
                <a16:creationId xmlns:a16="http://schemas.microsoft.com/office/drawing/2014/main" id="{89115413-D65F-B5C1-EDD0-7364B271D0C9}"/>
              </a:ext>
            </a:extLst>
          </p:cNvPr>
          <p:cNvSpPr/>
          <p:nvPr/>
        </p:nvSpPr>
        <p:spPr>
          <a:xfrm>
            <a:off x="402336" y="4412437"/>
            <a:ext cx="8430768" cy="195681"/>
          </a:xfrm>
          <a:prstGeom prst="homePlate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pPr algn="ctr"/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Ongoing Quick Wins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0072A-4DFF-A7BC-40CF-1BC849EDF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" name="think-cell data - do not delete" hidden="1">
            <a:extLst>
              <a:ext uri="{FF2B5EF4-FFF2-40B4-BE49-F238E27FC236}">
                <a16:creationId xmlns:a16="http://schemas.microsoft.com/office/drawing/2014/main" id="{0DA6C786-6D9E-E394-01B0-529845D2022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43052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hape 0">
            <a:extLst>
              <a:ext uri="{FF2B5EF4-FFF2-40B4-BE49-F238E27FC236}">
                <a16:creationId xmlns:a16="http://schemas.microsoft.com/office/drawing/2014/main" id="{4133E981-F1FC-C8D8-CC0A-A7D7226036BC}"/>
              </a:ext>
            </a:extLst>
          </p:cNvPr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9153956-0016-37E1-5EC6-ABEFD6CF802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EB829F2-B24A-5A3C-81D0-540982453E21}"/>
              </a:ext>
            </a:extLst>
          </p:cNvPr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588EAF6-78D1-7867-30C5-E95303B23C4E}"/>
              </a:ext>
            </a:extLst>
          </p:cNvPr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A282BAA-588A-59F2-D16E-737A04B02DEB}"/>
              </a:ext>
            </a:extLst>
          </p:cNvPr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E8461DB-A0A2-76FE-A80D-AF2D292CA99B}"/>
              </a:ext>
            </a:extLst>
          </p:cNvPr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8C198C9-F5F6-5A41-C881-332321406EC1}"/>
              </a:ext>
            </a:extLst>
          </p:cNvPr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704C643-A540-EDEE-C8DC-7DAEC7AF5DC8}"/>
              </a:ext>
            </a:extLst>
          </p:cNvPr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C27AFEB-080B-0D15-2498-2F57BCD9B7AF}"/>
              </a:ext>
            </a:extLst>
          </p:cNvPr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A2D7314-9BD0-6AC6-C9B9-8BC12EB5A4A2}"/>
              </a:ext>
            </a:extLst>
          </p:cNvPr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477E29E-1EF9-A72E-0C9F-188F6BF3CD98}"/>
              </a:ext>
            </a:extLst>
          </p:cNvPr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32F228D-55BC-CCEF-DA0B-DD6B5585D2EA}"/>
              </a:ext>
            </a:extLst>
          </p:cNvPr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6E92581-F8FA-A9A6-B143-A55D93B4122F}"/>
              </a:ext>
            </a:extLst>
          </p:cNvPr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DFF399C-17D2-E7E5-832C-710DF9ADB5A2}"/>
              </a:ext>
            </a:extLst>
          </p:cNvPr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0BB6A0B-3B95-7AC5-A634-62CD37DC3868}"/>
              </a:ext>
            </a:extLst>
          </p:cNvPr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45D385-D750-1763-95F4-2592BE350D77}"/>
              </a:ext>
            </a:extLst>
          </p:cNvPr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D6849A-4197-0EA0-05C5-9A9EFDC8D309}"/>
              </a:ext>
            </a:extLst>
          </p:cNvPr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7C00C6D-22E3-3664-8BED-D95F4D63BCC0}"/>
              </a:ext>
            </a:extLst>
          </p:cNvPr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934F376-D8E8-C4E4-34F2-A9F82CA3F443}"/>
              </a:ext>
            </a:extLst>
          </p:cNvPr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60903642-26BC-0146-0C9E-A60CF1D275FC}"/>
              </a:ext>
            </a:extLst>
          </p:cNvPr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7A76212-A91E-BE8D-2C8B-7CCD21F46DC2}"/>
              </a:ext>
            </a:extLst>
          </p:cNvPr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/13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Shape 37">
            <a:extLst>
              <a:ext uri="{FF2B5EF4-FFF2-40B4-BE49-F238E27FC236}">
                <a16:creationId xmlns:a16="http://schemas.microsoft.com/office/drawing/2014/main" id="{D4A9C04D-AFC1-A9D8-12AB-465EB31ED328}"/>
              </a:ext>
            </a:extLst>
          </p:cNvPr>
          <p:cNvSpPr/>
          <p:nvPr/>
        </p:nvSpPr>
        <p:spPr>
          <a:xfrm>
            <a:off x="274320" y="841248"/>
            <a:ext cx="6016752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5" name="Shape 38">
            <a:extLst>
              <a:ext uri="{FF2B5EF4-FFF2-40B4-BE49-F238E27FC236}">
                <a16:creationId xmlns:a16="http://schemas.microsoft.com/office/drawing/2014/main" id="{4ED87527-3E76-A615-5B98-712615E51964}"/>
              </a:ext>
            </a:extLst>
          </p:cNvPr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3CA76AF0-2C17-CFA3-6D67-719420D17C24}"/>
              </a:ext>
            </a:extLst>
          </p:cNvPr>
          <p:cNvSpPr/>
          <p:nvPr/>
        </p:nvSpPr>
        <p:spPr>
          <a:xfrm>
            <a:off x="475488" y="9418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200" dirty="0"/>
          </a:p>
        </p:txBody>
      </p:sp>
      <p:sp>
        <p:nvSpPr>
          <p:cNvPr id="118" name="Text 41">
            <a:extLst>
              <a:ext uri="{FF2B5EF4-FFF2-40B4-BE49-F238E27FC236}">
                <a16:creationId xmlns:a16="http://schemas.microsoft.com/office/drawing/2014/main" id="{D410E9EF-78B2-60CB-81DD-9EBAFA0EE8C2}"/>
              </a:ext>
            </a:extLst>
          </p:cNvPr>
          <p:cNvSpPr/>
          <p:nvPr/>
        </p:nvSpPr>
        <p:spPr>
          <a:xfrm>
            <a:off x="475488" y="35326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  <a:endParaRPr lang="en-US" sz="1200" dirty="0"/>
          </a:p>
        </p:txBody>
      </p:sp>
      <p:sp>
        <p:nvSpPr>
          <p:cNvPr id="119" name="Text 42">
            <a:extLst>
              <a:ext uri="{FF2B5EF4-FFF2-40B4-BE49-F238E27FC236}">
                <a16:creationId xmlns:a16="http://schemas.microsoft.com/office/drawing/2014/main" id="{CDA326A1-2665-9E82-E658-A41AAE508972}"/>
              </a:ext>
            </a:extLst>
          </p:cNvPr>
          <p:cNvSpPr/>
          <p:nvPr/>
        </p:nvSpPr>
        <p:spPr>
          <a:xfrm>
            <a:off x="475488" y="3857244"/>
            <a:ext cx="520598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8.000 €. We do not recommend committing to a full implementation before understanding the actual system landscape, data quality, and business priorities. Therefore, we recommend starting with a focused two-day discovery workshop, resulting in a validated architecture, implementation roadmap, business case, and final project estimate.</a:t>
            </a:r>
            <a:endParaRPr lang="en-US" sz="950" dirty="0"/>
          </a:p>
        </p:txBody>
      </p:sp>
      <p:sp>
        <p:nvSpPr>
          <p:cNvPr id="120" name="Shape 43">
            <a:extLst>
              <a:ext uri="{FF2B5EF4-FFF2-40B4-BE49-F238E27FC236}">
                <a16:creationId xmlns:a16="http://schemas.microsoft.com/office/drawing/2014/main" id="{8C395F5A-289C-34A7-B875-73DF4185E994}"/>
              </a:ext>
            </a:extLst>
          </p:cNvPr>
          <p:cNvSpPr/>
          <p:nvPr/>
        </p:nvSpPr>
        <p:spPr>
          <a:xfrm>
            <a:off x="6400800" y="841248"/>
            <a:ext cx="248716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 44">
            <a:extLst>
              <a:ext uri="{FF2B5EF4-FFF2-40B4-BE49-F238E27FC236}">
                <a16:creationId xmlns:a16="http://schemas.microsoft.com/office/drawing/2014/main" id="{4EB705F3-D511-E75E-D26E-559C96B721FF}"/>
              </a:ext>
            </a:extLst>
          </p:cNvPr>
          <p:cNvSpPr/>
          <p:nvPr/>
        </p:nvSpPr>
        <p:spPr>
          <a:xfrm>
            <a:off x="6400800" y="841248"/>
            <a:ext cx="248716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45">
            <a:extLst>
              <a:ext uri="{FF2B5EF4-FFF2-40B4-BE49-F238E27FC236}">
                <a16:creationId xmlns:a16="http://schemas.microsoft.com/office/drawing/2014/main" id="{8E849D3A-FB1F-CA8F-B076-26B43E5F2D3D}"/>
              </a:ext>
            </a:extLst>
          </p:cNvPr>
          <p:cNvSpPr/>
          <p:nvPr/>
        </p:nvSpPr>
        <p:spPr>
          <a:xfrm>
            <a:off x="6620256" y="84124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</a:rPr>
              <a:t>Recommended Approach</a:t>
            </a:r>
            <a:endParaRPr lang="en-US" sz="1300" dirty="0"/>
          </a:p>
        </p:txBody>
      </p: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E2475566-FA43-DC8F-243A-BA74212A091A}"/>
              </a:ext>
            </a:extLst>
          </p:cNvPr>
          <p:cNvGrpSpPr/>
          <p:nvPr/>
        </p:nvGrpSpPr>
        <p:grpSpPr>
          <a:xfrm>
            <a:off x="6620256" y="2356317"/>
            <a:ext cx="2066544" cy="2249424"/>
            <a:chOff x="274320" y="1426464"/>
            <a:chExt cx="2066544" cy="2249424"/>
          </a:xfrm>
        </p:grpSpPr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2DE3396D-471F-B714-B7D8-1D6B6A197F4A}"/>
                </a:ext>
              </a:extLst>
            </p:cNvPr>
            <p:cNvSpPr/>
            <p:nvPr/>
          </p:nvSpPr>
          <p:spPr>
            <a:xfrm>
              <a:off x="274320" y="1426464"/>
              <a:ext cx="2066544" cy="475488"/>
            </a:xfrm>
            <a:prstGeom prst="rect">
              <a:avLst/>
            </a:prstGeom>
            <a:solidFill>
              <a:srgbClr val="5B9BFF">
                <a:alpha val="20000"/>
              </a:srgbClr>
            </a:solidFill>
            <a:ln w="12700">
              <a:solidFill>
                <a:srgbClr val="5B9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519C3624-6238-BDF3-FBD2-7EBEABAFC7AC}"/>
                </a:ext>
              </a:extLst>
            </p:cNvPr>
            <p:cNvSpPr/>
            <p:nvPr/>
          </p:nvSpPr>
          <p:spPr>
            <a:xfrm>
              <a:off x="274320" y="1426464"/>
              <a:ext cx="2066544" cy="45720"/>
            </a:xfrm>
            <a:prstGeom prst="rect">
              <a:avLst/>
            </a:prstGeom>
            <a:solidFill>
              <a:srgbClr val="5B9BFF"/>
            </a:solidFill>
            <a:ln w="12700">
              <a:solidFill>
                <a:srgbClr val="5B9BFF"/>
              </a:solidFill>
              <a:prstDash val="solid"/>
            </a:ln>
            <a:effectLst>
              <a:outerShdw blurRad="76200" dist="50800" dir="16200000" algn="bl" rotWithShape="0">
                <a:srgbClr val="5B9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6B12747D-F762-46E6-922F-65514CA2E55A}"/>
                </a:ext>
              </a:extLst>
            </p:cNvPr>
            <p:cNvSpPr/>
            <p:nvPr/>
          </p:nvSpPr>
          <p:spPr>
            <a:xfrm>
              <a:off x="384048" y="1472184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Data Foundation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Shape 49">
              <a:extLst>
                <a:ext uri="{FF2B5EF4-FFF2-40B4-BE49-F238E27FC236}">
                  <a16:creationId xmlns:a16="http://schemas.microsoft.com/office/drawing/2014/main" id="{01480F3A-DF12-DA99-1CBE-D0FD5796BDFF}"/>
                </a:ext>
              </a:extLst>
            </p:cNvPr>
            <p:cNvSpPr/>
            <p:nvPr/>
          </p:nvSpPr>
          <p:spPr>
            <a:xfrm>
              <a:off x="274320" y="2017776"/>
              <a:ext cx="2066544" cy="475488"/>
            </a:xfrm>
            <a:prstGeom prst="rect">
              <a:avLst/>
            </a:prstGeom>
            <a:solidFill>
              <a:srgbClr val="3DEFC4">
                <a:alpha val="20000"/>
              </a:srgbClr>
            </a:solidFill>
            <a:ln w="12700">
              <a:solidFill>
                <a:srgbClr val="3DEFC4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757A8AE8-684B-EC6A-8FC1-D4A046FC8A98}"/>
                </a:ext>
              </a:extLst>
            </p:cNvPr>
            <p:cNvSpPr/>
            <p:nvPr/>
          </p:nvSpPr>
          <p:spPr>
            <a:xfrm>
              <a:off x="274320" y="2017776"/>
              <a:ext cx="2066544" cy="45720"/>
            </a:xfrm>
            <a:prstGeom prst="rect">
              <a:avLst/>
            </a:prstGeom>
            <a:solidFill>
              <a:srgbClr val="3DEFC4"/>
            </a:solidFill>
            <a:ln w="12700">
              <a:solidFill>
                <a:srgbClr val="3DEFC4"/>
              </a:solidFill>
              <a:prstDash val="solid"/>
            </a:ln>
            <a:effectLst>
              <a:outerShdw blurRad="76200" dist="50800" dir="16200000" algn="bl" rotWithShape="0">
                <a:srgbClr val="3DEFC4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4BECC1ED-DC0F-C5CD-E683-B20A214C56F2}"/>
                </a:ext>
              </a:extLst>
            </p:cNvPr>
            <p:cNvSpPr/>
            <p:nvPr/>
          </p:nvSpPr>
          <p:spPr>
            <a:xfrm>
              <a:off x="384048" y="2063496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Knowledge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Shape 67">
              <a:extLst>
                <a:ext uri="{FF2B5EF4-FFF2-40B4-BE49-F238E27FC236}">
                  <a16:creationId xmlns:a16="http://schemas.microsoft.com/office/drawing/2014/main" id="{888648A9-6C11-C247-E7E8-A7B2C389B5D5}"/>
                </a:ext>
              </a:extLst>
            </p:cNvPr>
            <p:cNvSpPr/>
            <p:nvPr/>
          </p:nvSpPr>
          <p:spPr>
            <a:xfrm>
              <a:off x="274320" y="2604517"/>
              <a:ext cx="2066544" cy="475488"/>
            </a:xfrm>
            <a:prstGeom prst="rect">
              <a:avLst/>
            </a:prstGeom>
            <a:solidFill>
              <a:srgbClr val="A78BFF">
                <a:alpha val="20000"/>
              </a:srgbClr>
            </a:solidFill>
            <a:ln w="12700">
              <a:solidFill>
                <a:srgbClr val="A78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Shape 68">
              <a:extLst>
                <a:ext uri="{FF2B5EF4-FFF2-40B4-BE49-F238E27FC236}">
                  <a16:creationId xmlns:a16="http://schemas.microsoft.com/office/drawing/2014/main" id="{D9F3FA90-5606-E990-15EB-1D315A750755}"/>
                </a:ext>
              </a:extLst>
            </p:cNvPr>
            <p:cNvSpPr/>
            <p:nvPr/>
          </p:nvSpPr>
          <p:spPr>
            <a:xfrm>
              <a:off x="274320" y="2604517"/>
              <a:ext cx="2066544" cy="45720"/>
            </a:xfrm>
            <a:prstGeom prst="rect">
              <a:avLst/>
            </a:prstGeom>
            <a:solidFill>
              <a:srgbClr val="A78BFF"/>
            </a:solidFill>
            <a:ln w="12700">
              <a:solidFill>
                <a:srgbClr val="A78BFF"/>
              </a:solidFill>
              <a:prstDash val="solid"/>
            </a:ln>
            <a:effectLst>
              <a:outerShdw blurRad="76200" dist="50800" dir="16200000" algn="bl" rotWithShape="0">
                <a:srgbClr val="A78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Text 69">
              <a:extLst>
                <a:ext uri="{FF2B5EF4-FFF2-40B4-BE49-F238E27FC236}">
                  <a16:creationId xmlns:a16="http://schemas.microsoft.com/office/drawing/2014/main" id="{DBD75B0D-0BBE-870A-3E27-E20B5B7E5371}"/>
                </a:ext>
              </a:extLst>
            </p:cNvPr>
            <p:cNvSpPr/>
            <p:nvPr/>
          </p:nvSpPr>
          <p:spPr>
            <a:xfrm>
              <a:off x="384048" y="2650237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Reporting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7" name="Shape 85">
              <a:extLst>
                <a:ext uri="{FF2B5EF4-FFF2-40B4-BE49-F238E27FC236}">
                  <a16:creationId xmlns:a16="http://schemas.microsoft.com/office/drawing/2014/main" id="{F3D08F29-E53C-8693-C7BC-58904360D8A9}"/>
                </a:ext>
              </a:extLst>
            </p:cNvPr>
            <p:cNvSpPr/>
            <p:nvPr/>
          </p:nvSpPr>
          <p:spPr>
            <a:xfrm>
              <a:off x="274320" y="3200400"/>
              <a:ext cx="2066544" cy="475488"/>
            </a:xfrm>
            <a:prstGeom prst="rect">
              <a:avLst/>
            </a:prstGeom>
            <a:solidFill>
              <a:srgbClr val="FFC23D">
                <a:alpha val="20000"/>
              </a:srgbClr>
            </a:solidFill>
            <a:ln w="12700">
              <a:solidFill>
                <a:srgbClr val="FFC23D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8" name="Shape 86">
              <a:extLst>
                <a:ext uri="{FF2B5EF4-FFF2-40B4-BE49-F238E27FC236}">
                  <a16:creationId xmlns:a16="http://schemas.microsoft.com/office/drawing/2014/main" id="{B542AE0E-A1B8-A6A9-F576-0D456F36EB5F}"/>
                </a:ext>
              </a:extLst>
            </p:cNvPr>
            <p:cNvSpPr/>
            <p:nvPr/>
          </p:nvSpPr>
          <p:spPr>
            <a:xfrm>
              <a:off x="274320" y="3200400"/>
              <a:ext cx="2066544" cy="45720"/>
            </a:xfrm>
            <a:prstGeom prst="rect">
              <a:avLst/>
            </a:prstGeom>
            <a:solidFill>
              <a:srgbClr val="FFC23D"/>
            </a:solidFill>
            <a:ln w="12700">
              <a:solidFill>
                <a:srgbClr val="FFC23D"/>
              </a:solidFill>
              <a:prstDash val="solid"/>
            </a:ln>
            <a:effectLst>
              <a:outerShdw blurRad="76200" dist="50800" dir="16200000" algn="bl" rotWithShape="0">
                <a:srgbClr val="FFC23D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9" name="Text 87">
              <a:extLst>
                <a:ext uri="{FF2B5EF4-FFF2-40B4-BE49-F238E27FC236}">
                  <a16:creationId xmlns:a16="http://schemas.microsoft.com/office/drawing/2014/main" id="{2692EE5E-A2D1-6B81-C32F-931B2601CD73}"/>
                </a:ext>
              </a:extLst>
            </p:cNvPr>
            <p:cNvSpPr/>
            <p:nvPr/>
          </p:nvSpPr>
          <p:spPr>
            <a:xfrm>
              <a:off x="384048" y="3246120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Investigation &amp; Monitoring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4" name="Text 42">
            <a:extLst>
              <a:ext uri="{FF2B5EF4-FFF2-40B4-BE49-F238E27FC236}">
                <a16:creationId xmlns:a16="http://schemas.microsoft.com/office/drawing/2014/main" id="{5D22BB9A-208B-D649-4299-302E5E6A4E55}"/>
              </a:ext>
            </a:extLst>
          </p:cNvPr>
          <p:cNvSpPr/>
          <p:nvPr/>
        </p:nvSpPr>
        <p:spPr>
          <a:xfrm>
            <a:off x="475488" y="1216152"/>
            <a:ext cx="3931920" cy="1984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employees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CNC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bending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laser router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assembly lines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 system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various data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greenfield project</a:t>
            </a:r>
          </a:p>
          <a:p>
            <a:b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Program Range: €260,000 – €530,000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Timeline: 6–12 Months</a:t>
            </a:r>
            <a:endParaRPr lang="en-US" sz="950" dirty="0"/>
          </a:p>
        </p:txBody>
      </p:sp>
      <p:sp>
        <p:nvSpPr>
          <p:cNvPr id="125" name="Shape 71">
            <a:extLst>
              <a:ext uri="{FF2B5EF4-FFF2-40B4-BE49-F238E27FC236}">
                <a16:creationId xmlns:a16="http://schemas.microsoft.com/office/drawing/2014/main" id="{545D2B45-65E8-504B-C263-D9B109D8BFA5}"/>
              </a:ext>
            </a:extLst>
          </p:cNvPr>
          <p:cNvSpPr/>
          <p:nvPr/>
        </p:nvSpPr>
        <p:spPr>
          <a:xfrm>
            <a:off x="6620256" y="1390710"/>
            <a:ext cx="2066544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6" name="Shape 72">
            <a:extLst>
              <a:ext uri="{FF2B5EF4-FFF2-40B4-BE49-F238E27FC236}">
                <a16:creationId xmlns:a16="http://schemas.microsoft.com/office/drawing/2014/main" id="{22572C82-1F8E-3890-487E-4A0869F52979}"/>
              </a:ext>
            </a:extLst>
          </p:cNvPr>
          <p:cNvSpPr/>
          <p:nvPr/>
        </p:nvSpPr>
        <p:spPr>
          <a:xfrm>
            <a:off x="6620256" y="1390710"/>
            <a:ext cx="2066544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7" name="Text 73">
            <a:extLst>
              <a:ext uri="{FF2B5EF4-FFF2-40B4-BE49-F238E27FC236}">
                <a16:creationId xmlns:a16="http://schemas.microsoft.com/office/drawing/2014/main" id="{4F2A492E-E628-2C27-9790-09A27D4DB80C}"/>
              </a:ext>
            </a:extLst>
          </p:cNvPr>
          <p:cNvSpPr/>
          <p:nvPr/>
        </p:nvSpPr>
        <p:spPr>
          <a:xfrm>
            <a:off x="6656832" y="1463862"/>
            <a:ext cx="19736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</a:p>
        </p:txBody>
      </p:sp>
      <p:sp>
        <p:nvSpPr>
          <p:cNvPr id="128" name="Text 74">
            <a:extLst>
              <a:ext uri="{FF2B5EF4-FFF2-40B4-BE49-F238E27FC236}">
                <a16:creationId xmlns:a16="http://schemas.microsoft.com/office/drawing/2014/main" id="{1700923D-AC1A-A08D-A902-8E587883897E}"/>
              </a:ext>
            </a:extLst>
          </p:cNvPr>
          <p:cNvSpPr/>
          <p:nvPr/>
        </p:nvSpPr>
        <p:spPr>
          <a:xfrm>
            <a:off x="6675120" y="1719894"/>
            <a:ext cx="192722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architecture /</a:t>
            </a:r>
            <a:b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roadmap /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estimate / ROI  assessment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plan</a:t>
            </a:r>
            <a:endParaRPr lang="en-US" sz="850" dirty="0"/>
          </a:p>
        </p:txBody>
      </p:sp>
      <p:sp>
        <p:nvSpPr>
          <p:cNvPr id="130" name="Shape 81">
            <a:extLst>
              <a:ext uri="{FF2B5EF4-FFF2-40B4-BE49-F238E27FC236}">
                <a16:creationId xmlns:a16="http://schemas.microsoft.com/office/drawing/2014/main" id="{2B313802-41A0-F4A8-0B30-AE134EED32DD}"/>
              </a:ext>
            </a:extLst>
          </p:cNvPr>
          <p:cNvSpPr/>
          <p:nvPr/>
        </p:nvSpPr>
        <p:spPr>
          <a:xfrm>
            <a:off x="7479792" y="1390710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41">
            <a:extLst>
              <a:ext uri="{FF2B5EF4-FFF2-40B4-BE49-F238E27FC236}">
                <a16:creationId xmlns:a16="http://schemas.microsoft.com/office/drawing/2014/main" id="{673E4BF9-FDC0-A419-200E-88C34C630411}"/>
              </a:ext>
            </a:extLst>
          </p:cNvPr>
          <p:cNvSpPr/>
          <p:nvPr/>
        </p:nvSpPr>
        <p:spPr>
          <a:xfrm>
            <a:off x="475488" y="3141391"/>
            <a:ext cx="5724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Step: Gain a detailed understanding of the current system landscape, data sources, reporting processes, compliance requirements, and business priorities. We do 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1279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1645920"/>
            <a:ext cx="6400800" cy="6400800"/>
          </a:xfrm>
          <a:prstGeom prst="ellipse">
            <a:avLst/>
          </a:prstGeom>
          <a:solidFill>
            <a:srgbClr val="0B1E4D">
              <a:alpha val="22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1097280"/>
            <a:ext cx="100584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1828800"/>
            <a:ext cx="54864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955280" y="18288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1828800"/>
            <a:ext cx="64008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0" y="2743200"/>
            <a:ext cx="64008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0" y="27432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595360" y="292608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949440" y="1097280"/>
            <a:ext cx="548640" cy="16459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94576" y="104241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926397" y="107423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891272" y="176479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28397" y="18019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58200" y="86868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84718" y="89519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43216" y="268833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75037" y="27201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49640" y="288036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576158" y="29068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92440" y="388620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118958" y="391271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999732" y="361645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023598" y="364031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-27432" y="159562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737" y="162479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914400"/>
            <a:ext cx="8229600" cy="1097280"/>
          </a:xfrm>
          <a:prstGeom prst="rect">
            <a:avLst/>
          </a:prstGeom>
          <a:noFill/>
          <a:ln/>
          <a:effectLst>
            <a:outerShdw blurRad="228600" dist="50800" dir="16200000" algn="bl" rotWithShape="0">
              <a:srgbClr val="5B9BFF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274320" y="2148840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look forward to working with Vulkan Werke.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274320" y="2834640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2980944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74320" y="33284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Comments? We're ready.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13/13</a:t>
            </a:r>
            <a:endParaRPr lang="en-US" sz="7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1573</Words>
  <Application>Microsoft Office PowerPoint</Application>
  <PresentationFormat>Bildschirmpräsentation (16:9)</PresentationFormat>
  <Paragraphs>395</Paragraphs>
  <Slides>14</Slides>
  <Notes>14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Vulkan Werke – AI Data Intelligence</dc:title>
  <dc:subject>PptxGenJS Presentation</dc:subject>
  <dc:creator>PptxGenJS</dc:creator>
  <cp:lastModifiedBy>Kleber, Gunter</cp:lastModifiedBy>
  <cp:revision>11</cp:revision>
  <dcterms:created xsi:type="dcterms:W3CDTF">2026-06-02T12:56:39Z</dcterms:created>
  <dcterms:modified xsi:type="dcterms:W3CDTF">2026-06-03T13:16:43Z</dcterms:modified>
</cp:coreProperties>
</file>