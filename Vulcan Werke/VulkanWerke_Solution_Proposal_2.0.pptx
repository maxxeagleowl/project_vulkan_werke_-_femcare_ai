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ags/tag1.xml" ContentType="application/vnd.openxmlformats-officedocument.presentationml.tags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tags/tag2.xml" ContentType="application/vnd.openxmlformats-officedocument.presentationml.tags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62" r:id="rId5"/>
    <p:sldId id="260" r:id="rId6"/>
    <p:sldId id="261" r:id="rId7"/>
    <p:sldId id="259" r:id="rId8"/>
    <p:sldId id="264" r:id="rId9"/>
    <p:sldId id="265" r:id="rId10"/>
    <p:sldId id="266" r:id="rId11"/>
    <p:sldId id="267" r:id="rId12"/>
    <p:sldId id="263" r:id="rId13"/>
    <p:sldId id="269" r:id="rId14"/>
    <p:sldId id="268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9457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44" autoAdjust="0"/>
    <p:restoredTop sz="85015" autoAdjust="0"/>
  </p:normalViewPr>
  <p:slideViewPr>
    <p:cSldViewPr snapToGrid="0" snapToObjects="1">
      <p:cViewPr varScale="1">
        <p:scale>
          <a:sx n="256" d="100"/>
          <a:sy n="256" d="100"/>
        </p:scale>
        <p:origin x="36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413738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sz="12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 QM Report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EAF2FF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Creates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EAF2FF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prestructured</a:t>
            </a:r>
            <a:b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EAF2FF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</a:b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EAF2FF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 report / Analyzes Data Gap</a:t>
            </a:r>
            <a:endParaRPr lang="en-US" dirty="0"/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EAF2FF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Review content and add missing context</a:t>
            </a: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5C0245-C722-5A7C-ACC8-C3AE925586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3EC410-67CA-B42A-66DB-98D8283FE3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905ECC-C54E-C899-557D-3CB50F8AB0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BBF359-983B-4A77-8B73-D73373824C8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2105271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ags" Target="../tags/tag1.xml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.bin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33AB86E5-0DE4-3B28-5B7B-B0B0344F3CB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373014299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4" imgW="370" imgH="371" progId="TCLayout.ActiveDocument.1">
                  <p:embed/>
                </p:oleObj>
              </mc:Choice>
              <mc:Fallback>
                <p:oleObj name="think-cell Folie" r:id="rId4" imgW="370" imgH="371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2.bin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306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0" y="-2194560"/>
            <a:ext cx="6400800" cy="6400800"/>
          </a:xfrm>
          <a:prstGeom prst="ellipse">
            <a:avLst/>
          </a:prstGeom>
          <a:solidFill>
            <a:srgbClr val="0B1E4D">
              <a:alpha val="25000"/>
            </a:srgbClr>
          </a:solidFill>
          <a:ln w="12700">
            <a:solidFill>
              <a:srgbClr val="0B1E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766560" y="914400"/>
            <a:ext cx="1097280" cy="64008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6766560" y="914400"/>
            <a:ext cx="0" cy="118872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863840" y="1554480"/>
            <a:ext cx="640080" cy="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863840" y="1554480"/>
            <a:ext cx="0" cy="109728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863840" y="1554480"/>
            <a:ext cx="731520" cy="82296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406640" y="2651760"/>
            <a:ext cx="0" cy="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406640" y="2651760"/>
            <a:ext cx="0" cy="109728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8595360" y="2377440"/>
            <a:ext cx="0" cy="100584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8229600" y="3383280"/>
            <a:ext cx="0" cy="73152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8229600" y="3383280"/>
            <a:ext cx="365760" cy="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406640" y="2651760"/>
            <a:ext cx="822960" cy="73152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132320" y="3749040"/>
            <a:ext cx="1005840" cy="36576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711696" y="859536"/>
            <a:ext cx="109728" cy="109728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6743517" y="891357"/>
            <a:ext cx="46086" cy="46086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7799832" y="1490472"/>
            <a:ext cx="128016" cy="128016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7836957" y="1527597"/>
            <a:ext cx="53767" cy="53767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458200" y="777240"/>
            <a:ext cx="91440" cy="91440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484718" y="80375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7351776" y="2596896"/>
            <a:ext cx="109728" cy="109728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7383597" y="2628717"/>
            <a:ext cx="46086" cy="46086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8549640" y="2331720"/>
            <a:ext cx="91440" cy="91440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8576158" y="235823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359652" y="2061972"/>
            <a:ext cx="82296" cy="82296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6383518" y="2085838"/>
            <a:ext cx="34564" cy="3456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8179308" y="3332988"/>
            <a:ext cx="100584" cy="100584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8208477" y="336215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7091172" y="3707892"/>
            <a:ext cx="82296" cy="82296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7115038" y="3731758"/>
            <a:ext cx="34564" cy="3456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8101584" y="4078224"/>
            <a:ext cx="73152" cy="73152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8122798" y="409943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5B9BFF"/>
          </a:solidFill>
          <a:ln w="12700">
            <a:solidFill>
              <a:srgbClr val="5B9BFF"/>
            </a:solidFill>
            <a:prstDash val="solid"/>
          </a:ln>
          <a:effectLst>
            <a:outerShdw blurRad="88900" dist="50800" dir="16200000" algn="bl" rotWithShape="0">
              <a:srgbClr val="5B9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-27432" y="1778508"/>
            <a:ext cx="100584" cy="100584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1737" y="180767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-13716" y="3255264"/>
            <a:ext cx="73152" cy="73152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7498" y="327647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274320" y="640080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5B9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274320" y="1051560"/>
            <a:ext cx="7498080" cy="1051560"/>
          </a:xfrm>
          <a:prstGeom prst="rect">
            <a:avLst/>
          </a:prstGeom>
          <a:noFill/>
          <a:ln/>
          <a:effectLst>
            <a:outerShdw blurRad="203200" dist="50800" dir="16200000" algn="bl" rotWithShape="0">
              <a:srgbClr val="5B9BFF">
                <a:alpha val="45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Data Intelligence</a:t>
            </a:r>
            <a:endParaRPr lang="en-US" sz="4400" dirty="0"/>
          </a:p>
        </p:txBody>
      </p:sp>
      <p:sp>
        <p:nvSpPr>
          <p:cNvPr id="40" name="Text 38"/>
          <p:cNvSpPr/>
          <p:nvPr/>
        </p:nvSpPr>
        <p:spPr>
          <a:xfrm>
            <a:off x="274320" y="224028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Concept &amp; Solution Proposal</a:t>
            </a:r>
            <a:endParaRPr lang="en-US" sz="2200" dirty="0"/>
          </a:p>
        </p:txBody>
      </p:sp>
      <p:sp>
        <p:nvSpPr>
          <p:cNvPr id="41" name="Shape 39"/>
          <p:cNvSpPr/>
          <p:nvPr/>
        </p:nvSpPr>
        <p:spPr>
          <a:xfrm>
            <a:off x="274320" y="2816352"/>
            <a:ext cx="2194560" cy="22860"/>
          </a:xfrm>
          <a:prstGeom prst="rect">
            <a:avLst/>
          </a:prstGeom>
          <a:solidFill>
            <a:srgbClr val="5B9BFF"/>
          </a:solidFill>
          <a:ln w="12700">
            <a:solidFill>
              <a:srgbClr val="5B9BFF"/>
            </a:solidFill>
            <a:prstDash val="solid"/>
          </a:ln>
          <a:effectLst>
            <a:outerShdw blurRad="1016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274320" y="298094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SilverTrust Consulting  ·  June 1, 2026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0" y="4956048"/>
            <a:ext cx="9144000" cy="16459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274320" y="4974336"/>
            <a:ext cx="5486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Confidential – Internal Use Only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8229600" y="497433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1/13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306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0" y="-1828800"/>
            <a:ext cx="5029200" cy="5029200"/>
          </a:xfrm>
          <a:prstGeom prst="ellipse">
            <a:avLst/>
          </a:prstGeom>
          <a:solidFill>
            <a:srgbClr val="0B1E4D">
              <a:alpha val="20000"/>
            </a:srgbClr>
          </a:solidFill>
          <a:ln w="12700">
            <a:solidFill>
              <a:srgbClr val="0B1E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20117"/>
          </a:xfrm>
          <a:prstGeom prst="rect">
            <a:avLst/>
          </a:prstGeom>
          <a:solidFill>
            <a:srgbClr val="5B9BFF"/>
          </a:solidFill>
          <a:ln w="12700">
            <a:solidFill>
              <a:srgbClr val="5B9BFF"/>
            </a:solidFill>
            <a:prstDash val="solid"/>
          </a:ln>
          <a:effectLst>
            <a:outerShdw blurRad="1143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5B9BFF"/>
          </a:solidFill>
          <a:ln w="12700">
            <a:solidFill>
              <a:srgbClr val="5B9BFF"/>
            </a:solidFill>
            <a:prstDash val="solid"/>
          </a:ln>
          <a:effectLst>
            <a:outerShdw blurRad="88900" dist="50800" dir="16200000" algn="bl" rotWithShape="0">
              <a:srgbClr val="5B9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-22860" y="1417320"/>
            <a:ext cx="91440" cy="91440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658" y="144383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-13716" y="3072384"/>
            <a:ext cx="73152" cy="73152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498" y="309359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955280" y="310896"/>
            <a:ext cx="502920" cy="0"/>
          </a:xfrm>
          <a:prstGeom prst="line">
            <a:avLst/>
          </a:prstGeom>
          <a:noFill/>
          <a:ln w="12700">
            <a:solidFill>
              <a:srgbClr val="5B9BFF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8458200" y="182880"/>
            <a:ext cx="338328" cy="274320"/>
          </a:xfrm>
          <a:prstGeom prst="line">
            <a:avLst/>
          </a:prstGeom>
          <a:noFill/>
          <a:ln w="12700">
            <a:solidFill>
              <a:srgbClr val="5B9BFF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955280" y="310896"/>
            <a:ext cx="274320" cy="219456"/>
          </a:xfrm>
          <a:prstGeom prst="line">
            <a:avLst/>
          </a:prstGeom>
          <a:noFill/>
          <a:ln w="12700">
            <a:solidFill>
              <a:srgbClr val="5B9BFF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914132" y="269748"/>
            <a:ext cx="82296" cy="82296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937998" y="293614"/>
            <a:ext cx="34564" cy="3456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407908" y="132588"/>
            <a:ext cx="100584" cy="100584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437077" y="16175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759952" y="420624"/>
            <a:ext cx="73152" cy="73152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781166" y="44183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197596" y="498348"/>
            <a:ext cx="64008" cy="64008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216158" y="516910"/>
            <a:ext cx="26883" cy="26883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74320" y="82296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Executive Summary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74320" y="420624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case for a centralized data &amp; knowledge platform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0" y="4956048"/>
            <a:ext cx="9144000" cy="16459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274320" y="4974336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 ·  SilverTrust Consulting  ·  Confidential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8229600" y="497433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2/13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274320" y="841248"/>
            <a:ext cx="5440680" cy="3913632"/>
          </a:xfrm>
          <a:prstGeom prst="rect">
            <a:avLst/>
          </a:prstGeom>
          <a:solidFill>
            <a:srgbClr val="0A1430"/>
          </a:solidFill>
          <a:ln w="12700">
            <a:solidFill>
              <a:srgbClr val="5B9BFF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274320" y="841248"/>
            <a:ext cx="5440680" cy="54864"/>
          </a:xfrm>
          <a:prstGeom prst="rect">
            <a:avLst/>
          </a:prstGeom>
          <a:solidFill>
            <a:srgbClr val="5B9BFF">
              <a:alpha val="18000"/>
            </a:srgbClr>
          </a:solidFill>
          <a:ln w="12700">
            <a:solidFill>
              <a:srgbClr val="5B9BFF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57200" y="1060704"/>
            <a:ext cx="507492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5B9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challenge</a:t>
            </a:r>
            <a:endParaRPr lang="en-US" sz="12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1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faces growing operational friction: fragmented data, disconnected systems, manual reporting, and heavy dependence on individual experts for critical information.</a:t>
            </a:r>
            <a:endParaRPr lang="en-US" sz="12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1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Manufacturing, quality, and operational data live in systems that don't talk to each other. Root cause investigations are slow, quality issues surface too late, reporting eats time, and knowledge stays locked in a few heads.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5B9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answer</a:t>
            </a:r>
            <a:endParaRPr lang="en-US" sz="1200" dirty="0"/>
          </a:p>
          <a:p>
            <a:pPr marL="0" indent="0">
              <a:buNone/>
            </a:pPr>
            <a:r>
              <a:rPr lang="en-US" sz="11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platform combines operational data from multiple systems into a single trusted source of truth — built on proven software, with AI applied only where it creates measurable business value.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870448" y="877824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5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applied only where it pays off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870448" y="1243584"/>
            <a:ext cx="3017520" cy="1024128"/>
          </a:xfrm>
          <a:prstGeom prst="rect">
            <a:avLst/>
          </a:prstGeom>
          <a:solidFill>
            <a:srgbClr val="0A1430"/>
          </a:solidFill>
          <a:ln w="12700">
            <a:solidFill>
              <a:srgbClr val="3DEFC4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5870448" y="1243584"/>
            <a:ext cx="91440" cy="1024128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889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6025896" y="1453896"/>
            <a:ext cx="91440" cy="91440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6052414" y="1480414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6236208" y="1371600"/>
            <a:ext cx="25786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Knowledge retrieval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236208" y="1700784"/>
            <a:ext cx="257860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 access to operational and technical know-how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5870448" y="2414016"/>
            <a:ext cx="3017520" cy="1024128"/>
          </a:xfrm>
          <a:prstGeom prst="rect">
            <a:avLst/>
          </a:prstGeom>
          <a:solidFill>
            <a:srgbClr val="0A1430"/>
          </a:solidFill>
          <a:ln w="12700">
            <a:solidFill>
              <a:srgbClr val="36E0FF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5870448" y="2414016"/>
            <a:ext cx="91440" cy="1024128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88900" dist="50800" dir="16200000" algn="bl" rotWithShape="0">
              <a:srgbClr val="36E0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6025896" y="2624328"/>
            <a:ext cx="91440" cy="91440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6052414" y="2650846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6236208" y="2542032"/>
            <a:ext cx="25786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Investigation support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6236208" y="2871216"/>
            <a:ext cx="257860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Faster, evidence-based root cause analysis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5870448" y="3584448"/>
            <a:ext cx="3017520" cy="1024128"/>
          </a:xfrm>
          <a:prstGeom prst="rect">
            <a:avLst/>
          </a:prstGeom>
          <a:solidFill>
            <a:srgbClr val="0A1430"/>
          </a:solidFill>
          <a:ln w="12700">
            <a:solidFill>
              <a:srgbClr val="A78BFF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5870448" y="3584448"/>
            <a:ext cx="91440" cy="1024128"/>
          </a:xfrm>
          <a:prstGeom prst="rect">
            <a:avLst/>
          </a:prstGeom>
          <a:solidFill>
            <a:srgbClr val="A78BFF"/>
          </a:solidFill>
          <a:ln w="12700">
            <a:solidFill>
              <a:srgbClr val="A78BFF"/>
            </a:solidFill>
            <a:prstDash val="solid"/>
          </a:ln>
          <a:effectLst>
            <a:outerShdw blurRad="88900" dist="50800" dir="16200000" algn="bl" rotWithShape="0">
              <a:srgbClr val="A78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6025896" y="3794760"/>
            <a:ext cx="91440" cy="91440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6052414" y="382127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6236208" y="3712464"/>
            <a:ext cx="25786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 generation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6236208" y="4041648"/>
            <a:ext cx="257860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Automated ISO, quality, and audit reporting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306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0" y="-1828800"/>
            <a:ext cx="5029200" cy="5029200"/>
          </a:xfrm>
          <a:prstGeom prst="ellipse">
            <a:avLst/>
          </a:prstGeom>
          <a:solidFill>
            <a:srgbClr val="0B1E4D">
              <a:alpha val="20000"/>
            </a:srgbClr>
          </a:solidFill>
          <a:ln w="12700">
            <a:solidFill>
              <a:srgbClr val="0B1E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20117"/>
          </a:xfrm>
          <a:prstGeom prst="rect">
            <a:avLst/>
          </a:prstGeom>
          <a:solidFill>
            <a:srgbClr val="FF5FA8"/>
          </a:solidFill>
          <a:ln w="12700">
            <a:solidFill>
              <a:srgbClr val="FF5FA8"/>
            </a:solidFill>
            <a:prstDash val="solid"/>
          </a:ln>
          <a:effectLst>
            <a:outerShdw blurRad="1143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FF5FA8"/>
          </a:solidFill>
          <a:ln w="12700">
            <a:solidFill>
              <a:srgbClr val="FF5FA8"/>
            </a:solidFill>
            <a:prstDash val="solid"/>
          </a:ln>
          <a:effectLst>
            <a:outerShdw blurRad="88900" dist="50800" dir="16200000" algn="bl" rotWithShape="0">
              <a:srgbClr val="FF5FA8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-22860" y="1417320"/>
            <a:ext cx="91440" cy="91440"/>
          </a:xfrm>
          <a:prstGeom prst="ellipse">
            <a:avLst/>
          </a:prstGeom>
          <a:solidFill>
            <a:srgbClr val="FF5FA8"/>
          </a:solidFill>
          <a:ln w="6350">
            <a:solidFill>
              <a:srgbClr val="FF5FA8"/>
            </a:solidFill>
            <a:prstDash val="solid"/>
          </a:ln>
          <a:effectLst>
            <a:outerShdw blurRad="1397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658" y="144383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-13716" y="2855854"/>
            <a:ext cx="73152" cy="73152"/>
          </a:xfrm>
          <a:prstGeom prst="ellipse">
            <a:avLst/>
          </a:prstGeom>
          <a:solidFill>
            <a:srgbClr val="FF5FA8"/>
          </a:solidFill>
          <a:ln w="6350">
            <a:solidFill>
              <a:srgbClr val="FF5FA8"/>
            </a:solidFill>
            <a:prstDash val="solid"/>
          </a:ln>
          <a:effectLst>
            <a:outerShdw blurRad="1397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498" y="287706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955280" y="310896"/>
            <a:ext cx="502920" cy="0"/>
          </a:xfrm>
          <a:prstGeom prst="line">
            <a:avLst/>
          </a:prstGeom>
          <a:noFill/>
          <a:ln w="12700">
            <a:solidFill>
              <a:srgbClr val="FF5FA8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8458200" y="182880"/>
            <a:ext cx="338328" cy="274320"/>
          </a:xfrm>
          <a:prstGeom prst="line">
            <a:avLst/>
          </a:prstGeom>
          <a:noFill/>
          <a:ln w="12700">
            <a:solidFill>
              <a:srgbClr val="FF5FA8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955280" y="310896"/>
            <a:ext cx="274320" cy="219456"/>
          </a:xfrm>
          <a:prstGeom prst="line">
            <a:avLst/>
          </a:prstGeom>
          <a:noFill/>
          <a:ln w="12700">
            <a:solidFill>
              <a:srgbClr val="FF5FA8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914132" y="269748"/>
            <a:ext cx="82296" cy="82296"/>
          </a:xfrm>
          <a:prstGeom prst="ellipse">
            <a:avLst/>
          </a:prstGeom>
          <a:solidFill>
            <a:srgbClr val="FF5FA8"/>
          </a:solidFill>
          <a:ln w="6350">
            <a:solidFill>
              <a:srgbClr val="FF5FA8"/>
            </a:solidFill>
            <a:prstDash val="solid"/>
          </a:ln>
          <a:effectLst>
            <a:outerShdw blurRad="1397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937998" y="293614"/>
            <a:ext cx="34564" cy="3456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407908" y="132588"/>
            <a:ext cx="100584" cy="100584"/>
          </a:xfrm>
          <a:prstGeom prst="ellipse">
            <a:avLst/>
          </a:prstGeom>
          <a:solidFill>
            <a:srgbClr val="FF5FA8"/>
          </a:solidFill>
          <a:ln w="6350">
            <a:solidFill>
              <a:srgbClr val="FF5FA8"/>
            </a:solidFill>
            <a:prstDash val="solid"/>
          </a:ln>
          <a:effectLst>
            <a:outerShdw blurRad="1397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437077" y="16175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759952" y="420624"/>
            <a:ext cx="73152" cy="73152"/>
          </a:xfrm>
          <a:prstGeom prst="ellipse">
            <a:avLst/>
          </a:prstGeom>
          <a:solidFill>
            <a:srgbClr val="FF5FA8"/>
          </a:solidFill>
          <a:ln w="6350">
            <a:solidFill>
              <a:srgbClr val="FF5FA8"/>
            </a:solidFill>
            <a:prstDash val="solid"/>
          </a:ln>
          <a:effectLst>
            <a:outerShdw blurRad="1397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781166" y="44183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197596" y="498348"/>
            <a:ext cx="64008" cy="64008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216158" y="516910"/>
            <a:ext cx="26883" cy="26883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74320" y="82296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Problems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74320" y="420624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Three domains, one root cause: fragmented data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0" y="4956048"/>
            <a:ext cx="9144000" cy="16459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274320" y="4974336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 ·  SilverTrust Consulting  ·  Confidential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8229600" y="497433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3/13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274320" y="841248"/>
            <a:ext cx="2779776" cy="3913632"/>
          </a:xfrm>
          <a:prstGeom prst="rect">
            <a:avLst/>
          </a:prstGeom>
          <a:solidFill>
            <a:srgbClr val="0A1430"/>
          </a:solidFill>
          <a:ln w="12700">
            <a:solidFill>
              <a:srgbClr val="FF5FA8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274320" y="841248"/>
            <a:ext cx="2779776" cy="512064"/>
          </a:xfrm>
          <a:prstGeom prst="rect">
            <a:avLst/>
          </a:prstGeom>
          <a:solidFill>
            <a:srgbClr val="FF5FA8">
              <a:alpha val="18000"/>
            </a:srgbClr>
          </a:solidFill>
          <a:ln w="12700">
            <a:solidFill>
              <a:srgbClr val="FF5FA8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20624" y="841248"/>
            <a:ext cx="24871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Manufacturing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516636" y="1632204"/>
            <a:ext cx="100584" cy="100584"/>
          </a:xfrm>
          <a:prstGeom prst="ellipse">
            <a:avLst/>
          </a:prstGeom>
          <a:solidFill>
            <a:srgbClr val="FF5FA8"/>
          </a:solidFill>
          <a:ln w="6350">
            <a:solidFill>
              <a:srgbClr val="FF5FA8"/>
            </a:solidFill>
            <a:prstDash val="solid"/>
          </a:ln>
          <a:effectLst>
            <a:outerShdw blurRad="1397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545805" y="1661373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20624" y="1554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86384" y="1517904"/>
            <a:ext cx="215798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Defects &amp; quality issues detected too late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16636" y="2384938"/>
            <a:ext cx="100584" cy="100584"/>
          </a:xfrm>
          <a:prstGeom prst="ellipse">
            <a:avLst/>
          </a:prstGeom>
          <a:solidFill>
            <a:srgbClr val="FF5FA8"/>
          </a:solidFill>
          <a:ln w="6350">
            <a:solidFill>
              <a:srgbClr val="FF5FA8"/>
            </a:solidFill>
            <a:prstDash val="solid"/>
          </a:ln>
          <a:effectLst>
            <a:outerShdw blurRad="1397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545805" y="241410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420624" y="2307214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86384" y="2270638"/>
            <a:ext cx="215798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Rework costs continue to increase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16636" y="3061594"/>
            <a:ext cx="100584" cy="100584"/>
          </a:xfrm>
          <a:prstGeom prst="ellipse">
            <a:avLst/>
          </a:prstGeom>
          <a:solidFill>
            <a:srgbClr val="FF5FA8"/>
          </a:solidFill>
          <a:ln w="6350">
            <a:solidFill>
              <a:srgbClr val="FF5FA8"/>
            </a:solidFill>
            <a:prstDash val="solid"/>
          </a:ln>
          <a:effectLst>
            <a:outerShdw blurRad="1397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545805" y="3090763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420624" y="298387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786384" y="2947294"/>
            <a:ext cx="215798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Downtime investigations slow and difficult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3200400" y="841248"/>
            <a:ext cx="2779776" cy="3913632"/>
          </a:xfrm>
          <a:prstGeom prst="rect">
            <a:avLst/>
          </a:prstGeom>
          <a:solidFill>
            <a:srgbClr val="0A1430"/>
          </a:solidFill>
          <a:ln w="12700">
            <a:solidFill>
              <a:srgbClr val="36E0FF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3200400" y="841248"/>
            <a:ext cx="2779776" cy="512064"/>
          </a:xfrm>
          <a:prstGeom prst="rect">
            <a:avLst/>
          </a:prstGeom>
          <a:solidFill>
            <a:srgbClr val="36E0FF">
              <a:alpha val="18000"/>
            </a:srgbClr>
          </a:solidFill>
          <a:ln w="12700">
            <a:solidFill>
              <a:srgbClr val="36E0FF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3346704" y="841248"/>
            <a:ext cx="24871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Operations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3442716" y="1632204"/>
            <a:ext cx="100584" cy="100584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3471885" y="1661373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3346704" y="1554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3712464" y="1517904"/>
            <a:ext cx="215798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Critical knowledge depends on few individuals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3442716" y="2601468"/>
            <a:ext cx="100584" cy="100584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3471885" y="263063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3346704" y="2523744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3712464" y="2487168"/>
            <a:ext cx="215798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retrieval is manual and time-consuming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3442716" y="3570732"/>
            <a:ext cx="100584" cy="100584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3471885" y="3599901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3346704" y="3493008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3712464" y="3456432"/>
            <a:ext cx="215798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Information scattered across many systems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6126480" y="841248"/>
            <a:ext cx="2779776" cy="3913632"/>
          </a:xfrm>
          <a:prstGeom prst="rect">
            <a:avLst/>
          </a:prstGeom>
          <a:solidFill>
            <a:srgbClr val="0A1430"/>
          </a:solidFill>
          <a:ln w="12700">
            <a:solidFill>
              <a:srgbClr val="A78BFF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6126480" y="841248"/>
            <a:ext cx="2779776" cy="512064"/>
          </a:xfrm>
          <a:prstGeom prst="rect">
            <a:avLst/>
          </a:prstGeom>
          <a:solidFill>
            <a:srgbClr val="A78BFF">
              <a:alpha val="18000"/>
            </a:srgbClr>
          </a:solidFill>
          <a:ln w="12700">
            <a:solidFill>
              <a:srgbClr val="A78BFF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6272784" y="841248"/>
            <a:ext cx="24871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Compliance</a:t>
            </a:r>
            <a:endParaRPr lang="en-US" sz="1500" dirty="0"/>
          </a:p>
        </p:txBody>
      </p:sp>
      <p:sp>
        <p:nvSpPr>
          <p:cNvPr id="60" name="Shape 58"/>
          <p:cNvSpPr/>
          <p:nvPr/>
        </p:nvSpPr>
        <p:spPr>
          <a:xfrm>
            <a:off x="6368796" y="1632204"/>
            <a:ext cx="100584" cy="100584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>
            <a:off x="6397965" y="1661373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6272784" y="1554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6638544" y="1517904"/>
            <a:ext cx="215798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Audit preparation requires significant effort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6368796" y="2601468"/>
            <a:ext cx="100584" cy="100584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6397965" y="263063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64"/>
          <p:cNvSpPr/>
          <p:nvPr/>
        </p:nvSpPr>
        <p:spPr>
          <a:xfrm>
            <a:off x="6272784" y="2523744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6638544" y="2487168"/>
            <a:ext cx="215798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reporting is largely manual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6368796" y="3570732"/>
            <a:ext cx="100584" cy="100584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9" name="Shape 67"/>
          <p:cNvSpPr/>
          <p:nvPr/>
        </p:nvSpPr>
        <p:spPr>
          <a:xfrm>
            <a:off x="6397965" y="3599901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Text 68"/>
          <p:cNvSpPr/>
          <p:nvPr/>
        </p:nvSpPr>
        <p:spPr>
          <a:xfrm>
            <a:off x="6272784" y="3493008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71" name="Text 69"/>
          <p:cNvSpPr/>
          <p:nvPr/>
        </p:nvSpPr>
        <p:spPr>
          <a:xfrm>
            <a:off x="6638544" y="3456432"/>
            <a:ext cx="215798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Consistent evidence for improvements hard to provide</a:t>
            </a:r>
            <a:endParaRPr lang="en-US" sz="1100" dirty="0"/>
          </a:p>
        </p:txBody>
      </p:sp>
      <p:sp>
        <p:nvSpPr>
          <p:cNvPr id="72" name="Shape 36">
            <a:extLst>
              <a:ext uri="{FF2B5EF4-FFF2-40B4-BE49-F238E27FC236}">
                <a16:creationId xmlns:a16="http://schemas.microsoft.com/office/drawing/2014/main" id="{91D940D3-3B3D-F24F-006F-2E255BF6DA37}"/>
              </a:ext>
            </a:extLst>
          </p:cNvPr>
          <p:cNvSpPr/>
          <p:nvPr/>
        </p:nvSpPr>
        <p:spPr>
          <a:xfrm>
            <a:off x="516636" y="3765747"/>
            <a:ext cx="100584" cy="100584"/>
          </a:xfrm>
          <a:prstGeom prst="ellipse">
            <a:avLst/>
          </a:prstGeom>
          <a:solidFill>
            <a:srgbClr val="FF5FA8"/>
          </a:solidFill>
          <a:ln w="6350">
            <a:solidFill>
              <a:srgbClr val="FF5FA8"/>
            </a:solidFill>
            <a:prstDash val="solid"/>
          </a:ln>
          <a:effectLst>
            <a:outerShdw blurRad="1397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3" name="Shape 37">
            <a:extLst>
              <a:ext uri="{FF2B5EF4-FFF2-40B4-BE49-F238E27FC236}">
                <a16:creationId xmlns:a16="http://schemas.microsoft.com/office/drawing/2014/main" id="{1580CB88-B797-31F9-D5BA-452F8AC2F7B8}"/>
              </a:ext>
            </a:extLst>
          </p:cNvPr>
          <p:cNvSpPr/>
          <p:nvPr/>
        </p:nvSpPr>
        <p:spPr>
          <a:xfrm>
            <a:off x="545805" y="3794916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Text 38">
            <a:extLst>
              <a:ext uri="{FF2B5EF4-FFF2-40B4-BE49-F238E27FC236}">
                <a16:creationId xmlns:a16="http://schemas.microsoft.com/office/drawing/2014/main" id="{59E0880F-D2B2-47AE-E56A-90FF857D6BA6}"/>
              </a:ext>
            </a:extLst>
          </p:cNvPr>
          <p:cNvSpPr/>
          <p:nvPr/>
        </p:nvSpPr>
        <p:spPr>
          <a:xfrm>
            <a:off x="420624" y="3688023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</a:rPr>
              <a:t>4</a:t>
            </a:r>
            <a:endParaRPr lang="en-US" sz="900" dirty="0"/>
          </a:p>
        </p:txBody>
      </p:sp>
      <p:sp>
        <p:nvSpPr>
          <p:cNvPr id="75" name="Text 39">
            <a:extLst>
              <a:ext uri="{FF2B5EF4-FFF2-40B4-BE49-F238E27FC236}">
                <a16:creationId xmlns:a16="http://schemas.microsoft.com/office/drawing/2014/main" id="{3A80E0B1-2A06-9CB5-8A83-8D1CCEB67ACF}"/>
              </a:ext>
            </a:extLst>
          </p:cNvPr>
          <p:cNvSpPr/>
          <p:nvPr/>
        </p:nvSpPr>
        <p:spPr>
          <a:xfrm>
            <a:off x="786384" y="3651447"/>
            <a:ext cx="215798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&amp; data based decision not possible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306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0" y="-1828800"/>
            <a:ext cx="5029200" cy="5029200"/>
          </a:xfrm>
          <a:prstGeom prst="ellipse">
            <a:avLst/>
          </a:prstGeom>
          <a:solidFill>
            <a:srgbClr val="0B1E4D">
              <a:alpha val="20000"/>
            </a:srgbClr>
          </a:solidFill>
          <a:ln w="12700">
            <a:solidFill>
              <a:srgbClr val="0B1E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20117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1143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889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-22860" y="1417320"/>
            <a:ext cx="91440" cy="91440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658" y="144383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-13716" y="3072384"/>
            <a:ext cx="73152" cy="73152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498" y="309359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955280" y="310896"/>
            <a:ext cx="502920" cy="0"/>
          </a:xfrm>
          <a:prstGeom prst="line">
            <a:avLst/>
          </a:prstGeom>
          <a:noFill/>
          <a:ln w="12700">
            <a:solidFill>
              <a:srgbClr val="3DEFC4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8458200" y="182880"/>
            <a:ext cx="338328" cy="274320"/>
          </a:xfrm>
          <a:prstGeom prst="line">
            <a:avLst/>
          </a:prstGeom>
          <a:noFill/>
          <a:ln w="12700">
            <a:solidFill>
              <a:srgbClr val="3DEFC4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955280" y="310896"/>
            <a:ext cx="274320" cy="219456"/>
          </a:xfrm>
          <a:prstGeom prst="line">
            <a:avLst/>
          </a:prstGeom>
          <a:noFill/>
          <a:ln w="12700">
            <a:solidFill>
              <a:srgbClr val="3DEFC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914132" y="269748"/>
            <a:ext cx="82296" cy="82296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937998" y="293614"/>
            <a:ext cx="34564" cy="3456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407908" y="132588"/>
            <a:ext cx="100584" cy="100584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437077" y="16175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759952" y="420624"/>
            <a:ext cx="73152" cy="73152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781166" y="44183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197596" y="498348"/>
            <a:ext cx="64008" cy="64008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216158" y="516910"/>
            <a:ext cx="26883" cy="26883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74320" y="82296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Components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74320" y="420624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Four agents — each scoped to a clear business value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0" y="4956048"/>
            <a:ext cx="9144000" cy="16459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274320" y="4974336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 ·  SilverTrust Consulting  ·  Confidential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8229600" y="497433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7/13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274320" y="841248"/>
            <a:ext cx="2075688" cy="3913632"/>
          </a:xfrm>
          <a:prstGeom prst="rect">
            <a:avLst/>
          </a:prstGeom>
          <a:solidFill>
            <a:srgbClr val="0A1430"/>
          </a:solidFill>
          <a:ln w="12700">
            <a:solidFill>
              <a:srgbClr val="3DEFC4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274320" y="841248"/>
            <a:ext cx="2075688" cy="420624"/>
          </a:xfrm>
          <a:prstGeom prst="rect">
            <a:avLst/>
          </a:prstGeom>
          <a:solidFill>
            <a:srgbClr val="3DEFC4">
              <a:alpha val="18000"/>
            </a:srgbClr>
          </a:solidFill>
          <a:ln w="12700">
            <a:solidFill>
              <a:srgbClr val="3DEFC4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443484" y="1001268"/>
            <a:ext cx="100584" cy="100584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72653" y="103043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58368" y="841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Knowledge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02336" y="1316736"/>
            <a:ext cx="18288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3DEF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 access to operational and technical knowledge.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02336" y="1938528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5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Examples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402336" y="2121408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Where is downtime data?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402336" y="2450592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is OEE calculated?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402336" y="2779776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feeds this report?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402336" y="3163824"/>
            <a:ext cx="1828800" cy="16459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402336" y="3255264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50" dirty="0">
                <a:solidFill>
                  <a:srgbClr val="3DEF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value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402336" y="3438144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Reduced expert dependency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402336" y="3767328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Faster onboarding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402336" y="4096512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Knowledge retention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2478024" y="841248"/>
            <a:ext cx="2075688" cy="3913632"/>
          </a:xfrm>
          <a:prstGeom prst="rect">
            <a:avLst/>
          </a:prstGeom>
          <a:solidFill>
            <a:srgbClr val="0A1430"/>
          </a:solidFill>
          <a:ln w="12700">
            <a:solidFill>
              <a:srgbClr val="36E0FF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2478024" y="841248"/>
            <a:ext cx="2075688" cy="420624"/>
          </a:xfrm>
          <a:prstGeom prst="rect">
            <a:avLst/>
          </a:prstGeom>
          <a:solidFill>
            <a:srgbClr val="36E0FF">
              <a:alpha val="18000"/>
            </a:srgbClr>
          </a:solidFill>
          <a:ln w="12700">
            <a:solidFill>
              <a:srgbClr val="36E0FF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2647188" y="1001268"/>
            <a:ext cx="100584" cy="100584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2676357" y="103043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2862072" y="841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Investigation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2606040" y="1316736"/>
            <a:ext cx="18288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36E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 root cause investigations.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2606040" y="1938528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5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Examples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2606040" y="2121408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did rework increase?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2606040" y="2450592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did downtime occur?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2606040" y="2779776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Similar incidents before?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2606040" y="3163824"/>
            <a:ext cx="1828800" cy="16459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2606040" y="3255264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50" dirty="0">
                <a:solidFill>
                  <a:srgbClr val="36E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value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2606040" y="3438144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Faster investigations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2606040" y="3767328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Better decisions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2606040" y="4096512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Improved transparency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4681728" y="841248"/>
            <a:ext cx="2075688" cy="3913632"/>
          </a:xfrm>
          <a:prstGeom prst="rect">
            <a:avLst/>
          </a:prstGeom>
          <a:solidFill>
            <a:srgbClr val="0A1430"/>
          </a:solidFill>
          <a:ln w="12700">
            <a:solidFill>
              <a:srgbClr val="A78BFF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4681728" y="841248"/>
            <a:ext cx="2075688" cy="420624"/>
          </a:xfrm>
          <a:prstGeom prst="rect">
            <a:avLst/>
          </a:prstGeom>
          <a:solidFill>
            <a:srgbClr val="A78BFF">
              <a:alpha val="18000"/>
            </a:srgbClr>
          </a:solidFill>
          <a:ln w="12700">
            <a:solidFill>
              <a:srgbClr val="A78BFF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4850892" y="1001268"/>
            <a:ext cx="100584" cy="100584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4880061" y="103043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5065776" y="841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Reporting</a:t>
            </a:r>
            <a:endParaRPr lang="en-US" sz="1250" dirty="0"/>
          </a:p>
        </p:txBody>
      </p:sp>
      <p:sp>
        <p:nvSpPr>
          <p:cNvPr id="62" name="Text 60"/>
          <p:cNvSpPr/>
          <p:nvPr/>
        </p:nvSpPr>
        <p:spPr>
          <a:xfrm>
            <a:off x="4809744" y="1316736"/>
            <a:ext cx="18288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A78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Automate report preparation.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4809744" y="1938528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5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Examples</a:t>
            </a:r>
            <a:endParaRPr lang="en-US" sz="800" dirty="0"/>
          </a:p>
        </p:txBody>
      </p:sp>
      <p:sp>
        <p:nvSpPr>
          <p:cNvPr id="64" name="Text 62"/>
          <p:cNvSpPr/>
          <p:nvPr/>
        </p:nvSpPr>
        <p:spPr>
          <a:xfrm>
            <a:off x="4809744" y="2121408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Manufacturing reports</a:t>
            </a:r>
          </a:p>
        </p:txBody>
      </p:sp>
      <p:sp>
        <p:nvSpPr>
          <p:cNvPr id="65" name="Text 63"/>
          <p:cNvSpPr/>
          <p:nvPr/>
        </p:nvSpPr>
        <p:spPr>
          <a:xfrm>
            <a:off x="4809744" y="2450592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Quality &amp; management summaries</a:t>
            </a:r>
          </a:p>
        </p:txBody>
      </p:sp>
      <p:sp>
        <p:nvSpPr>
          <p:cNvPr id="66" name="Text 64"/>
          <p:cNvSpPr/>
          <p:nvPr/>
        </p:nvSpPr>
        <p:spPr>
          <a:xfrm>
            <a:off x="4809744" y="2779776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Audit packages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4809744" y="3163824"/>
            <a:ext cx="1828800" cy="16459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Text 66"/>
          <p:cNvSpPr/>
          <p:nvPr/>
        </p:nvSpPr>
        <p:spPr>
          <a:xfrm>
            <a:off x="4809744" y="3255264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50" dirty="0">
                <a:solidFill>
                  <a:srgbClr val="A78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value</a:t>
            </a:r>
            <a:endParaRPr lang="en-US" sz="800" dirty="0"/>
          </a:p>
        </p:txBody>
      </p:sp>
      <p:sp>
        <p:nvSpPr>
          <p:cNvPr id="69" name="Text 67"/>
          <p:cNvSpPr/>
          <p:nvPr/>
        </p:nvSpPr>
        <p:spPr>
          <a:xfrm>
            <a:off x="4809744" y="3438144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Less reporting effort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4809744" y="3767328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Faster audits</a:t>
            </a:r>
            <a:endParaRPr lang="en-US" sz="850" dirty="0"/>
          </a:p>
        </p:txBody>
      </p:sp>
      <p:sp>
        <p:nvSpPr>
          <p:cNvPr id="71" name="Text 69"/>
          <p:cNvSpPr/>
          <p:nvPr/>
        </p:nvSpPr>
        <p:spPr>
          <a:xfrm>
            <a:off x="4809744" y="4096512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Consistent docs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6885432" y="841248"/>
            <a:ext cx="2075688" cy="3913632"/>
          </a:xfrm>
          <a:prstGeom prst="rect">
            <a:avLst/>
          </a:prstGeom>
          <a:solidFill>
            <a:srgbClr val="0A1430"/>
          </a:solidFill>
          <a:ln w="12700">
            <a:solidFill>
              <a:srgbClr val="FFC23D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3" name="Shape 71"/>
          <p:cNvSpPr/>
          <p:nvPr/>
        </p:nvSpPr>
        <p:spPr>
          <a:xfrm>
            <a:off x="6885432" y="841248"/>
            <a:ext cx="2075688" cy="420624"/>
          </a:xfrm>
          <a:prstGeom prst="rect">
            <a:avLst/>
          </a:prstGeom>
          <a:solidFill>
            <a:srgbClr val="FFC23D">
              <a:alpha val="18000"/>
            </a:srgbClr>
          </a:solidFill>
          <a:ln w="12700">
            <a:solidFill>
              <a:srgbClr val="FFC23D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Shape 72"/>
          <p:cNvSpPr/>
          <p:nvPr/>
        </p:nvSpPr>
        <p:spPr>
          <a:xfrm>
            <a:off x="7054596" y="1001268"/>
            <a:ext cx="100584" cy="100584"/>
          </a:xfrm>
          <a:prstGeom prst="ellipse">
            <a:avLst/>
          </a:prstGeom>
          <a:solidFill>
            <a:srgbClr val="FFC23D"/>
          </a:solidFill>
          <a:ln w="6350">
            <a:solidFill>
              <a:srgbClr val="FFC23D"/>
            </a:solidFill>
            <a:prstDash val="solid"/>
          </a:ln>
          <a:effectLst>
            <a:outerShdw blurRad="139700" dist="50800" dir="16200000" algn="bl" rotWithShape="0">
              <a:srgbClr val="FFC23D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5" name="Shape 73"/>
          <p:cNvSpPr/>
          <p:nvPr/>
        </p:nvSpPr>
        <p:spPr>
          <a:xfrm>
            <a:off x="7083765" y="103043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Text 74"/>
          <p:cNvSpPr/>
          <p:nvPr/>
        </p:nvSpPr>
        <p:spPr>
          <a:xfrm>
            <a:off x="7269480" y="841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Monitoring</a:t>
            </a:r>
            <a:endParaRPr lang="en-US" sz="1250" dirty="0"/>
          </a:p>
        </p:txBody>
      </p:sp>
      <p:sp>
        <p:nvSpPr>
          <p:cNvPr id="77" name="Text 75"/>
          <p:cNvSpPr/>
          <p:nvPr/>
        </p:nvSpPr>
        <p:spPr>
          <a:xfrm>
            <a:off x="7013448" y="1316736"/>
            <a:ext cx="18288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FFC2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Proactive early warning and trend detection.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7013448" y="1938528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5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Examples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7013448" y="2121408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Rising scrap rates</a:t>
            </a:r>
            <a:endParaRPr lang="en-US" sz="850" dirty="0"/>
          </a:p>
        </p:txBody>
      </p:sp>
      <p:sp>
        <p:nvSpPr>
          <p:cNvPr id="80" name="Text 78"/>
          <p:cNvSpPr/>
          <p:nvPr/>
        </p:nvSpPr>
        <p:spPr>
          <a:xfrm>
            <a:off x="7013448" y="2450592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Unusual downtime patterns</a:t>
            </a:r>
            <a:endParaRPr lang="en-US" sz="850" dirty="0"/>
          </a:p>
        </p:txBody>
      </p:sp>
      <p:sp>
        <p:nvSpPr>
          <p:cNvPr id="81" name="Text 79"/>
          <p:cNvSpPr/>
          <p:nvPr/>
        </p:nvSpPr>
        <p:spPr>
          <a:xfrm>
            <a:off x="7013448" y="2779776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Missing maintenance</a:t>
            </a:r>
            <a:endParaRPr lang="en-US" sz="850" dirty="0"/>
          </a:p>
        </p:txBody>
      </p:sp>
      <p:sp>
        <p:nvSpPr>
          <p:cNvPr id="82" name="Shape 80"/>
          <p:cNvSpPr/>
          <p:nvPr/>
        </p:nvSpPr>
        <p:spPr>
          <a:xfrm>
            <a:off x="7013448" y="3163824"/>
            <a:ext cx="1828800" cy="16459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3" name="Text 81"/>
          <p:cNvSpPr/>
          <p:nvPr/>
        </p:nvSpPr>
        <p:spPr>
          <a:xfrm>
            <a:off x="7013448" y="3255264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50" dirty="0">
                <a:solidFill>
                  <a:srgbClr val="FFC2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value</a:t>
            </a:r>
            <a:endParaRPr lang="en-US" sz="800" dirty="0"/>
          </a:p>
        </p:txBody>
      </p:sp>
      <p:sp>
        <p:nvSpPr>
          <p:cNvPr id="84" name="Text 82"/>
          <p:cNvSpPr/>
          <p:nvPr/>
        </p:nvSpPr>
        <p:spPr>
          <a:xfrm>
            <a:off x="7013448" y="3438144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Earlier visibility</a:t>
            </a:r>
            <a:endParaRPr lang="en-US" sz="850" dirty="0"/>
          </a:p>
        </p:txBody>
      </p:sp>
      <p:sp>
        <p:nvSpPr>
          <p:cNvPr id="85" name="Text 83"/>
          <p:cNvSpPr/>
          <p:nvPr/>
        </p:nvSpPr>
        <p:spPr>
          <a:xfrm>
            <a:off x="7013448" y="3767328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Reduced downtime</a:t>
            </a:r>
            <a:endParaRPr lang="en-US" sz="850" dirty="0"/>
          </a:p>
        </p:txBody>
      </p:sp>
      <p:sp>
        <p:nvSpPr>
          <p:cNvPr id="86" name="Text 84"/>
          <p:cNvSpPr/>
          <p:nvPr/>
        </p:nvSpPr>
        <p:spPr>
          <a:xfrm>
            <a:off x="7013448" y="4096512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Fewer surprises</a:t>
            </a:r>
            <a:endParaRPr lang="en-US" sz="850" dirty="0"/>
          </a:p>
        </p:txBody>
      </p:sp>
      <p:sp>
        <p:nvSpPr>
          <p:cNvPr id="87" name="Text 15">
            <a:extLst>
              <a:ext uri="{FF2B5EF4-FFF2-40B4-BE49-F238E27FC236}">
                <a16:creationId xmlns:a16="http://schemas.microsoft.com/office/drawing/2014/main" id="{B65F9AB8-DB6C-A179-4CC1-3133ACAC0CD3}"/>
              </a:ext>
            </a:extLst>
          </p:cNvPr>
          <p:cNvSpPr/>
          <p:nvPr/>
        </p:nvSpPr>
        <p:spPr>
          <a:xfrm>
            <a:off x="1042162" y="4574286"/>
            <a:ext cx="1321562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buSzPct val="100000"/>
            </a:pPr>
            <a:r>
              <a:rPr lang="en-US" sz="600" dirty="0">
                <a:solidFill>
                  <a:srgbClr val="9DBEF0"/>
                </a:solidFill>
                <a:latin typeface="Aptos" pitchFamily="34" charset="0"/>
              </a:rPr>
              <a:t>*Overall Equipment Effectiveness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306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0" y="-1828800"/>
            <a:ext cx="5029200" cy="5029200"/>
          </a:xfrm>
          <a:prstGeom prst="ellipse">
            <a:avLst/>
          </a:prstGeom>
          <a:solidFill>
            <a:srgbClr val="0B1E4D">
              <a:alpha val="20000"/>
            </a:srgbClr>
          </a:solidFill>
          <a:ln w="12700">
            <a:solidFill>
              <a:srgbClr val="0B1E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20117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1143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88900" dist="50800" dir="16200000" algn="bl" rotWithShape="0">
              <a:srgbClr val="36E0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-22860" y="1417320"/>
            <a:ext cx="91440" cy="91440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658" y="144383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-13716" y="3072384"/>
            <a:ext cx="73152" cy="73152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498" y="309359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955280" y="310896"/>
            <a:ext cx="502920" cy="0"/>
          </a:xfrm>
          <a:prstGeom prst="line">
            <a:avLst/>
          </a:prstGeom>
          <a:noFill/>
          <a:ln w="12700">
            <a:solidFill>
              <a:srgbClr val="36E0FF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8458200" y="182880"/>
            <a:ext cx="338328" cy="274320"/>
          </a:xfrm>
          <a:prstGeom prst="line">
            <a:avLst/>
          </a:prstGeom>
          <a:noFill/>
          <a:ln w="12700">
            <a:solidFill>
              <a:srgbClr val="36E0FF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955280" y="310896"/>
            <a:ext cx="274320" cy="219456"/>
          </a:xfrm>
          <a:prstGeom prst="line">
            <a:avLst/>
          </a:prstGeom>
          <a:noFill/>
          <a:ln w="12700">
            <a:solidFill>
              <a:srgbClr val="36E0FF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914132" y="269748"/>
            <a:ext cx="82296" cy="82296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937998" y="293614"/>
            <a:ext cx="34564" cy="3456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407908" y="132588"/>
            <a:ext cx="100584" cy="100584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437077" y="16175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759952" y="420624"/>
            <a:ext cx="73152" cy="73152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781166" y="44183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197596" y="498348"/>
            <a:ext cx="64008" cy="64008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216158" y="516910"/>
            <a:ext cx="26883" cy="26883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74320" y="82296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Flow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74320" y="420624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question becomes a trusted, traceable answer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0" y="4956048"/>
            <a:ext cx="9144000" cy="16459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274320" y="4974336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 ·  SilverTrust Consulting  ·  Confidential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8229600" y="497433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5/13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274320" y="841248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Process pipeline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65760" y="1170432"/>
            <a:ext cx="4206240" cy="402336"/>
          </a:xfrm>
          <a:prstGeom prst="rect">
            <a:avLst/>
          </a:prstGeom>
          <a:solidFill>
            <a:srgbClr val="0A1430"/>
          </a:solidFill>
          <a:ln w="10160">
            <a:solidFill>
              <a:srgbClr val="6B82B5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530352" y="1307592"/>
            <a:ext cx="128016" cy="128016"/>
          </a:xfrm>
          <a:prstGeom prst="ellipse">
            <a:avLst/>
          </a:prstGeom>
          <a:solidFill>
            <a:srgbClr val="6B82B5"/>
          </a:solidFill>
          <a:ln w="6350">
            <a:solidFill>
              <a:srgbClr val="6B82B5"/>
            </a:solidFill>
            <a:prstDash val="solid"/>
          </a:ln>
          <a:effectLst>
            <a:outerShdw blurRad="139700" dist="50800" dir="16200000" algn="bl" rotWithShape="0">
              <a:srgbClr val="6B82B5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567477" y="1344717"/>
            <a:ext cx="53767" cy="53767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57200" y="1234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41248" y="1170432"/>
            <a:ext cx="3657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 Question	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94360" y="1572768"/>
            <a:ext cx="0" cy="109728"/>
          </a:xfrm>
          <a:prstGeom prst="line">
            <a:avLst/>
          </a:prstGeom>
          <a:noFill/>
          <a:ln w="12700">
            <a:solidFill>
              <a:srgbClr val="6B82B5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365760" y="1682496"/>
            <a:ext cx="4206240" cy="402336"/>
          </a:xfrm>
          <a:prstGeom prst="rect">
            <a:avLst/>
          </a:prstGeom>
          <a:solidFill>
            <a:srgbClr val="0A1430"/>
          </a:solidFill>
          <a:ln w="10160">
            <a:solidFill>
              <a:srgbClr val="FF5FA8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530352" y="1819656"/>
            <a:ext cx="128016" cy="128016"/>
          </a:xfrm>
          <a:prstGeom prst="ellipse">
            <a:avLst/>
          </a:prstGeom>
          <a:solidFill>
            <a:srgbClr val="FF5FA8"/>
          </a:solidFill>
          <a:ln w="6350">
            <a:solidFill>
              <a:srgbClr val="FF5FA8"/>
            </a:solidFill>
            <a:prstDash val="solid"/>
          </a:ln>
          <a:effectLst>
            <a:outerShdw blurRad="1397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567477" y="1856781"/>
            <a:ext cx="53767" cy="53767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57200" y="17465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841248" y="1682496"/>
            <a:ext cx="3657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Permission Check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94360" y="2084832"/>
            <a:ext cx="0" cy="109728"/>
          </a:xfrm>
          <a:prstGeom prst="line">
            <a:avLst/>
          </a:prstGeom>
          <a:noFill/>
          <a:ln w="12700">
            <a:solidFill>
              <a:srgbClr val="FF5FA8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365760" y="2194560"/>
            <a:ext cx="4206240" cy="402336"/>
          </a:xfrm>
          <a:prstGeom prst="rect">
            <a:avLst/>
          </a:prstGeom>
          <a:solidFill>
            <a:srgbClr val="0A1430"/>
          </a:solidFill>
          <a:ln w="10160">
            <a:solidFill>
              <a:srgbClr val="36E0F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530352" y="2331720"/>
            <a:ext cx="128016" cy="128016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567477" y="2368845"/>
            <a:ext cx="53767" cy="53767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457200" y="2258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841248" y="2194560"/>
            <a:ext cx="3657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Relevant Data Selection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594360" y="2596896"/>
            <a:ext cx="0" cy="109728"/>
          </a:xfrm>
          <a:prstGeom prst="line">
            <a:avLst/>
          </a:prstGeom>
          <a:noFill/>
          <a:ln w="12700">
            <a:solidFill>
              <a:srgbClr val="36E0FF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365760" y="2706624"/>
            <a:ext cx="4206240" cy="402336"/>
          </a:xfrm>
          <a:prstGeom prst="rect">
            <a:avLst/>
          </a:prstGeom>
          <a:solidFill>
            <a:srgbClr val="0A1430"/>
          </a:solidFill>
          <a:ln w="10160">
            <a:solidFill>
              <a:srgbClr val="FFC23D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530352" y="2843784"/>
            <a:ext cx="128016" cy="128016"/>
          </a:xfrm>
          <a:prstGeom prst="ellipse">
            <a:avLst/>
          </a:prstGeom>
          <a:solidFill>
            <a:srgbClr val="FFC23D"/>
          </a:solidFill>
          <a:ln w="6350">
            <a:solidFill>
              <a:srgbClr val="FFC23D"/>
            </a:solidFill>
            <a:prstDash val="solid"/>
          </a:ln>
          <a:effectLst>
            <a:outerShdw blurRad="139700" dist="50800" dir="16200000" algn="bl" rotWithShape="0">
              <a:srgbClr val="FFC23D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567477" y="2880909"/>
            <a:ext cx="53767" cy="53767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457200" y="27706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841248" y="2706624"/>
            <a:ext cx="3657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KPI Calculation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594360" y="3108960"/>
            <a:ext cx="0" cy="109728"/>
          </a:xfrm>
          <a:prstGeom prst="line">
            <a:avLst/>
          </a:prstGeom>
          <a:noFill/>
          <a:ln w="12700">
            <a:solidFill>
              <a:srgbClr val="FFC23D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365760" y="3218688"/>
            <a:ext cx="4206240" cy="402336"/>
          </a:xfrm>
          <a:prstGeom prst="rect">
            <a:avLst/>
          </a:prstGeom>
          <a:solidFill>
            <a:srgbClr val="0A1430"/>
          </a:solidFill>
          <a:ln w="10160">
            <a:solidFill>
              <a:srgbClr val="5B9BF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530352" y="3355848"/>
            <a:ext cx="128016" cy="128016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567477" y="3392973"/>
            <a:ext cx="53767" cy="53767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457200" y="32826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841248" y="3218688"/>
            <a:ext cx="3657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 Package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594360" y="3621024"/>
            <a:ext cx="0" cy="109728"/>
          </a:xfrm>
          <a:prstGeom prst="line">
            <a:avLst/>
          </a:prstGeom>
          <a:noFill/>
          <a:ln w="12700">
            <a:solidFill>
              <a:srgbClr val="5B9BFF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365760" y="3730752"/>
            <a:ext cx="4206240" cy="402336"/>
          </a:xfrm>
          <a:prstGeom prst="rect">
            <a:avLst/>
          </a:prstGeom>
          <a:solidFill>
            <a:srgbClr val="0A1430"/>
          </a:solidFill>
          <a:ln w="10160">
            <a:solidFill>
              <a:srgbClr val="3DEFC4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530352" y="3867912"/>
            <a:ext cx="128016" cy="128016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567477" y="3905037"/>
            <a:ext cx="53767" cy="53767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457200" y="3794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841248" y="3730752"/>
            <a:ext cx="3657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LLM Analysis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594360" y="4133088"/>
            <a:ext cx="0" cy="109728"/>
          </a:xfrm>
          <a:prstGeom prst="line">
            <a:avLst/>
          </a:prstGeom>
          <a:noFill/>
          <a:ln w="12700">
            <a:solidFill>
              <a:srgbClr val="3DEFC4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Shape 62"/>
          <p:cNvSpPr/>
          <p:nvPr/>
        </p:nvSpPr>
        <p:spPr>
          <a:xfrm>
            <a:off x="365760" y="4242816"/>
            <a:ext cx="4206240" cy="402336"/>
          </a:xfrm>
          <a:prstGeom prst="rect">
            <a:avLst/>
          </a:prstGeom>
          <a:solidFill>
            <a:srgbClr val="0A1430"/>
          </a:solidFill>
          <a:ln w="10160">
            <a:solidFill>
              <a:srgbClr val="A78BF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530352" y="4379976"/>
            <a:ext cx="128016" cy="128016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6" name="Shape 64"/>
          <p:cNvSpPr/>
          <p:nvPr/>
        </p:nvSpPr>
        <p:spPr>
          <a:xfrm>
            <a:off x="567477" y="4417101"/>
            <a:ext cx="53767" cy="53767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65"/>
          <p:cNvSpPr/>
          <p:nvPr/>
        </p:nvSpPr>
        <p:spPr>
          <a:xfrm>
            <a:off x="457200" y="43068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841248" y="4242816"/>
            <a:ext cx="3657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Review → Final Decision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4892040" y="841248"/>
            <a:ext cx="3995928" cy="3913632"/>
          </a:xfrm>
          <a:prstGeom prst="rect">
            <a:avLst/>
          </a:prstGeom>
          <a:solidFill>
            <a:srgbClr val="0A1430"/>
          </a:solidFill>
          <a:ln w="12700">
            <a:solidFill>
              <a:srgbClr val="36E0FF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0" name="Shape 68"/>
          <p:cNvSpPr/>
          <p:nvPr/>
        </p:nvSpPr>
        <p:spPr>
          <a:xfrm>
            <a:off x="4892040" y="841248"/>
            <a:ext cx="3995928" cy="54864"/>
          </a:xfrm>
          <a:prstGeom prst="rect">
            <a:avLst/>
          </a:prstGeom>
          <a:solidFill>
            <a:srgbClr val="36E0FF">
              <a:alpha val="18000"/>
            </a:srgbClr>
          </a:solidFill>
          <a:ln w="12700">
            <a:solidFill>
              <a:srgbClr val="36E0FF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Text 69"/>
          <p:cNvSpPr/>
          <p:nvPr/>
        </p:nvSpPr>
        <p:spPr>
          <a:xfrm>
            <a:off x="5074920" y="10058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6E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Worked example</a:t>
            </a:r>
            <a:endParaRPr lang="en-US" sz="1100" dirty="0"/>
          </a:p>
        </p:txBody>
      </p:sp>
      <p:sp>
        <p:nvSpPr>
          <p:cNvPr id="72" name="Shape 70"/>
          <p:cNvSpPr/>
          <p:nvPr/>
        </p:nvSpPr>
        <p:spPr>
          <a:xfrm>
            <a:off x="5074920" y="1335024"/>
            <a:ext cx="3630168" cy="548640"/>
          </a:xfrm>
          <a:prstGeom prst="rect">
            <a:avLst/>
          </a:prstGeom>
          <a:solidFill>
            <a:srgbClr val="08112A"/>
          </a:solidFill>
          <a:ln w="10160">
            <a:solidFill>
              <a:srgbClr val="36E0FF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Text 71"/>
          <p:cNvSpPr/>
          <p:nvPr/>
        </p:nvSpPr>
        <p:spPr>
          <a:xfrm>
            <a:off x="5184648" y="1335024"/>
            <a:ext cx="341071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i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"Why did rework increase on Line 3 last week?"</a:t>
            </a:r>
            <a:endParaRPr lang="en-US" sz="1150" dirty="0"/>
          </a:p>
        </p:txBody>
      </p:sp>
      <p:sp>
        <p:nvSpPr>
          <p:cNvPr id="74" name="Text 72"/>
          <p:cNvSpPr/>
          <p:nvPr/>
        </p:nvSpPr>
        <p:spPr>
          <a:xfrm>
            <a:off x="5074920" y="202996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 package sent to the AI</a:t>
            </a:r>
            <a:endParaRPr lang="en-US" sz="950" dirty="0"/>
          </a:p>
        </p:txBody>
      </p:sp>
      <p:sp>
        <p:nvSpPr>
          <p:cNvPr id="75" name="Shape 73"/>
          <p:cNvSpPr/>
          <p:nvPr/>
        </p:nvSpPr>
        <p:spPr>
          <a:xfrm>
            <a:off x="5074920" y="2340864"/>
            <a:ext cx="3630168" cy="384048"/>
          </a:xfrm>
          <a:prstGeom prst="rect">
            <a:avLst/>
          </a:prstGeom>
          <a:solidFill>
            <a:srgbClr val="08112A"/>
          </a:solidFill>
          <a:ln w="6350">
            <a:solidFill>
              <a:srgbClr val="3DEFC4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Shape 74"/>
          <p:cNvSpPr/>
          <p:nvPr/>
        </p:nvSpPr>
        <p:spPr>
          <a:xfrm>
            <a:off x="5074920" y="2340864"/>
            <a:ext cx="54864" cy="384048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635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7" name="Text 75"/>
          <p:cNvSpPr/>
          <p:nvPr/>
        </p:nvSpPr>
        <p:spPr>
          <a:xfrm>
            <a:off x="5239512" y="2340864"/>
            <a:ext cx="34015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Rework increased from 3.2% to 7.4%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5074920" y="2798064"/>
            <a:ext cx="3630168" cy="384048"/>
          </a:xfrm>
          <a:prstGeom prst="rect">
            <a:avLst/>
          </a:prstGeom>
          <a:solidFill>
            <a:srgbClr val="08112A"/>
          </a:solidFill>
          <a:ln w="6350">
            <a:solidFill>
              <a:srgbClr val="3DEFC4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9" name="Shape 77"/>
          <p:cNvSpPr/>
          <p:nvPr/>
        </p:nvSpPr>
        <p:spPr>
          <a:xfrm>
            <a:off x="5074920" y="2798064"/>
            <a:ext cx="54864" cy="384048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635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0" name="Text 78"/>
          <p:cNvSpPr/>
          <p:nvPr/>
        </p:nvSpPr>
        <p:spPr>
          <a:xfrm>
            <a:off x="5239512" y="2798064"/>
            <a:ext cx="34015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Torque station alarms up by 38%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5074920" y="3255264"/>
            <a:ext cx="3630168" cy="384048"/>
          </a:xfrm>
          <a:prstGeom prst="rect">
            <a:avLst/>
          </a:prstGeom>
          <a:solidFill>
            <a:srgbClr val="08112A"/>
          </a:solidFill>
          <a:ln w="6350">
            <a:solidFill>
              <a:srgbClr val="3DEFC4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2" name="Shape 80"/>
          <p:cNvSpPr/>
          <p:nvPr/>
        </p:nvSpPr>
        <p:spPr>
          <a:xfrm>
            <a:off x="5074920" y="3255264"/>
            <a:ext cx="54864" cy="384048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635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3" name="Text 81"/>
          <p:cNvSpPr/>
          <p:nvPr/>
        </p:nvSpPr>
        <p:spPr>
          <a:xfrm>
            <a:off x="5239512" y="3255264"/>
            <a:ext cx="34015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Maintenance intervention occurred Tuesday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5074920" y="3712464"/>
            <a:ext cx="3630168" cy="384048"/>
          </a:xfrm>
          <a:prstGeom prst="rect">
            <a:avLst/>
          </a:prstGeom>
          <a:solidFill>
            <a:srgbClr val="08112A"/>
          </a:solidFill>
          <a:ln w="6350">
            <a:solidFill>
              <a:srgbClr val="3DEFC4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5" name="Shape 83"/>
          <p:cNvSpPr/>
          <p:nvPr/>
        </p:nvSpPr>
        <p:spPr>
          <a:xfrm>
            <a:off x="5074920" y="3712464"/>
            <a:ext cx="54864" cy="384048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635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6" name="Text 84"/>
          <p:cNvSpPr/>
          <p:nvPr/>
        </p:nvSpPr>
        <p:spPr>
          <a:xfrm>
            <a:off x="5239512" y="3712464"/>
            <a:ext cx="34015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Similar event recorded in March</a:t>
            </a:r>
            <a:endParaRPr lang="en-US" sz="1000" dirty="0"/>
          </a:p>
        </p:txBody>
      </p:sp>
      <p:sp>
        <p:nvSpPr>
          <p:cNvPr id="87" name="Text 85"/>
          <p:cNvSpPr/>
          <p:nvPr/>
        </p:nvSpPr>
        <p:spPr>
          <a:xfrm>
            <a:off x="5074920" y="4224528"/>
            <a:ext cx="363016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36E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 The AI receives only this filtered context — never the full production databases or customer data.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306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0" y="-1828800"/>
            <a:ext cx="5029200" cy="5029200"/>
          </a:xfrm>
          <a:prstGeom prst="ellipse">
            <a:avLst/>
          </a:prstGeom>
          <a:solidFill>
            <a:srgbClr val="0B1E4D">
              <a:alpha val="20000"/>
            </a:srgbClr>
          </a:solidFill>
          <a:ln w="12700">
            <a:solidFill>
              <a:srgbClr val="0B1E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20117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1143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889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-22860" y="1417320"/>
            <a:ext cx="91440" cy="91440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658" y="144383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-13716" y="3072384"/>
            <a:ext cx="73152" cy="73152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498" y="309359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955280" y="310896"/>
            <a:ext cx="502920" cy="0"/>
          </a:xfrm>
          <a:prstGeom prst="line">
            <a:avLst/>
          </a:prstGeom>
          <a:noFill/>
          <a:ln w="12700">
            <a:solidFill>
              <a:srgbClr val="3DEFC4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8458200" y="182880"/>
            <a:ext cx="338328" cy="274320"/>
          </a:xfrm>
          <a:prstGeom prst="line">
            <a:avLst/>
          </a:prstGeom>
          <a:noFill/>
          <a:ln w="12700">
            <a:solidFill>
              <a:srgbClr val="3DEFC4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955280" y="310896"/>
            <a:ext cx="274320" cy="219456"/>
          </a:xfrm>
          <a:prstGeom prst="line">
            <a:avLst/>
          </a:prstGeom>
          <a:noFill/>
          <a:ln w="12700">
            <a:solidFill>
              <a:srgbClr val="3DEFC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914132" y="269748"/>
            <a:ext cx="82296" cy="82296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937998" y="293614"/>
            <a:ext cx="34564" cy="3456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407908" y="132588"/>
            <a:ext cx="100584" cy="100584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437077" y="16175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759952" y="420624"/>
            <a:ext cx="73152" cy="73152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781166" y="44183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197596" y="498348"/>
            <a:ext cx="64008" cy="64008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216158" y="516910"/>
            <a:ext cx="26883" cy="26883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74320" y="82296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Value &amp; Report Accuracy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74320" y="420624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Quantified savings — and how AI reports stay trustworthy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0" y="4956048"/>
            <a:ext cx="9144000" cy="16459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274320" y="4974336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 ·  SilverTrust Consulting  ·  Confidential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8229600" y="497433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6/13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274320" y="841248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3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AI reports stay accurate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1152144"/>
            <a:ext cx="3840480" cy="457200"/>
          </a:xfrm>
          <a:prstGeom prst="rect">
            <a:avLst/>
          </a:prstGeom>
          <a:solidFill>
            <a:srgbClr val="0A1430"/>
          </a:solidFill>
          <a:ln w="10160">
            <a:solidFill>
              <a:srgbClr val="6B82B5">
                <a:alpha val="60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457200" y="1152144"/>
            <a:ext cx="54864" cy="457200"/>
          </a:xfrm>
          <a:prstGeom prst="rect">
            <a:avLst/>
          </a:prstGeom>
          <a:solidFill>
            <a:srgbClr val="6B82B5"/>
          </a:solidFill>
          <a:ln w="12700">
            <a:solidFill>
              <a:srgbClr val="6B82B5"/>
            </a:solidFill>
            <a:prstDash val="solid"/>
          </a:ln>
          <a:effectLst>
            <a:outerShdw blurRad="63500" dist="50800" dir="16200000" algn="bl" rotWithShape="0">
              <a:srgbClr val="6B82B5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658368" y="1325880"/>
            <a:ext cx="109728" cy="109728"/>
          </a:xfrm>
          <a:prstGeom prst="ellipse">
            <a:avLst/>
          </a:prstGeom>
          <a:solidFill>
            <a:srgbClr val="6B82B5"/>
          </a:solidFill>
          <a:ln w="6350">
            <a:solidFill>
              <a:srgbClr val="6B82B5"/>
            </a:solidFill>
            <a:prstDash val="solid"/>
          </a:ln>
          <a:effectLst>
            <a:outerShdw blurRad="139700" dist="50800" dir="16200000" algn="bl" rotWithShape="0">
              <a:srgbClr val="6B82B5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690189" y="1357701"/>
            <a:ext cx="46086" cy="46086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603504" y="124358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914400" y="1152144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Request QM Report</a:t>
            </a:r>
          </a:p>
        </p:txBody>
      </p:sp>
      <p:sp>
        <p:nvSpPr>
          <p:cNvPr id="34" name="Shape 32"/>
          <p:cNvSpPr/>
          <p:nvPr/>
        </p:nvSpPr>
        <p:spPr>
          <a:xfrm>
            <a:off x="740664" y="1609344"/>
            <a:ext cx="0" cy="109728"/>
          </a:xfrm>
          <a:prstGeom prst="line">
            <a:avLst/>
          </a:prstGeom>
          <a:noFill/>
          <a:ln w="12700">
            <a:solidFill>
              <a:srgbClr val="6B82B5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457200" y="1719072"/>
            <a:ext cx="3840480" cy="457200"/>
          </a:xfrm>
          <a:prstGeom prst="rect">
            <a:avLst/>
          </a:prstGeom>
          <a:solidFill>
            <a:srgbClr val="0A1430"/>
          </a:solidFill>
          <a:ln w="10160">
            <a:solidFill>
              <a:srgbClr val="36E0FF">
                <a:alpha val="60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457200" y="1719072"/>
            <a:ext cx="54864" cy="457200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63500" dist="50800" dir="16200000" algn="bl" rotWithShape="0">
              <a:srgbClr val="36E0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658368" y="1892808"/>
            <a:ext cx="109728" cy="109728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690189" y="1924629"/>
            <a:ext cx="46086" cy="46086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03504" y="181051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914400" y="1719072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Sources &amp; Evidence Collection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740664" y="2176272"/>
            <a:ext cx="0" cy="109728"/>
          </a:xfrm>
          <a:prstGeom prst="line">
            <a:avLst/>
          </a:prstGeom>
          <a:noFill/>
          <a:ln w="12700">
            <a:solidFill>
              <a:srgbClr val="36E0FF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457200" y="2286000"/>
            <a:ext cx="3840480" cy="457200"/>
          </a:xfrm>
          <a:prstGeom prst="rect">
            <a:avLst/>
          </a:prstGeom>
          <a:solidFill>
            <a:srgbClr val="0A1430"/>
          </a:solidFill>
          <a:ln w="10160">
            <a:solidFill>
              <a:srgbClr val="A78BFF">
                <a:alpha val="60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457200" y="2286000"/>
            <a:ext cx="54864" cy="457200"/>
          </a:xfrm>
          <a:prstGeom prst="rect">
            <a:avLst/>
          </a:prstGeom>
          <a:solidFill>
            <a:srgbClr val="A78BFF"/>
          </a:solidFill>
          <a:ln w="12700">
            <a:solidFill>
              <a:srgbClr val="A78BFF"/>
            </a:solidFill>
            <a:prstDash val="solid"/>
          </a:ln>
          <a:effectLst>
            <a:outerShdw blurRad="63500" dist="50800" dir="16200000" algn="bl" rotWithShape="0">
              <a:srgbClr val="A78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658368" y="2459736"/>
            <a:ext cx="109728" cy="109728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690189" y="2491557"/>
            <a:ext cx="46086" cy="46086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603504" y="23774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914400" y="22860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Draft Report 	</a:t>
            </a:r>
            <a:r>
              <a:rPr lang="en-US" sz="8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              </a:t>
            </a:r>
            <a:r>
              <a:rPr lang="en-US" sz="800" i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[predefined structure / analyzes data gaps]</a:t>
            </a:r>
            <a:endParaRPr lang="en-US" sz="1100" i="1" dirty="0"/>
          </a:p>
        </p:txBody>
      </p:sp>
      <p:sp>
        <p:nvSpPr>
          <p:cNvPr id="48" name="Shape 46"/>
          <p:cNvSpPr/>
          <p:nvPr/>
        </p:nvSpPr>
        <p:spPr>
          <a:xfrm>
            <a:off x="740664" y="2743200"/>
            <a:ext cx="0" cy="109728"/>
          </a:xfrm>
          <a:prstGeom prst="line">
            <a:avLst/>
          </a:prstGeom>
          <a:noFill/>
          <a:ln w="12700">
            <a:solidFill>
              <a:srgbClr val="A78BFF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457200" y="2852928"/>
            <a:ext cx="3840480" cy="457200"/>
          </a:xfrm>
          <a:prstGeom prst="rect">
            <a:avLst/>
          </a:prstGeom>
          <a:solidFill>
            <a:srgbClr val="0A1430"/>
          </a:solidFill>
          <a:ln w="10160">
            <a:solidFill>
              <a:srgbClr val="FF5FA8">
                <a:alpha val="60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457200" y="2852928"/>
            <a:ext cx="54864" cy="457200"/>
          </a:xfrm>
          <a:prstGeom prst="rect">
            <a:avLst/>
          </a:prstGeom>
          <a:solidFill>
            <a:srgbClr val="FF5FA8"/>
          </a:solidFill>
          <a:ln w="12700">
            <a:solidFill>
              <a:srgbClr val="FF5FA8"/>
            </a:solidFill>
            <a:prstDash val="solid"/>
          </a:ln>
          <a:effectLst>
            <a:outerShdw blurRad="63500" dist="50800" dir="16200000" algn="bl" rotWithShape="0">
              <a:srgbClr val="FF5FA8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658368" y="3026664"/>
            <a:ext cx="109728" cy="109728"/>
          </a:xfrm>
          <a:prstGeom prst="ellipse">
            <a:avLst/>
          </a:prstGeom>
          <a:solidFill>
            <a:srgbClr val="FF5FA8"/>
          </a:solidFill>
          <a:ln w="6350">
            <a:solidFill>
              <a:srgbClr val="FF5FA8"/>
            </a:solidFill>
            <a:prstDash val="solid"/>
          </a:ln>
          <a:effectLst>
            <a:outerShdw blurRad="1397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690189" y="3058485"/>
            <a:ext cx="46086" cy="46086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603504" y="294436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914400" y="2852928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Compliance Validation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740664" y="3310128"/>
            <a:ext cx="0" cy="109728"/>
          </a:xfrm>
          <a:prstGeom prst="line">
            <a:avLst/>
          </a:prstGeom>
          <a:noFill/>
          <a:ln w="12700">
            <a:solidFill>
              <a:srgbClr val="FF5FA8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457200" y="3419856"/>
            <a:ext cx="3840480" cy="457200"/>
          </a:xfrm>
          <a:prstGeom prst="rect">
            <a:avLst/>
          </a:prstGeom>
          <a:solidFill>
            <a:srgbClr val="0A1430"/>
          </a:solidFill>
          <a:ln w="10160">
            <a:solidFill>
              <a:srgbClr val="FFC23D">
                <a:alpha val="60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7" name="Shape 55"/>
          <p:cNvSpPr/>
          <p:nvPr/>
        </p:nvSpPr>
        <p:spPr>
          <a:xfrm>
            <a:off x="457200" y="3419856"/>
            <a:ext cx="54864" cy="457200"/>
          </a:xfrm>
          <a:prstGeom prst="rect">
            <a:avLst/>
          </a:prstGeom>
          <a:solidFill>
            <a:srgbClr val="FFC23D"/>
          </a:solidFill>
          <a:ln w="12700">
            <a:solidFill>
              <a:srgbClr val="FFC23D"/>
            </a:solidFill>
            <a:prstDash val="solid"/>
          </a:ln>
          <a:effectLst>
            <a:outerShdw blurRad="63500" dist="50800" dir="16200000" algn="bl" rotWithShape="0">
              <a:srgbClr val="FFC23D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658368" y="3593592"/>
            <a:ext cx="109728" cy="109728"/>
          </a:xfrm>
          <a:prstGeom prst="ellipse">
            <a:avLst/>
          </a:prstGeom>
          <a:solidFill>
            <a:srgbClr val="FFC23D"/>
          </a:solidFill>
          <a:ln w="6350">
            <a:solidFill>
              <a:srgbClr val="FFC23D"/>
            </a:solidFill>
            <a:prstDash val="solid"/>
          </a:ln>
          <a:effectLst>
            <a:outerShdw blurRad="139700" dist="50800" dir="16200000" algn="bl" rotWithShape="0">
              <a:srgbClr val="FFC23D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690189" y="3625413"/>
            <a:ext cx="46086" cy="46086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Text 58"/>
          <p:cNvSpPr/>
          <p:nvPr/>
        </p:nvSpPr>
        <p:spPr>
          <a:xfrm>
            <a:off x="603504" y="351129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914400" y="3419856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Review             </a:t>
            </a:r>
            <a:r>
              <a:rPr lang="en-US" sz="800" i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[Review content and add missing context]</a:t>
            </a:r>
            <a:endParaRPr lang="en-US" sz="1100" i="1" dirty="0"/>
          </a:p>
        </p:txBody>
      </p:sp>
      <p:sp>
        <p:nvSpPr>
          <p:cNvPr id="62" name="Shape 60"/>
          <p:cNvSpPr/>
          <p:nvPr/>
        </p:nvSpPr>
        <p:spPr>
          <a:xfrm>
            <a:off x="740664" y="3877056"/>
            <a:ext cx="0" cy="109728"/>
          </a:xfrm>
          <a:prstGeom prst="line">
            <a:avLst/>
          </a:prstGeom>
          <a:noFill/>
          <a:ln w="12700">
            <a:solidFill>
              <a:srgbClr val="FFC23D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61"/>
          <p:cNvSpPr/>
          <p:nvPr/>
        </p:nvSpPr>
        <p:spPr>
          <a:xfrm>
            <a:off x="457200" y="3986784"/>
            <a:ext cx="3840480" cy="457200"/>
          </a:xfrm>
          <a:prstGeom prst="rect">
            <a:avLst/>
          </a:prstGeom>
          <a:solidFill>
            <a:srgbClr val="0A1430"/>
          </a:solidFill>
          <a:ln w="20320">
            <a:solidFill>
              <a:srgbClr val="3DEFC4"/>
            </a:solidFill>
            <a:prstDash val="solid"/>
          </a:ln>
          <a:effectLst>
            <a:outerShdw blurRad="127000" dist="50800" dir="16200000" algn="bl" rotWithShape="0">
              <a:srgbClr val="3DEFC4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4" name="Shape 62"/>
          <p:cNvSpPr/>
          <p:nvPr/>
        </p:nvSpPr>
        <p:spPr>
          <a:xfrm>
            <a:off x="457200" y="3986784"/>
            <a:ext cx="54864" cy="457200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635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658368" y="4160520"/>
            <a:ext cx="109728" cy="109728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6" name="Shape 64"/>
          <p:cNvSpPr/>
          <p:nvPr/>
        </p:nvSpPr>
        <p:spPr>
          <a:xfrm>
            <a:off x="690189" y="4192341"/>
            <a:ext cx="46086" cy="46086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65"/>
          <p:cNvSpPr/>
          <p:nvPr/>
        </p:nvSpPr>
        <p:spPr>
          <a:xfrm>
            <a:off x="603504" y="407822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914400" y="3986784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DEF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Final Report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457200" y="4626864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3DEF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first  ·  No unsupported assumptions  ·  Human approval required  ·  Full traceability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4663440" y="841248"/>
            <a:ext cx="4224528" cy="1298448"/>
          </a:xfrm>
          <a:prstGeom prst="rect">
            <a:avLst/>
          </a:prstGeom>
          <a:solidFill>
            <a:srgbClr val="0A1430"/>
          </a:solidFill>
          <a:ln w="12700">
            <a:solidFill>
              <a:srgbClr val="3DEFC4">
                <a:alpha val="70000"/>
              </a:srgbClr>
            </a:solidFill>
            <a:prstDash val="solid"/>
          </a:ln>
          <a:effectLst>
            <a:outerShdw blurRad="127000" dist="50800" dir="16200000" algn="bl" rotWithShape="0">
              <a:srgbClr val="3DEFC4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1" name="Shape 69"/>
          <p:cNvSpPr/>
          <p:nvPr/>
        </p:nvSpPr>
        <p:spPr>
          <a:xfrm>
            <a:off x="4663440" y="841248"/>
            <a:ext cx="4224528" cy="45720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762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2" name="Text 70"/>
          <p:cNvSpPr/>
          <p:nvPr/>
        </p:nvSpPr>
        <p:spPr>
          <a:xfrm>
            <a:off x="4846320" y="950976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ISO / audit report preparation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4846320" y="1091518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5FA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~4 weeks</a:t>
            </a:r>
            <a:r>
              <a:rPr lang="en-US" sz="20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 →   </a:t>
            </a:r>
            <a:r>
              <a:rPr lang="en-US" sz="2400" b="1" dirty="0">
                <a:solidFill>
                  <a:srgbClr val="3DEF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3–4 days</a:t>
            </a:r>
            <a:endParaRPr lang="en-US" sz="2400" dirty="0"/>
          </a:p>
        </p:txBody>
      </p:sp>
      <p:sp>
        <p:nvSpPr>
          <p:cNvPr id="74" name="Text 72"/>
          <p:cNvSpPr/>
          <p:nvPr/>
        </p:nvSpPr>
        <p:spPr>
          <a:xfrm>
            <a:off x="4846320" y="1615327"/>
            <a:ext cx="39319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Ingrid's recurring reporting effort, today vs. with the platform</a:t>
            </a:r>
          </a:p>
          <a:p>
            <a:pPr marL="0" indent="0">
              <a:buNone/>
            </a:pPr>
            <a:endParaRPr lang="en-US" sz="850" i="1" dirty="0">
              <a:solidFill>
                <a:srgbClr val="9DBEF0"/>
              </a:solidFill>
              <a:latin typeface="Aptos" pitchFamily="34" charset="0"/>
            </a:endParaRPr>
          </a:p>
          <a:p>
            <a:pPr marL="0" indent="0">
              <a:buNone/>
            </a:pPr>
            <a:r>
              <a:rPr lang="en-US" sz="850" i="1" dirty="0">
                <a:solidFill>
                  <a:srgbClr val="9DBEF0"/>
                </a:solidFill>
                <a:latin typeface="Aptos" pitchFamily="34" charset="0"/>
              </a:rPr>
              <a:t>80% average reduction in time for complex report, up to 92% reduction in ad-hoc responses</a:t>
            </a:r>
            <a:endParaRPr lang="en-US" sz="850" dirty="0"/>
          </a:p>
        </p:txBody>
      </p:sp>
      <p:sp>
        <p:nvSpPr>
          <p:cNvPr id="75" name="Text 73"/>
          <p:cNvSpPr/>
          <p:nvPr/>
        </p:nvSpPr>
        <p:spPr>
          <a:xfrm>
            <a:off x="4663440" y="2286000"/>
            <a:ext cx="42245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FURTHER IMPACT  ·  estimated, to be validated</a:t>
            </a:r>
            <a:endParaRPr lang="en-US" sz="750" dirty="0"/>
          </a:p>
        </p:txBody>
      </p:sp>
      <p:sp>
        <p:nvSpPr>
          <p:cNvPr id="76" name="Shape 74"/>
          <p:cNvSpPr/>
          <p:nvPr/>
        </p:nvSpPr>
        <p:spPr>
          <a:xfrm>
            <a:off x="4663440" y="2542032"/>
            <a:ext cx="4224528" cy="658368"/>
          </a:xfrm>
          <a:prstGeom prst="rect">
            <a:avLst/>
          </a:prstGeom>
          <a:solidFill>
            <a:srgbClr val="0A1430"/>
          </a:solidFill>
          <a:ln w="10160">
            <a:solidFill>
              <a:srgbClr val="36E0FF">
                <a:alpha val="50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7" name="Shape 75"/>
          <p:cNvSpPr/>
          <p:nvPr/>
        </p:nvSpPr>
        <p:spPr>
          <a:xfrm>
            <a:off x="4663440" y="2542032"/>
            <a:ext cx="54864" cy="658368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63500" dist="50800" dir="16200000" algn="bl" rotWithShape="0">
              <a:srgbClr val="36E0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8" name="Text 76"/>
          <p:cNvSpPr/>
          <p:nvPr/>
        </p:nvSpPr>
        <p:spPr>
          <a:xfrm>
            <a:off x="4828032" y="261518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Root cause investigations</a:t>
            </a:r>
            <a:endParaRPr lang="en-US" sz="1150" dirty="0"/>
          </a:p>
        </p:txBody>
      </p:sp>
      <p:sp>
        <p:nvSpPr>
          <p:cNvPr id="79" name="Text 77"/>
          <p:cNvSpPr/>
          <p:nvPr/>
        </p:nvSpPr>
        <p:spPr>
          <a:xfrm>
            <a:off x="4828032" y="2889504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Faster analysis through guided evidence retrieval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7882128" y="2633472"/>
            <a:ext cx="896112" cy="219456"/>
          </a:xfrm>
          <a:prstGeom prst="rect">
            <a:avLst/>
          </a:prstGeom>
          <a:solidFill>
            <a:srgbClr val="36E0FF">
              <a:alpha val="22000"/>
            </a:srgbClr>
          </a:solidFill>
          <a:ln w="6350">
            <a:solidFill>
              <a:srgbClr val="36E0FF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Text 79"/>
          <p:cNvSpPr/>
          <p:nvPr/>
        </p:nvSpPr>
        <p:spPr>
          <a:xfrm>
            <a:off x="7882128" y="2633472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b="1" kern="0" spc="50" dirty="0">
                <a:solidFill>
                  <a:srgbClr val="36E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ASSUMPTION</a:t>
            </a:r>
            <a:endParaRPr lang="en-US" sz="600" dirty="0"/>
          </a:p>
        </p:txBody>
      </p:sp>
      <p:sp>
        <p:nvSpPr>
          <p:cNvPr id="82" name="Shape 80"/>
          <p:cNvSpPr/>
          <p:nvPr/>
        </p:nvSpPr>
        <p:spPr>
          <a:xfrm>
            <a:off x="4663440" y="3291840"/>
            <a:ext cx="4224528" cy="658368"/>
          </a:xfrm>
          <a:prstGeom prst="rect">
            <a:avLst/>
          </a:prstGeom>
          <a:solidFill>
            <a:srgbClr val="0A1430"/>
          </a:solidFill>
          <a:ln w="10160">
            <a:solidFill>
              <a:srgbClr val="FFC23D">
                <a:alpha val="50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3" name="Shape 81"/>
          <p:cNvSpPr/>
          <p:nvPr/>
        </p:nvSpPr>
        <p:spPr>
          <a:xfrm>
            <a:off x="4663440" y="3291840"/>
            <a:ext cx="54864" cy="658368"/>
          </a:xfrm>
          <a:prstGeom prst="rect">
            <a:avLst/>
          </a:prstGeom>
          <a:solidFill>
            <a:srgbClr val="FFC23D"/>
          </a:solidFill>
          <a:ln w="12700">
            <a:solidFill>
              <a:srgbClr val="FFC23D"/>
            </a:solidFill>
            <a:prstDash val="solid"/>
          </a:ln>
          <a:effectLst>
            <a:outerShdw blurRad="63500" dist="50800" dir="16200000" algn="bl" rotWithShape="0">
              <a:srgbClr val="FFC23D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4" name="Text 82"/>
          <p:cNvSpPr/>
          <p:nvPr/>
        </p:nvSpPr>
        <p:spPr>
          <a:xfrm>
            <a:off x="4828032" y="336499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Reduced downtime</a:t>
            </a:r>
            <a:endParaRPr lang="en-US" sz="1150" dirty="0"/>
          </a:p>
        </p:txBody>
      </p:sp>
      <p:sp>
        <p:nvSpPr>
          <p:cNvPr id="85" name="Text 83"/>
          <p:cNvSpPr/>
          <p:nvPr/>
        </p:nvSpPr>
        <p:spPr>
          <a:xfrm>
            <a:off x="4828032" y="363931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Earlier reaction via proactive monitoring &amp; alerts</a:t>
            </a:r>
            <a:endParaRPr lang="en-US" sz="900" dirty="0"/>
          </a:p>
        </p:txBody>
      </p:sp>
      <p:sp>
        <p:nvSpPr>
          <p:cNvPr id="86" name="Shape 84"/>
          <p:cNvSpPr/>
          <p:nvPr/>
        </p:nvSpPr>
        <p:spPr>
          <a:xfrm>
            <a:off x="7882128" y="3383280"/>
            <a:ext cx="896112" cy="219456"/>
          </a:xfrm>
          <a:prstGeom prst="rect">
            <a:avLst/>
          </a:prstGeom>
          <a:solidFill>
            <a:srgbClr val="FFC23D">
              <a:alpha val="22000"/>
            </a:srgbClr>
          </a:solidFill>
          <a:ln w="6350">
            <a:solidFill>
              <a:srgbClr val="FFC23D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7" name="Text 85"/>
          <p:cNvSpPr/>
          <p:nvPr/>
        </p:nvSpPr>
        <p:spPr>
          <a:xfrm>
            <a:off x="7882128" y="3383280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b="1" kern="0" spc="50" dirty="0">
                <a:solidFill>
                  <a:srgbClr val="FFC2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ASSUMPTION</a:t>
            </a:r>
            <a:endParaRPr lang="en-US" sz="600" dirty="0"/>
          </a:p>
        </p:txBody>
      </p:sp>
      <p:sp>
        <p:nvSpPr>
          <p:cNvPr id="88" name="Shape 86"/>
          <p:cNvSpPr/>
          <p:nvPr/>
        </p:nvSpPr>
        <p:spPr>
          <a:xfrm>
            <a:off x="4663440" y="4041648"/>
            <a:ext cx="4224528" cy="658368"/>
          </a:xfrm>
          <a:prstGeom prst="rect">
            <a:avLst/>
          </a:prstGeom>
          <a:solidFill>
            <a:srgbClr val="0A1430"/>
          </a:solidFill>
          <a:ln w="10160">
            <a:solidFill>
              <a:srgbClr val="A78BFF">
                <a:alpha val="50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9" name="Shape 87"/>
          <p:cNvSpPr/>
          <p:nvPr/>
        </p:nvSpPr>
        <p:spPr>
          <a:xfrm>
            <a:off x="4663440" y="4041648"/>
            <a:ext cx="54864" cy="658368"/>
          </a:xfrm>
          <a:prstGeom prst="rect">
            <a:avLst/>
          </a:prstGeom>
          <a:solidFill>
            <a:srgbClr val="A78BFF"/>
          </a:solidFill>
          <a:ln w="12700">
            <a:solidFill>
              <a:srgbClr val="A78BFF"/>
            </a:solidFill>
            <a:prstDash val="solid"/>
          </a:ln>
          <a:effectLst>
            <a:outerShdw blurRad="63500" dist="50800" dir="16200000" algn="bl" rotWithShape="0">
              <a:srgbClr val="A78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0" name="Text 88"/>
          <p:cNvSpPr/>
          <p:nvPr/>
        </p:nvSpPr>
        <p:spPr>
          <a:xfrm>
            <a:off x="4828032" y="4114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Sustained quality</a:t>
            </a:r>
            <a:endParaRPr lang="en-US" sz="1150" dirty="0"/>
          </a:p>
        </p:txBody>
      </p:sp>
      <p:sp>
        <p:nvSpPr>
          <p:cNvPr id="91" name="Text 89"/>
          <p:cNvSpPr/>
          <p:nvPr/>
        </p:nvSpPr>
        <p:spPr>
          <a:xfrm>
            <a:off x="4828032" y="4389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Pattern recognition fixes root causes for good</a:t>
            </a:r>
            <a:endParaRPr lang="en-US" sz="900" dirty="0"/>
          </a:p>
        </p:txBody>
      </p:sp>
      <p:sp>
        <p:nvSpPr>
          <p:cNvPr id="92" name="Shape 90"/>
          <p:cNvSpPr/>
          <p:nvPr/>
        </p:nvSpPr>
        <p:spPr>
          <a:xfrm>
            <a:off x="7882128" y="4133088"/>
            <a:ext cx="896112" cy="219456"/>
          </a:xfrm>
          <a:prstGeom prst="rect">
            <a:avLst/>
          </a:prstGeom>
          <a:solidFill>
            <a:srgbClr val="A78BFF">
              <a:alpha val="22000"/>
            </a:srgbClr>
          </a:solidFill>
          <a:ln w="6350">
            <a:solidFill>
              <a:srgbClr val="A78BFF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3" name="Text 91"/>
          <p:cNvSpPr/>
          <p:nvPr/>
        </p:nvSpPr>
        <p:spPr>
          <a:xfrm>
            <a:off x="7882128" y="4133088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b="1" kern="0" spc="50" dirty="0">
                <a:solidFill>
                  <a:srgbClr val="A78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ASSUMPTION</a:t>
            </a:r>
            <a:endParaRPr lang="en-US" sz="600" dirty="0"/>
          </a:p>
        </p:txBody>
      </p:sp>
      <p:cxnSp>
        <p:nvCxnSpPr>
          <p:cNvPr id="99" name="Verbinder: gewinkelt 98">
            <a:extLst>
              <a:ext uri="{FF2B5EF4-FFF2-40B4-BE49-F238E27FC236}">
                <a16:creationId xmlns:a16="http://schemas.microsoft.com/office/drawing/2014/main" id="{96B1E413-0C63-8053-A546-F31FFD07FFBB}"/>
              </a:ext>
            </a:extLst>
          </p:cNvPr>
          <p:cNvCxnSpPr>
            <a:stCxn id="56" idx="3"/>
            <a:endCxn id="42" idx="3"/>
          </p:cNvCxnSpPr>
          <p:nvPr/>
        </p:nvCxnSpPr>
        <p:spPr>
          <a:xfrm flipV="1">
            <a:off x="4297680" y="2514600"/>
            <a:ext cx="12700" cy="1133856"/>
          </a:xfrm>
          <a:prstGeom prst="bentConnector3">
            <a:avLst>
              <a:gd name="adj1" fmla="val 990000"/>
            </a:avLst>
          </a:prstGeom>
          <a:noFill/>
          <a:ln w="12700">
            <a:solidFill>
              <a:srgbClr val="FFC23D">
                <a:alpha val="65000"/>
              </a:srgbClr>
            </a:solidFill>
            <a:prstDash val="solid"/>
          </a:ln>
        </p:spPr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306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0" y="-1828800"/>
            <a:ext cx="5029200" cy="5029200"/>
          </a:xfrm>
          <a:prstGeom prst="ellipse">
            <a:avLst/>
          </a:prstGeom>
          <a:solidFill>
            <a:srgbClr val="0B1E4D">
              <a:alpha val="20000"/>
            </a:srgbClr>
          </a:solidFill>
          <a:ln w="12700">
            <a:solidFill>
              <a:srgbClr val="0B1E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20117"/>
          </a:xfrm>
          <a:prstGeom prst="rect">
            <a:avLst/>
          </a:prstGeom>
          <a:solidFill>
            <a:srgbClr val="5B9BFF"/>
          </a:solidFill>
          <a:ln w="12700">
            <a:solidFill>
              <a:srgbClr val="5B9BFF"/>
            </a:solidFill>
            <a:prstDash val="solid"/>
          </a:ln>
          <a:effectLst>
            <a:outerShdw blurRad="1143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5B9BFF"/>
          </a:solidFill>
          <a:ln w="12700">
            <a:solidFill>
              <a:srgbClr val="5B9BFF"/>
            </a:solidFill>
            <a:prstDash val="solid"/>
          </a:ln>
          <a:effectLst>
            <a:outerShdw blurRad="88900" dist="50800" dir="16200000" algn="bl" rotWithShape="0">
              <a:srgbClr val="5B9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955280" y="310896"/>
            <a:ext cx="502920" cy="0"/>
          </a:xfrm>
          <a:prstGeom prst="line">
            <a:avLst/>
          </a:prstGeom>
          <a:noFill/>
          <a:ln w="12700">
            <a:solidFill>
              <a:srgbClr val="5B9BFF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8458200" y="182880"/>
            <a:ext cx="338328" cy="274320"/>
          </a:xfrm>
          <a:prstGeom prst="line">
            <a:avLst/>
          </a:prstGeom>
          <a:noFill/>
          <a:ln w="12700">
            <a:solidFill>
              <a:srgbClr val="5B9BFF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955280" y="310896"/>
            <a:ext cx="274320" cy="219456"/>
          </a:xfrm>
          <a:prstGeom prst="line">
            <a:avLst/>
          </a:prstGeom>
          <a:noFill/>
          <a:ln w="12700">
            <a:solidFill>
              <a:srgbClr val="5B9BFF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914132" y="269748"/>
            <a:ext cx="82296" cy="82296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937998" y="293614"/>
            <a:ext cx="34564" cy="3456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8407908" y="132588"/>
            <a:ext cx="100584" cy="100584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8437077" y="16175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8759952" y="420624"/>
            <a:ext cx="73152" cy="73152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8781166" y="44183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197596" y="498348"/>
            <a:ext cx="64008" cy="64008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216158" y="516910"/>
            <a:ext cx="26883" cy="26883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274320" y="82296"/>
            <a:ext cx="6400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Solution Architecture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274320" y="429768"/>
            <a:ext cx="6400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On-premise  ·  GDPR-compliant  ·  AI Act Minimal Risk  ·  AI never sees raw data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0" y="4956048"/>
            <a:ext cx="9144000" cy="16459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74320" y="4974336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 ·  SilverTrust Consulting  ·  Confidential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8229600" y="497433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4/13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6510528" y="731520"/>
            <a:ext cx="16459" cy="4187952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146304" y="841248"/>
            <a:ext cx="676656" cy="201168"/>
          </a:xfrm>
          <a:prstGeom prst="rect">
            <a:avLst/>
          </a:prstGeom>
          <a:solidFill>
            <a:srgbClr val="36E0FF">
              <a:alpha val="20000"/>
            </a:srgbClr>
          </a:solidFill>
          <a:ln w="6350">
            <a:solidFill>
              <a:srgbClr val="36E0FF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46304" y="841248"/>
            <a:ext cx="676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50" b="1" kern="0" spc="100" dirty="0">
                <a:solidFill>
                  <a:srgbClr val="36E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CONSUME</a:t>
            </a:r>
            <a:endParaRPr lang="en-US" sz="550" dirty="0"/>
          </a:p>
        </p:txBody>
      </p:sp>
      <p:sp>
        <p:nvSpPr>
          <p:cNvPr id="26" name="Shape 24"/>
          <p:cNvSpPr/>
          <p:nvPr/>
        </p:nvSpPr>
        <p:spPr>
          <a:xfrm>
            <a:off x="146304" y="1828800"/>
            <a:ext cx="676656" cy="180357"/>
          </a:xfrm>
          <a:prstGeom prst="rect">
            <a:avLst/>
          </a:prstGeom>
          <a:solidFill>
            <a:srgbClr val="3DEFC4">
              <a:alpha val="20000"/>
            </a:srgbClr>
          </a:solidFill>
          <a:ln w="6350">
            <a:solidFill>
              <a:srgbClr val="3DEFC4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146304" y="1828800"/>
            <a:ext cx="676656" cy="1803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50" b="1" kern="0" spc="100" dirty="0">
                <a:solidFill>
                  <a:srgbClr val="3DEF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AGENTS</a:t>
            </a:r>
            <a:endParaRPr lang="en-US" sz="550" dirty="0"/>
          </a:p>
        </p:txBody>
      </p:sp>
      <p:sp>
        <p:nvSpPr>
          <p:cNvPr id="28" name="Shape 26"/>
          <p:cNvSpPr/>
          <p:nvPr/>
        </p:nvSpPr>
        <p:spPr>
          <a:xfrm>
            <a:off x="146304" y="2980944"/>
            <a:ext cx="676656" cy="201168"/>
          </a:xfrm>
          <a:prstGeom prst="rect">
            <a:avLst/>
          </a:prstGeom>
          <a:solidFill>
            <a:srgbClr val="5B9BFF">
              <a:alpha val="20000"/>
            </a:srgbClr>
          </a:solidFill>
          <a:ln w="6350">
            <a:solidFill>
              <a:srgbClr val="5B9BFF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146304" y="2980944"/>
            <a:ext cx="676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50" b="1" kern="0" spc="100" dirty="0">
                <a:solidFill>
                  <a:srgbClr val="5B9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PROCESS</a:t>
            </a:r>
            <a:endParaRPr lang="en-US" sz="550" dirty="0"/>
          </a:p>
        </p:txBody>
      </p:sp>
      <p:sp>
        <p:nvSpPr>
          <p:cNvPr id="30" name="Shape 28"/>
          <p:cNvSpPr/>
          <p:nvPr/>
        </p:nvSpPr>
        <p:spPr>
          <a:xfrm>
            <a:off x="146304" y="3968496"/>
            <a:ext cx="676656" cy="201168"/>
          </a:xfrm>
          <a:prstGeom prst="rect">
            <a:avLst/>
          </a:prstGeom>
          <a:solidFill>
            <a:srgbClr val="6B82B5">
              <a:alpha val="20000"/>
            </a:srgbClr>
          </a:solidFill>
          <a:ln w="6350">
            <a:solidFill>
              <a:srgbClr val="6B82B5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146304" y="3968496"/>
            <a:ext cx="676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50" b="1" kern="0" spc="10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</a:t>
            </a:r>
            <a:endParaRPr lang="en-US" sz="550" dirty="0"/>
          </a:p>
        </p:txBody>
      </p:sp>
      <p:sp>
        <p:nvSpPr>
          <p:cNvPr id="32" name="Shape 30"/>
          <p:cNvSpPr/>
          <p:nvPr/>
        </p:nvSpPr>
        <p:spPr>
          <a:xfrm>
            <a:off x="932688" y="822960"/>
            <a:ext cx="1627632" cy="841248"/>
          </a:xfrm>
          <a:prstGeom prst="rect">
            <a:avLst/>
          </a:prstGeom>
          <a:solidFill>
            <a:srgbClr val="0A1430"/>
          </a:solidFill>
          <a:ln w="12700">
            <a:solidFill>
              <a:srgbClr val="36E0FF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932688" y="822960"/>
            <a:ext cx="1627632" cy="45720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76200" dist="50800" dir="16200000" algn="bl" rotWithShape="0">
              <a:srgbClr val="36E0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987552" y="877824"/>
            <a:ext cx="151790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Manufacturing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Dashboard / </a:t>
            </a:r>
          </a:p>
          <a:p>
            <a:pPr marL="0" indent="0" algn="ctr">
              <a:buNone/>
            </a:pPr>
            <a:r>
              <a:rPr lang="en-US" sz="1000" b="1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Monitoring Alerts</a:t>
            </a:r>
          </a:p>
        </p:txBody>
      </p:sp>
      <p:sp>
        <p:nvSpPr>
          <p:cNvPr id="35" name="Shape 33"/>
          <p:cNvSpPr/>
          <p:nvPr/>
        </p:nvSpPr>
        <p:spPr>
          <a:xfrm>
            <a:off x="1746504" y="1792224"/>
            <a:ext cx="0" cy="0"/>
          </a:xfrm>
          <a:prstGeom prst="line">
            <a:avLst/>
          </a:prstGeom>
          <a:noFill/>
          <a:ln w="12700">
            <a:solidFill>
              <a:srgbClr val="36E0FF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2743200" y="822960"/>
            <a:ext cx="1627632" cy="841248"/>
          </a:xfrm>
          <a:prstGeom prst="rect">
            <a:avLst/>
          </a:prstGeom>
          <a:solidFill>
            <a:srgbClr val="0A1430"/>
          </a:solidFill>
          <a:ln w="12700">
            <a:solidFill>
              <a:srgbClr val="3DEFC4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2743200" y="822960"/>
            <a:ext cx="1627632" cy="45720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762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2798064" y="877824"/>
            <a:ext cx="151790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Quality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557016" y="1792224"/>
            <a:ext cx="0" cy="0"/>
          </a:xfrm>
          <a:prstGeom prst="line">
            <a:avLst/>
          </a:prstGeom>
          <a:noFill/>
          <a:ln w="12700">
            <a:solidFill>
              <a:srgbClr val="3DEFC4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4553712" y="822960"/>
            <a:ext cx="1627632" cy="841248"/>
          </a:xfrm>
          <a:prstGeom prst="rect">
            <a:avLst/>
          </a:prstGeom>
          <a:solidFill>
            <a:srgbClr val="0A1430"/>
          </a:solidFill>
          <a:ln w="12700">
            <a:solidFill>
              <a:srgbClr val="A78BFF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4553712" y="822960"/>
            <a:ext cx="1627632" cy="45720"/>
          </a:xfrm>
          <a:prstGeom prst="rect">
            <a:avLst/>
          </a:prstGeom>
          <a:solidFill>
            <a:srgbClr val="A78BFF"/>
          </a:solidFill>
          <a:ln w="12700">
            <a:solidFill>
              <a:srgbClr val="A78BFF"/>
            </a:solidFill>
            <a:prstDash val="solid"/>
          </a:ln>
          <a:effectLst>
            <a:outerShdw blurRad="76200" dist="50800" dir="16200000" algn="bl" rotWithShape="0">
              <a:srgbClr val="A78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4608576" y="877824"/>
            <a:ext cx="151790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KPI &amp; Reports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367528" y="1792224"/>
            <a:ext cx="0" cy="0"/>
          </a:xfrm>
          <a:prstGeom prst="line">
            <a:avLst/>
          </a:prstGeom>
          <a:noFill/>
          <a:ln w="12700">
            <a:solidFill>
              <a:srgbClr val="A78BFF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914400" y="1810512"/>
            <a:ext cx="5394960" cy="950975"/>
          </a:xfrm>
          <a:prstGeom prst="rect">
            <a:avLst/>
          </a:prstGeom>
          <a:solidFill>
            <a:srgbClr val="08112A"/>
          </a:solidFill>
          <a:ln w="6350">
            <a:solidFill>
              <a:srgbClr val="3DEFC4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987552" y="1883664"/>
            <a:ext cx="1225296" cy="819806"/>
          </a:xfrm>
          <a:prstGeom prst="rect">
            <a:avLst/>
          </a:prstGeom>
          <a:solidFill>
            <a:srgbClr val="0A1430"/>
          </a:solidFill>
          <a:ln w="12700">
            <a:solidFill>
              <a:srgbClr val="3DEFC4">
                <a:alpha val="70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987552" y="1883664"/>
            <a:ext cx="1225296" cy="45719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762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1554480" y="2093976"/>
            <a:ext cx="91440" cy="81981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1580998" y="2120494"/>
            <a:ext cx="38405" cy="45719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1024128" y="2212848"/>
            <a:ext cx="1152144" cy="2459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Knowledge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1024128" y="2487168"/>
            <a:ext cx="1152144" cy="2459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3DEF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Operational know-how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2322576" y="1883664"/>
            <a:ext cx="1225296" cy="819806"/>
          </a:xfrm>
          <a:prstGeom prst="rect">
            <a:avLst/>
          </a:prstGeom>
          <a:solidFill>
            <a:srgbClr val="0A1430"/>
          </a:solidFill>
          <a:ln w="12700">
            <a:solidFill>
              <a:srgbClr val="36E0FF">
                <a:alpha val="70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2322576" y="1883664"/>
            <a:ext cx="1225296" cy="45719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76200" dist="50800" dir="16200000" algn="bl" rotWithShape="0">
              <a:srgbClr val="36E0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2889504" y="2093976"/>
            <a:ext cx="91440" cy="81981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2916022" y="2120494"/>
            <a:ext cx="38405" cy="45719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2359152" y="2212848"/>
            <a:ext cx="1152144" cy="2459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Investigation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2359152" y="2487168"/>
            <a:ext cx="1152144" cy="2459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36E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Root cause analysis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3657600" y="1883664"/>
            <a:ext cx="1225296" cy="819806"/>
          </a:xfrm>
          <a:prstGeom prst="rect">
            <a:avLst/>
          </a:prstGeom>
          <a:solidFill>
            <a:srgbClr val="0A1430"/>
          </a:solidFill>
          <a:ln w="12700">
            <a:solidFill>
              <a:srgbClr val="A78BFF">
                <a:alpha val="70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3657600" y="1883664"/>
            <a:ext cx="1225296" cy="45719"/>
          </a:xfrm>
          <a:prstGeom prst="rect">
            <a:avLst/>
          </a:prstGeom>
          <a:solidFill>
            <a:srgbClr val="A78BFF"/>
          </a:solidFill>
          <a:ln w="12700">
            <a:solidFill>
              <a:srgbClr val="A78BFF"/>
            </a:solidFill>
            <a:prstDash val="solid"/>
          </a:ln>
          <a:effectLst>
            <a:outerShdw blurRad="76200" dist="50800" dir="16200000" algn="bl" rotWithShape="0">
              <a:srgbClr val="A78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4224528" y="2093976"/>
            <a:ext cx="91440" cy="81981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4251046" y="2120494"/>
            <a:ext cx="38405" cy="45719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3694176" y="2212848"/>
            <a:ext cx="1152144" cy="2459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Reporting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3694176" y="2420112"/>
            <a:ext cx="1152144" cy="300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A78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Manufacturing  / audit reports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4992624" y="1883664"/>
            <a:ext cx="1225296" cy="819806"/>
          </a:xfrm>
          <a:prstGeom prst="rect">
            <a:avLst/>
          </a:prstGeom>
          <a:solidFill>
            <a:srgbClr val="0A1430"/>
          </a:solidFill>
          <a:ln w="12700">
            <a:solidFill>
              <a:srgbClr val="FFC23D">
                <a:alpha val="70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4" name="Shape 62"/>
          <p:cNvSpPr/>
          <p:nvPr/>
        </p:nvSpPr>
        <p:spPr>
          <a:xfrm>
            <a:off x="4992624" y="1883664"/>
            <a:ext cx="1225296" cy="45719"/>
          </a:xfrm>
          <a:prstGeom prst="rect">
            <a:avLst/>
          </a:prstGeom>
          <a:solidFill>
            <a:srgbClr val="FFC23D"/>
          </a:solidFill>
          <a:ln w="12700">
            <a:solidFill>
              <a:srgbClr val="FFC23D"/>
            </a:solidFill>
            <a:prstDash val="solid"/>
          </a:ln>
          <a:effectLst>
            <a:outerShdw blurRad="76200" dist="50800" dir="16200000" algn="bl" rotWithShape="0">
              <a:srgbClr val="FFC23D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5559552" y="2093976"/>
            <a:ext cx="91440" cy="81981"/>
          </a:xfrm>
          <a:prstGeom prst="ellipse">
            <a:avLst/>
          </a:prstGeom>
          <a:solidFill>
            <a:srgbClr val="FFC23D"/>
          </a:solidFill>
          <a:ln w="6350">
            <a:solidFill>
              <a:srgbClr val="FFC23D"/>
            </a:solidFill>
            <a:prstDash val="solid"/>
          </a:ln>
          <a:effectLst>
            <a:outerShdw blurRad="139700" dist="50800" dir="16200000" algn="bl" rotWithShape="0">
              <a:srgbClr val="FFC23D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6" name="Shape 64"/>
          <p:cNvSpPr/>
          <p:nvPr/>
        </p:nvSpPr>
        <p:spPr>
          <a:xfrm>
            <a:off x="5586070" y="2120494"/>
            <a:ext cx="38405" cy="45719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65"/>
          <p:cNvSpPr/>
          <p:nvPr/>
        </p:nvSpPr>
        <p:spPr>
          <a:xfrm>
            <a:off x="5029200" y="2212848"/>
            <a:ext cx="1152144" cy="2459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Monitoring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5029200" y="2487168"/>
            <a:ext cx="1152144" cy="2459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FFC2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Early warning · alerts</a:t>
            </a: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932688" y="2944368"/>
            <a:ext cx="1627632" cy="859536"/>
          </a:xfrm>
          <a:prstGeom prst="rect">
            <a:avLst/>
          </a:prstGeom>
          <a:solidFill>
            <a:srgbClr val="0A1430"/>
          </a:solidFill>
          <a:ln w="22860">
            <a:solidFill>
              <a:srgbClr val="5B9BFF"/>
            </a:solidFill>
            <a:prstDash val="solid"/>
          </a:ln>
          <a:effectLst>
            <a:outerShdw blurRad="152400" dist="50800" dir="16200000" algn="bl" rotWithShape="0">
              <a:srgbClr val="5B9BFF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0" name="Shape 68"/>
          <p:cNvSpPr/>
          <p:nvPr/>
        </p:nvSpPr>
        <p:spPr>
          <a:xfrm>
            <a:off x="932688" y="2944368"/>
            <a:ext cx="1627632" cy="45720"/>
          </a:xfrm>
          <a:prstGeom prst="rect">
            <a:avLst/>
          </a:prstGeom>
          <a:solidFill>
            <a:srgbClr val="5B9BFF"/>
          </a:solidFill>
          <a:ln w="12700">
            <a:solidFill>
              <a:srgbClr val="5B9BFF"/>
            </a:solidFill>
            <a:prstDash val="solid"/>
          </a:ln>
          <a:effectLst>
            <a:outerShdw blurRad="762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1" name="Text 69"/>
          <p:cNvSpPr/>
          <p:nvPr/>
        </p:nvSpPr>
        <p:spPr>
          <a:xfrm>
            <a:off x="969264" y="301752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9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Unified Data Layer</a:t>
            </a:r>
            <a:endParaRPr lang="en-US" sz="900" dirty="0"/>
          </a:p>
        </p:txBody>
      </p:sp>
      <p:sp>
        <p:nvSpPr>
          <p:cNvPr id="72" name="Text 70"/>
          <p:cNvSpPr/>
          <p:nvPr/>
        </p:nvSpPr>
        <p:spPr>
          <a:xfrm>
            <a:off x="987552" y="3273552"/>
            <a:ext cx="151790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Single source of truth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2743200" y="2944368"/>
            <a:ext cx="1627632" cy="859536"/>
          </a:xfrm>
          <a:prstGeom prst="rect">
            <a:avLst/>
          </a:prstGeom>
          <a:solidFill>
            <a:srgbClr val="0A1430"/>
          </a:solidFill>
          <a:ln w="12700">
            <a:solidFill>
              <a:srgbClr val="FF5FA8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4" name="Shape 72"/>
          <p:cNvSpPr/>
          <p:nvPr/>
        </p:nvSpPr>
        <p:spPr>
          <a:xfrm>
            <a:off x="2743200" y="2944368"/>
            <a:ext cx="1627632" cy="45720"/>
          </a:xfrm>
          <a:prstGeom prst="rect">
            <a:avLst/>
          </a:prstGeom>
          <a:solidFill>
            <a:srgbClr val="FF5FA8"/>
          </a:solidFill>
          <a:ln w="12700">
            <a:solidFill>
              <a:srgbClr val="FF5FA8"/>
            </a:solidFill>
            <a:prstDash val="solid"/>
          </a:ln>
          <a:effectLst>
            <a:outerShdw blurRad="762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5" name="Text 73"/>
          <p:cNvSpPr/>
          <p:nvPr/>
        </p:nvSpPr>
        <p:spPr>
          <a:xfrm>
            <a:off x="2779776" y="301752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5FA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Security Layer</a:t>
            </a:r>
            <a:endParaRPr lang="en-US" sz="900" dirty="0"/>
          </a:p>
        </p:txBody>
      </p:sp>
      <p:sp>
        <p:nvSpPr>
          <p:cNvPr id="76" name="Text 74"/>
          <p:cNvSpPr/>
          <p:nvPr/>
        </p:nvSpPr>
        <p:spPr>
          <a:xfrm>
            <a:off x="2798064" y="3273552"/>
            <a:ext cx="151790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Access · NDA · Minimization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4553712" y="2944368"/>
            <a:ext cx="1627632" cy="859536"/>
          </a:xfrm>
          <a:prstGeom prst="rect">
            <a:avLst/>
          </a:prstGeom>
          <a:solidFill>
            <a:srgbClr val="0A1430"/>
          </a:solidFill>
          <a:ln w="12700">
            <a:solidFill>
              <a:srgbClr val="FFC23D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8" name="Shape 76"/>
          <p:cNvSpPr/>
          <p:nvPr/>
        </p:nvSpPr>
        <p:spPr>
          <a:xfrm>
            <a:off x="4553712" y="2944368"/>
            <a:ext cx="1627632" cy="45720"/>
          </a:xfrm>
          <a:prstGeom prst="rect">
            <a:avLst/>
          </a:prstGeom>
          <a:solidFill>
            <a:srgbClr val="FFC23D"/>
          </a:solidFill>
          <a:ln w="12700">
            <a:solidFill>
              <a:srgbClr val="FFC23D"/>
            </a:solidFill>
            <a:prstDash val="solid"/>
          </a:ln>
          <a:effectLst>
            <a:outerShdw blurRad="76200" dist="50800" dir="16200000" algn="bl" rotWithShape="0">
              <a:srgbClr val="FFC23D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9" name="Text 77"/>
          <p:cNvSpPr/>
          <p:nvPr/>
        </p:nvSpPr>
        <p:spPr>
          <a:xfrm>
            <a:off x="4590288" y="301752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C2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Query &amp; Analytics</a:t>
            </a:r>
            <a:endParaRPr lang="en-US" sz="900" dirty="0"/>
          </a:p>
        </p:txBody>
      </p:sp>
      <p:sp>
        <p:nvSpPr>
          <p:cNvPr id="80" name="Text 78"/>
          <p:cNvSpPr/>
          <p:nvPr/>
        </p:nvSpPr>
        <p:spPr>
          <a:xfrm>
            <a:off x="4608576" y="3273552"/>
            <a:ext cx="151790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KPI Engine · Aggregation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2560320" y="3374136"/>
            <a:ext cx="182880" cy="0"/>
          </a:xfrm>
          <a:prstGeom prst="line">
            <a:avLst/>
          </a:prstGeom>
          <a:noFill/>
          <a:ln w="12700">
            <a:solidFill>
              <a:srgbClr val="6B82B5"/>
            </a:solidFill>
            <a:prstDash val="solid"/>
            <a:headEnd type="none"/>
            <a:tailEnd type="triangl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82" name="Shape 80"/>
          <p:cNvSpPr/>
          <p:nvPr/>
        </p:nvSpPr>
        <p:spPr>
          <a:xfrm>
            <a:off x="4370832" y="3374136"/>
            <a:ext cx="182880" cy="0"/>
          </a:xfrm>
          <a:prstGeom prst="line">
            <a:avLst/>
          </a:prstGeom>
          <a:noFill/>
          <a:ln w="12700">
            <a:solidFill>
              <a:srgbClr val="6B82B5"/>
            </a:solidFill>
            <a:prstDash val="solid"/>
            <a:headEnd type="none"/>
            <a:tailEnd type="triangl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83" name="Shape 81"/>
          <p:cNvSpPr/>
          <p:nvPr/>
        </p:nvSpPr>
        <p:spPr>
          <a:xfrm>
            <a:off x="3602736" y="2944368"/>
            <a:ext cx="0" cy="0"/>
          </a:xfrm>
          <a:prstGeom prst="line">
            <a:avLst/>
          </a:prstGeom>
          <a:noFill/>
          <a:ln w="12700">
            <a:solidFill>
              <a:srgbClr val="5B9BFF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4" name="Shape 82"/>
          <p:cNvSpPr/>
          <p:nvPr/>
        </p:nvSpPr>
        <p:spPr>
          <a:xfrm>
            <a:off x="3602736" y="1792224"/>
            <a:ext cx="0" cy="0"/>
          </a:xfrm>
          <a:prstGeom prst="line">
            <a:avLst/>
          </a:prstGeom>
          <a:noFill/>
          <a:ln w="12700">
            <a:solidFill>
              <a:srgbClr val="3DEFC4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Shape 84"/>
          <p:cNvSpPr/>
          <p:nvPr/>
        </p:nvSpPr>
        <p:spPr>
          <a:xfrm>
            <a:off x="932688" y="4206240"/>
            <a:ext cx="877824" cy="146304"/>
          </a:xfrm>
          <a:prstGeom prst="ellipse">
            <a:avLst/>
          </a:prstGeom>
          <a:solidFill>
            <a:srgbClr val="5B9BFF">
              <a:alpha val="40000"/>
            </a:srgbClr>
          </a:solidFill>
          <a:ln w="12700">
            <a:solidFill>
              <a:srgbClr val="5B9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7" name="Shape 85"/>
          <p:cNvSpPr/>
          <p:nvPr/>
        </p:nvSpPr>
        <p:spPr>
          <a:xfrm>
            <a:off x="932688" y="4279392"/>
            <a:ext cx="877824" cy="384048"/>
          </a:xfrm>
          <a:prstGeom prst="rect">
            <a:avLst/>
          </a:prstGeom>
          <a:solidFill>
            <a:srgbClr val="5B9BFF">
              <a:alpha val="26000"/>
            </a:srgbClr>
          </a:solidFill>
          <a:ln w="12700">
            <a:solidFill>
              <a:srgbClr val="5B9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8" name="Shape 86"/>
          <p:cNvSpPr/>
          <p:nvPr/>
        </p:nvSpPr>
        <p:spPr>
          <a:xfrm>
            <a:off x="932688" y="4590288"/>
            <a:ext cx="877824" cy="146304"/>
          </a:xfrm>
          <a:prstGeom prst="ellipse">
            <a:avLst/>
          </a:prstGeom>
          <a:solidFill>
            <a:srgbClr val="5B9BFF">
              <a:alpha val="18000"/>
            </a:srgbClr>
          </a:solidFill>
          <a:ln w="12700">
            <a:solidFill>
              <a:srgbClr val="5B9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9" name="Text 87"/>
          <p:cNvSpPr/>
          <p:nvPr/>
        </p:nvSpPr>
        <p:spPr>
          <a:xfrm>
            <a:off x="932688" y="4297680"/>
            <a:ext cx="8778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SAP</a:t>
            </a:r>
            <a:endParaRPr lang="en-US" sz="900" dirty="0"/>
          </a:p>
        </p:txBody>
      </p:sp>
      <p:sp>
        <p:nvSpPr>
          <p:cNvPr id="91" name="Shape 89"/>
          <p:cNvSpPr/>
          <p:nvPr/>
        </p:nvSpPr>
        <p:spPr>
          <a:xfrm>
            <a:off x="2011680" y="4206240"/>
            <a:ext cx="877824" cy="146304"/>
          </a:xfrm>
          <a:prstGeom prst="ellipse">
            <a:avLst/>
          </a:prstGeom>
          <a:solidFill>
            <a:srgbClr val="5B9BFF">
              <a:alpha val="40000"/>
            </a:srgbClr>
          </a:solidFill>
          <a:ln w="12700">
            <a:solidFill>
              <a:srgbClr val="5B9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2" name="Shape 90"/>
          <p:cNvSpPr/>
          <p:nvPr/>
        </p:nvSpPr>
        <p:spPr>
          <a:xfrm>
            <a:off x="2011680" y="4279392"/>
            <a:ext cx="877824" cy="384048"/>
          </a:xfrm>
          <a:prstGeom prst="rect">
            <a:avLst/>
          </a:prstGeom>
          <a:solidFill>
            <a:srgbClr val="5B9BFF">
              <a:alpha val="26000"/>
            </a:srgbClr>
          </a:solidFill>
          <a:ln w="12700">
            <a:solidFill>
              <a:srgbClr val="5B9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3" name="Shape 91"/>
          <p:cNvSpPr/>
          <p:nvPr/>
        </p:nvSpPr>
        <p:spPr>
          <a:xfrm>
            <a:off x="2011680" y="4590288"/>
            <a:ext cx="877824" cy="146304"/>
          </a:xfrm>
          <a:prstGeom prst="ellipse">
            <a:avLst/>
          </a:prstGeom>
          <a:solidFill>
            <a:srgbClr val="5B9BFF">
              <a:alpha val="18000"/>
            </a:srgbClr>
          </a:solidFill>
          <a:ln w="12700">
            <a:solidFill>
              <a:srgbClr val="5B9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4" name="Text 92"/>
          <p:cNvSpPr/>
          <p:nvPr/>
        </p:nvSpPr>
        <p:spPr>
          <a:xfrm>
            <a:off x="2011680" y="4297680"/>
            <a:ext cx="8778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MES</a:t>
            </a:r>
            <a:endParaRPr lang="en-US" sz="900" dirty="0"/>
          </a:p>
        </p:txBody>
      </p:sp>
      <p:sp>
        <p:nvSpPr>
          <p:cNvPr id="96" name="Shape 94"/>
          <p:cNvSpPr/>
          <p:nvPr/>
        </p:nvSpPr>
        <p:spPr>
          <a:xfrm>
            <a:off x="3090672" y="4206240"/>
            <a:ext cx="877824" cy="146304"/>
          </a:xfrm>
          <a:prstGeom prst="ellipse">
            <a:avLst/>
          </a:prstGeom>
          <a:solidFill>
            <a:srgbClr val="5B9BFF">
              <a:alpha val="40000"/>
            </a:srgbClr>
          </a:solidFill>
          <a:ln w="12700">
            <a:solidFill>
              <a:srgbClr val="5B9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7" name="Shape 95"/>
          <p:cNvSpPr/>
          <p:nvPr/>
        </p:nvSpPr>
        <p:spPr>
          <a:xfrm>
            <a:off x="3090672" y="4279392"/>
            <a:ext cx="877824" cy="384048"/>
          </a:xfrm>
          <a:prstGeom prst="rect">
            <a:avLst/>
          </a:prstGeom>
          <a:solidFill>
            <a:srgbClr val="5B9BFF">
              <a:alpha val="26000"/>
            </a:srgbClr>
          </a:solidFill>
          <a:ln w="12700">
            <a:solidFill>
              <a:srgbClr val="5B9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8" name="Shape 96"/>
          <p:cNvSpPr/>
          <p:nvPr/>
        </p:nvSpPr>
        <p:spPr>
          <a:xfrm>
            <a:off x="3090672" y="4590288"/>
            <a:ext cx="877824" cy="146304"/>
          </a:xfrm>
          <a:prstGeom prst="ellipse">
            <a:avLst/>
          </a:prstGeom>
          <a:solidFill>
            <a:srgbClr val="5B9BFF">
              <a:alpha val="18000"/>
            </a:srgbClr>
          </a:solidFill>
          <a:ln w="12700">
            <a:solidFill>
              <a:srgbClr val="5B9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9" name="Text 97"/>
          <p:cNvSpPr/>
          <p:nvPr/>
        </p:nvSpPr>
        <p:spPr>
          <a:xfrm>
            <a:off x="3090672" y="4297680"/>
            <a:ext cx="8778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QMS</a:t>
            </a:r>
            <a:endParaRPr lang="en-US" sz="900" dirty="0"/>
          </a:p>
        </p:txBody>
      </p:sp>
      <p:sp>
        <p:nvSpPr>
          <p:cNvPr id="100" name="Shape 98"/>
          <p:cNvSpPr/>
          <p:nvPr/>
        </p:nvSpPr>
        <p:spPr>
          <a:xfrm>
            <a:off x="3529584" y="4206240"/>
            <a:ext cx="73152" cy="0"/>
          </a:xfrm>
          <a:prstGeom prst="line">
            <a:avLst/>
          </a:prstGeom>
          <a:noFill/>
          <a:ln w="12700">
            <a:solidFill>
              <a:srgbClr val="5B9BF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1" name="Shape 99"/>
          <p:cNvSpPr/>
          <p:nvPr/>
        </p:nvSpPr>
        <p:spPr>
          <a:xfrm>
            <a:off x="4169664" y="4206240"/>
            <a:ext cx="877824" cy="146304"/>
          </a:xfrm>
          <a:prstGeom prst="ellipse">
            <a:avLst/>
          </a:prstGeom>
          <a:solidFill>
            <a:srgbClr val="6B82B5">
              <a:alpha val="40000"/>
            </a:srgbClr>
          </a:solidFill>
          <a:ln w="12700">
            <a:solidFill>
              <a:srgbClr val="6B82B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2" name="Shape 100"/>
          <p:cNvSpPr/>
          <p:nvPr/>
        </p:nvSpPr>
        <p:spPr>
          <a:xfrm>
            <a:off x="4169664" y="4279392"/>
            <a:ext cx="877824" cy="384048"/>
          </a:xfrm>
          <a:prstGeom prst="rect">
            <a:avLst/>
          </a:prstGeom>
          <a:solidFill>
            <a:srgbClr val="6B82B5">
              <a:alpha val="26000"/>
            </a:srgbClr>
          </a:solidFill>
          <a:ln w="12700">
            <a:solidFill>
              <a:srgbClr val="6B82B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3" name="Shape 101"/>
          <p:cNvSpPr/>
          <p:nvPr/>
        </p:nvSpPr>
        <p:spPr>
          <a:xfrm>
            <a:off x="4169664" y="4590288"/>
            <a:ext cx="877824" cy="146304"/>
          </a:xfrm>
          <a:prstGeom prst="ellipse">
            <a:avLst/>
          </a:prstGeom>
          <a:solidFill>
            <a:srgbClr val="6B82B5">
              <a:alpha val="18000"/>
            </a:srgbClr>
          </a:solidFill>
          <a:ln w="12700">
            <a:solidFill>
              <a:srgbClr val="6B82B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4" name="Text 102"/>
          <p:cNvSpPr/>
          <p:nvPr/>
        </p:nvSpPr>
        <p:spPr>
          <a:xfrm>
            <a:off x="4169664" y="4297680"/>
            <a:ext cx="8778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</a:t>
            </a:r>
            <a:endParaRPr lang="en-US" sz="900" dirty="0"/>
          </a:p>
        </p:txBody>
      </p:sp>
      <p:sp>
        <p:nvSpPr>
          <p:cNvPr id="105" name="Shape 103"/>
          <p:cNvSpPr/>
          <p:nvPr/>
        </p:nvSpPr>
        <p:spPr>
          <a:xfrm>
            <a:off x="4608576" y="4206240"/>
            <a:ext cx="0" cy="0"/>
          </a:xfrm>
          <a:prstGeom prst="line">
            <a:avLst/>
          </a:prstGeom>
          <a:noFill/>
          <a:ln w="12700">
            <a:solidFill>
              <a:srgbClr val="6B82B5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6" name="Shape 104"/>
          <p:cNvSpPr/>
          <p:nvPr/>
        </p:nvSpPr>
        <p:spPr>
          <a:xfrm>
            <a:off x="5248656" y="4206240"/>
            <a:ext cx="877824" cy="146304"/>
          </a:xfrm>
          <a:prstGeom prst="ellipse">
            <a:avLst/>
          </a:prstGeom>
          <a:solidFill>
            <a:srgbClr val="6B82B5">
              <a:alpha val="40000"/>
            </a:srgbClr>
          </a:solidFill>
          <a:ln w="12700">
            <a:solidFill>
              <a:srgbClr val="6B82B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7" name="Shape 105"/>
          <p:cNvSpPr/>
          <p:nvPr/>
        </p:nvSpPr>
        <p:spPr>
          <a:xfrm>
            <a:off x="5248656" y="4279392"/>
            <a:ext cx="877824" cy="384048"/>
          </a:xfrm>
          <a:prstGeom prst="rect">
            <a:avLst/>
          </a:prstGeom>
          <a:solidFill>
            <a:srgbClr val="6B82B5">
              <a:alpha val="26000"/>
            </a:srgbClr>
          </a:solidFill>
          <a:ln w="12700">
            <a:solidFill>
              <a:srgbClr val="6B82B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8" name="Shape 106"/>
          <p:cNvSpPr/>
          <p:nvPr/>
        </p:nvSpPr>
        <p:spPr>
          <a:xfrm>
            <a:off x="5248656" y="4590288"/>
            <a:ext cx="877824" cy="146304"/>
          </a:xfrm>
          <a:prstGeom prst="ellipse">
            <a:avLst/>
          </a:prstGeom>
          <a:solidFill>
            <a:srgbClr val="6B82B5">
              <a:alpha val="18000"/>
            </a:srgbClr>
          </a:solidFill>
          <a:ln w="12700">
            <a:solidFill>
              <a:srgbClr val="6B82B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9" name="Text 107"/>
          <p:cNvSpPr/>
          <p:nvPr/>
        </p:nvSpPr>
        <p:spPr>
          <a:xfrm>
            <a:off x="5248656" y="4297680"/>
            <a:ext cx="8778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…</a:t>
            </a:r>
            <a:endParaRPr lang="en-US" sz="900" dirty="0"/>
          </a:p>
        </p:txBody>
      </p:sp>
      <p:sp>
        <p:nvSpPr>
          <p:cNvPr id="110" name="Shape 108"/>
          <p:cNvSpPr/>
          <p:nvPr/>
        </p:nvSpPr>
        <p:spPr>
          <a:xfrm>
            <a:off x="5687568" y="4206240"/>
            <a:ext cx="0" cy="0"/>
          </a:xfrm>
          <a:prstGeom prst="line">
            <a:avLst/>
          </a:prstGeom>
          <a:noFill/>
          <a:ln w="12700">
            <a:solidFill>
              <a:srgbClr val="6B82B5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1" name="Text 109"/>
          <p:cNvSpPr/>
          <p:nvPr/>
        </p:nvSpPr>
        <p:spPr>
          <a:xfrm>
            <a:off x="6601968" y="804672"/>
            <a:ext cx="24323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5B9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GUARANTEE</a:t>
            </a:r>
            <a:endParaRPr lang="en-US" sz="750" dirty="0"/>
          </a:p>
        </p:txBody>
      </p:sp>
      <p:sp>
        <p:nvSpPr>
          <p:cNvPr id="112" name="Shape 110"/>
          <p:cNvSpPr/>
          <p:nvPr/>
        </p:nvSpPr>
        <p:spPr>
          <a:xfrm>
            <a:off x="6601968" y="1042416"/>
            <a:ext cx="2432304" cy="1371600"/>
          </a:xfrm>
          <a:prstGeom prst="rect">
            <a:avLst/>
          </a:prstGeom>
          <a:solidFill>
            <a:srgbClr val="0A1430"/>
          </a:solidFill>
          <a:ln w="12700">
            <a:solidFill>
              <a:srgbClr val="5B9BFF">
                <a:alpha val="65000"/>
              </a:srgbClr>
            </a:solidFill>
            <a:prstDash val="solid"/>
          </a:ln>
          <a:effectLst>
            <a:outerShdw blurRad="114300" dist="50800" dir="16200000" algn="bl" rotWithShape="0">
              <a:srgbClr val="5B9BFF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3" name="Text 111"/>
          <p:cNvSpPr/>
          <p:nvPr/>
        </p:nvSpPr>
        <p:spPr>
          <a:xfrm>
            <a:off x="6748272" y="1152144"/>
            <a:ext cx="2157984" cy="1170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AI never receives raw production data.</a:t>
            </a:r>
            <a:endParaRPr lang="en-US" sz="1050" dirty="0"/>
          </a:p>
          <a:p>
            <a:pPr marL="0" indent="0">
              <a:buNone/>
            </a:pPr>
            <a:r>
              <a:rPr lang="en-US" sz="9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request passes access validation, NDA checks, filtering, KPI calculation and aggregation first. Only the resulting business context reaches the LLM.</a:t>
            </a:r>
            <a:endParaRPr lang="en-US" sz="1050" dirty="0"/>
          </a:p>
        </p:txBody>
      </p:sp>
      <p:sp>
        <p:nvSpPr>
          <p:cNvPr id="114" name="Text 112"/>
          <p:cNvSpPr/>
          <p:nvPr/>
        </p:nvSpPr>
        <p:spPr>
          <a:xfrm>
            <a:off x="6601968" y="2542032"/>
            <a:ext cx="24323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COMPLIANCE</a:t>
            </a:r>
            <a:endParaRPr lang="en-US" sz="750" dirty="0"/>
          </a:p>
        </p:txBody>
      </p:sp>
      <p:sp>
        <p:nvSpPr>
          <p:cNvPr id="115" name="Shape 113"/>
          <p:cNvSpPr/>
          <p:nvPr/>
        </p:nvSpPr>
        <p:spPr>
          <a:xfrm>
            <a:off x="6601968" y="2798064"/>
            <a:ext cx="2432304" cy="438912"/>
          </a:xfrm>
          <a:prstGeom prst="rect">
            <a:avLst/>
          </a:prstGeom>
          <a:solidFill>
            <a:srgbClr val="0A1430"/>
          </a:solidFill>
          <a:ln w="10160">
            <a:solidFill>
              <a:srgbClr val="FF5FA8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6" name="Shape 114"/>
          <p:cNvSpPr/>
          <p:nvPr/>
        </p:nvSpPr>
        <p:spPr>
          <a:xfrm>
            <a:off x="6601968" y="2798064"/>
            <a:ext cx="54864" cy="438912"/>
          </a:xfrm>
          <a:prstGeom prst="rect">
            <a:avLst/>
          </a:prstGeom>
          <a:solidFill>
            <a:srgbClr val="FF5FA8"/>
          </a:solidFill>
          <a:ln w="12700">
            <a:solidFill>
              <a:srgbClr val="FF5FA8"/>
            </a:solidFill>
            <a:prstDash val="solid"/>
          </a:ln>
          <a:effectLst>
            <a:outerShdw blurRad="63500" dist="50800" dir="16200000" algn="bl" rotWithShape="0">
              <a:srgbClr val="FF5FA8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7" name="Text 115"/>
          <p:cNvSpPr/>
          <p:nvPr/>
        </p:nvSpPr>
        <p:spPr>
          <a:xfrm>
            <a:off x="6711696" y="2798064"/>
            <a:ext cx="548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5FA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GDPR</a:t>
            </a:r>
            <a:endParaRPr lang="en-US" sz="800" dirty="0"/>
          </a:p>
        </p:txBody>
      </p:sp>
      <p:sp>
        <p:nvSpPr>
          <p:cNvPr id="118" name="Text 116"/>
          <p:cNvSpPr/>
          <p:nvPr/>
        </p:nvSpPr>
        <p:spPr>
          <a:xfrm>
            <a:off x="7260336" y="2834640"/>
            <a:ext cx="17190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PII to AI  ·  Art. 6(1)(f)</a:t>
            </a:r>
            <a:endParaRPr lang="en-US" sz="800" dirty="0"/>
          </a:p>
        </p:txBody>
      </p:sp>
      <p:sp>
        <p:nvSpPr>
          <p:cNvPr id="119" name="Shape 117"/>
          <p:cNvSpPr/>
          <p:nvPr/>
        </p:nvSpPr>
        <p:spPr>
          <a:xfrm>
            <a:off x="6601968" y="3310128"/>
            <a:ext cx="2432304" cy="438912"/>
          </a:xfrm>
          <a:prstGeom prst="rect">
            <a:avLst/>
          </a:prstGeom>
          <a:solidFill>
            <a:srgbClr val="0A1430"/>
          </a:solidFill>
          <a:ln w="10160">
            <a:solidFill>
              <a:srgbClr val="FFC23D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0" name="Shape 118"/>
          <p:cNvSpPr/>
          <p:nvPr/>
        </p:nvSpPr>
        <p:spPr>
          <a:xfrm>
            <a:off x="6601968" y="3310128"/>
            <a:ext cx="54864" cy="438912"/>
          </a:xfrm>
          <a:prstGeom prst="rect">
            <a:avLst/>
          </a:prstGeom>
          <a:solidFill>
            <a:srgbClr val="FFC23D"/>
          </a:solidFill>
          <a:ln w="12700">
            <a:solidFill>
              <a:srgbClr val="FFC23D"/>
            </a:solidFill>
            <a:prstDash val="solid"/>
          </a:ln>
          <a:effectLst>
            <a:outerShdw blurRad="63500" dist="50800" dir="16200000" algn="bl" rotWithShape="0">
              <a:srgbClr val="FFC23D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1" name="Text 119"/>
          <p:cNvSpPr/>
          <p:nvPr/>
        </p:nvSpPr>
        <p:spPr>
          <a:xfrm>
            <a:off x="6711696" y="3310128"/>
            <a:ext cx="548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C2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Act</a:t>
            </a:r>
            <a:endParaRPr lang="en-US" sz="800" dirty="0"/>
          </a:p>
        </p:txBody>
      </p:sp>
      <p:sp>
        <p:nvSpPr>
          <p:cNvPr id="122" name="Text 120"/>
          <p:cNvSpPr/>
          <p:nvPr/>
        </p:nvSpPr>
        <p:spPr>
          <a:xfrm>
            <a:off x="7260336" y="3346704"/>
            <a:ext cx="17190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Minimal Risk  ·  Human approval</a:t>
            </a:r>
            <a:endParaRPr lang="en-US" sz="800" dirty="0"/>
          </a:p>
        </p:txBody>
      </p:sp>
      <p:sp>
        <p:nvSpPr>
          <p:cNvPr id="123" name="Shape 121"/>
          <p:cNvSpPr/>
          <p:nvPr/>
        </p:nvSpPr>
        <p:spPr>
          <a:xfrm>
            <a:off x="6601968" y="3822192"/>
            <a:ext cx="2432304" cy="438912"/>
          </a:xfrm>
          <a:prstGeom prst="rect">
            <a:avLst/>
          </a:prstGeom>
          <a:solidFill>
            <a:srgbClr val="0A1430"/>
          </a:solidFill>
          <a:ln w="10160">
            <a:solidFill>
              <a:srgbClr val="3DEFC4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4" name="Shape 122"/>
          <p:cNvSpPr/>
          <p:nvPr/>
        </p:nvSpPr>
        <p:spPr>
          <a:xfrm>
            <a:off x="6601968" y="3822192"/>
            <a:ext cx="54864" cy="438912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635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5" name="Text 123"/>
          <p:cNvSpPr/>
          <p:nvPr/>
        </p:nvSpPr>
        <p:spPr>
          <a:xfrm>
            <a:off x="6711696" y="3822192"/>
            <a:ext cx="548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3DEF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ISO 9001</a:t>
            </a:r>
            <a:endParaRPr lang="en-US" sz="800" dirty="0"/>
          </a:p>
        </p:txBody>
      </p:sp>
      <p:sp>
        <p:nvSpPr>
          <p:cNvPr id="126" name="Text 124"/>
          <p:cNvSpPr/>
          <p:nvPr/>
        </p:nvSpPr>
        <p:spPr>
          <a:xfrm>
            <a:off x="7260336" y="3858768"/>
            <a:ext cx="17190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 audit trails  ·  Traceable</a:t>
            </a:r>
            <a:endParaRPr lang="en-US" sz="800" dirty="0"/>
          </a:p>
        </p:txBody>
      </p:sp>
      <p:sp>
        <p:nvSpPr>
          <p:cNvPr id="127" name="Shape 125"/>
          <p:cNvSpPr/>
          <p:nvPr/>
        </p:nvSpPr>
        <p:spPr>
          <a:xfrm>
            <a:off x="6601968" y="4334256"/>
            <a:ext cx="2432304" cy="438912"/>
          </a:xfrm>
          <a:prstGeom prst="rect">
            <a:avLst/>
          </a:prstGeom>
          <a:solidFill>
            <a:srgbClr val="0A1430"/>
          </a:solidFill>
          <a:ln w="10160">
            <a:solidFill>
              <a:srgbClr val="A78BFF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8" name="Shape 126"/>
          <p:cNvSpPr/>
          <p:nvPr/>
        </p:nvSpPr>
        <p:spPr>
          <a:xfrm>
            <a:off x="6601968" y="4334256"/>
            <a:ext cx="54864" cy="438912"/>
          </a:xfrm>
          <a:prstGeom prst="rect">
            <a:avLst/>
          </a:prstGeom>
          <a:solidFill>
            <a:srgbClr val="A78BFF"/>
          </a:solidFill>
          <a:ln w="12700">
            <a:solidFill>
              <a:srgbClr val="A78BFF"/>
            </a:solidFill>
            <a:prstDash val="solid"/>
          </a:ln>
          <a:effectLst>
            <a:outerShdw blurRad="63500" dist="50800" dir="16200000" algn="bl" rotWithShape="0">
              <a:srgbClr val="A78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9" name="Text 127"/>
          <p:cNvSpPr/>
          <p:nvPr/>
        </p:nvSpPr>
        <p:spPr>
          <a:xfrm>
            <a:off x="6711696" y="4334256"/>
            <a:ext cx="548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A78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NDA / IP</a:t>
            </a:r>
            <a:endParaRPr lang="en-US" sz="800" dirty="0"/>
          </a:p>
        </p:txBody>
      </p:sp>
      <p:sp>
        <p:nvSpPr>
          <p:cNvPr id="130" name="Text 128"/>
          <p:cNvSpPr/>
          <p:nvPr/>
        </p:nvSpPr>
        <p:spPr>
          <a:xfrm>
            <a:off x="7260336" y="4370832"/>
            <a:ext cx="17190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On-premise  ·  Role-based access</a:t>
            </a:r>
            <a:endParaRPr lang="en-US" sz="800" dirty="0"/>
          </a:p>
        </p:txBody>
      </p:sp>
      <p:sp>
        <p:nvSpPr>
          <p:cNvPr id="134" name="Shape 80">
            <a:extLst>
              <a:ext uri="{FF2B5EF4-FFF2-40B4-BE49-F238E27FC236}">
                <a16:creationId xmlns:a16="http://schemas.microsoft.com/office/drawing/2014/main" id="{528CE517-00FA-756D-616B-8CD360EC5BFA}"/>
              </a:ext>
            </a:extLst>
          </p:cNvPr>
          <p:cNvSpPr/>
          <p:nvPr/>
        </p:nvSpPr>
        <p:spPr>
          <a:xfrm flipV="1">
            <a:off x="5151120" y="2761487"/>
            <a:ext cx="0" cy="189740"/>
          </a:xfrm>
          <a:prstGeom prst="line">
            <a:avLst/>
          </a:prstGeom>
          <a:noFill/>
          <a:ln w="12700">
            <a:solidFill>
              <a:srgbClr val="6B82B5"/>
            </a:solidFill>
            <a:prstDash val="solid"/>
            <a:headEnd type="none"/>
            <a:tailEnd type="triangl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35" name="Shape 80">
            <a:extLst>
              <a:ext uri="{FF2B5EF4-FFF2-40B4-BE49-F238E27FC236}">
                <a16:creationId xmlns:a16="http://schemas.microsoft.com/office/drawing/2014/main" id="{353C7863-6CD6-28A0-733B-11A9170E2033}"/>
              </a:ext>
            </a:extLst>
          </p:cNvPr>
          <p:cNvSpPr/>
          <p:nvPr/>
        </p:nvSpPr>
        <p:spPr>
          <a:xfrm flipH="1" flipV="1">
            <a:off x="3602736" y="1673351"/>
            <a:ext cx="0" cy="132588"/>
          </a:xfrm>
          <a:prstGeom prst="line">
            <a:avLst/>
          </a:prstGeom>
          <a:noFill/>
          <a:ln w="12700">
            <a:solidFill>
              <a:srgbClr val="6B82B5"/>
            </a:solidFill>
            <a:prstDash val="solid"/>
            <a:headEnd type="none"/>
            <a:tailEnd type="triangl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36" name="Shape 80">
            <a:extLst>
              <a:ext uri="{FF2B5EF4-FFF2-40B4-BE49-F238E27FC236}">
                <a16:creationId xmlns:a16="http://schemas.microsoft.com/office/drawing/2014/main" id="{59B98B5D-417B-7F40-4E68-C30CC5AAE5C4}"/>
              </a:ext>
            </a:extLst>
          </p:cNvPr>
          <p:cNvSpPr/>
          <p:nvPr/>
        </p:nvSpPr>
        <p:spPr>
          <a:xfrm flipH="1" flipV="1">
            <a:off x="5334000" y="1673351"/>
            <a:ext cx="0" cy="132588"/>
          </a:xfrm>
          <a:prstGeom prst="line">
            <a:avLst/>
          </a:prstGeom>
          <a:noFill/>
          <a:ln w="12700">
            <a:solidFill>
              <a:srgbClr val="6B82B5"/>
            </a:solidFill>
            <a:prstDash val="solid"/>
            <a:headEnd type="none"/>
            <a:tailEnd type="triangl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37" name="Shape 80">
            <a:extLst>
              <a:ext uri="{FF2B5EF4-FFF2-40B4-BE49-F238E27FC236}">
                <a16:creationId xmlns:a16="http://schemas.microsoft.com/office/drawing/2014/main" id="{95C0D784-0EDA-C3E6-B485-0BB3158C4F6D}"/>
              </a:ext>
            </a:extLst>
          </p:cNvPr>
          <p:cNvSpPr/>
          <p:nvPr/>
        </p:nvSpPr>
        <p:spPr>
          <a:xfrm flipH="1" flipV="1">
            <a:off x="1746504" y="1673351"/>
            <a:ext cx="0" cy="132588"/>
          </a:xfrm>
          <a:prstGeom prst="line">
            <a:avLst/>
          </a:prstGeom>
          <a:noFill/>
          <a:ln w="12700">
            <a:solidFill>
              <a:srgbClr val="6B82B5"/>
            </a:solidFill>
            <a:prstDash val="solid"/>
            <a:headEnd type="none"/>
            <a:tailEnd type="triangle" w="sm" len="sm"/>
          </a:ln>
        </p:spPr>
        <p:txBody>
          <a:bodyPr/>
          <a:lstStyle/>
          <a:p>
            <a:endParaRPr lang="en-US"/>
          </a:p>
        </p:txBody>
      </p:sp>
      <p:cxnSp>
        <p:nvCxnSpPr>
          <p:cNvPr id="145" name="Verbinder: gewinkelt 144">
            <a:extLst>
              <a:ext uri="{FF2B5EF4-FFF2-40B4-BE49-F238E27FC236}">
                <a16:creationId xmlns:a16="http://schemas.microsoft.com/office/drawing/2014/main" id="{F08504C3-5A44-EAAB-539D-7B2301E19102}"/>
              </a:ext>
            </a:extLst>
          </p:cNvPr>
          <p:cNvCxnSpPr>
            <a:stCxn id="86" idx="0"/>
            <a:endCxn id="69" idx="2"/>
          </p:cNvCxnSpPr>
          <p:nvPr/>
        </p:nvCxnSpPr>
        <p:spPr>
          <a:xfrm rot="5400000" flipH="1" flipV="1">
            <a:off x="1357884" y="3817620"/>
            <a:ext cx="402336" cy="374904"/>
          </a:xfrm>
          <a:prstGeom prst="bentConnector3">
            <a:avLst/>
          </a:prstGeom>
          <a:noFill/>
          <a:ln w="12700">
            <a:solidFill>
              <a:srgbClr val="5B9BFF"/>
            </a:solidFill>
            <a:prstDash val="solid"/>
            <a:headEnd type="triangle"/>
            <a:tailEnd type="triangle"/>
          </a:ln>
        </p:spPr>
      </p:cxnSp>
      <p:cxnSp>
        <p:nvCxnSpPr>
          <p:cNvPr id="146" name="Verbinder: gewinkelt 145">
            <a:extLst>
              <a:ext uri="{FF2B5EF4-FFF2-40B4-BE49-F238E27FC236}">
                <a16:creationId xmlns:a16="http://schemas.microsoft.com/office/drawing/2014/main" id="{5EDE1C30-937F-5D0E-6DDD-853147743A3D}"/>
              </a:ext>
            </a:extLst>
          </p:cNvPr>
          <p:cNvCxnSpPr>
            <a:cxnSpLocks/>
            <a:stCxn id="106" idx="0"/>
            <a:endCxn id="69" idx="2"/>
          </p:cNvCxnSpPr>
          <p:nvPr/>
        </p:nvCxnSpPr>
        <p:spPr>
          <a:xfrm rot="16200000" flipV="1">
            <a:off x="3515868" y="2034540"/>
            <a:ext cx="402336" cy="3941064"/>
          </a:xfrm>
          <a:prstGeom prst="bentConnector3">
            <a:avLst>
              <a:gd name="adj1" fmla="val 50000"/>
            </a:avLst>
          </a:prstGeom>
          <a:noFill/>
          <a:ln w="12700">
            <a:solidFill>
              <a:srgbClr val="5B9BFF"/>
            </a:solidFill>
            <a:prstDash val="solid"/>
            <a:headEnd type="triangle"/>
            <a:tailEnd type="triangle"/>
          </a:ln>
        </p:spPr>
      </p:cxnSp>
      <p:cxnSp>
        <p:nvCxnSpPr>
          <p:cNvPr id="148" name="Verbinder: gewinkelt 147">
            <a:extLst>
              <a:ext uri="{FF2B5EF4-FFF2-40B4-BE49-F238E27FC236}">
                <a16:creationId xmlns:a16="http://schemas.microsoft.com/office/drawing/2014/main" id="{59FCAC94-E499-DFA5-C859-1CB177A33D2B}"/>
              </a:ext>
            </a:extLst>
          </p:cNvPr>
          <p:cNvCxnSpPr>
            <a:cxnSpLocks/>
            <a:stCxn id="101" idx="0"/>
            <a:endCxn id="69" idx="2"/>
          </p:cNvCxnSpPr>
          <p:nvPr/>
        </p:nvCxnSpPr>
        <p:spPr>
          <a:xfrm rot="16200000" flipV="1">
            <a:off x="2976372" y="2574036"/>
            <a:ext cx="402336" cy="2862072"/>
          </a:xfrm>
          <a:prstGeom prst="bentConnector3">
            <a:avLst>
              <a:gd name="adj1" fmla="val 50000"/>
            </a:avLst>
          </a:prstGeom>
          <a:noFill/>
          <a:ln w="12700">
            <a:solidFill>
              <a:srgbClr val="5B9BFF"/>
            </a:solidFill>
            <a:prstDash val="solid"/>
            <a:headEnd type="triangle"/>
            <a:tailEnd type="triangle"/>
          </a:ln>
        </p:spPr>
      </p:cxnSp>
      <p:cxnSp>
        <p:nvCxnSpPr>
          <p:cNvPr id="150" name="Verbinder: gewinkelt 149">
            <a:extLst>
              <a:ext uri="{FF2B5EF4-FFF2-40B4-BE49-F238E27FC236}">
                <a16:creationId xmlns:a16="http://schemas.microsoft.com/office/drawing/2014/main" id="{99A53F2D-3E84-DBA4-AF63-2D0BEE6CFAF8}"/>
              </a:ext>
            </a:extLst>
          </p:cNvPr>
          <p:cNvCxnSpPr>
            <a:cxnSpLocks/>
            <a:stCxn id="96" idx="0"/>
            <a:endCxn id="69" idx="2"/>
          </p:cNvCxnSpPr>
          <p:nvPr/>
        </p:nvCxnSpPr>
        <p:spPr>
          <a:xfrm rot="16200000" flipV="1">
            <a:off x="2436876" y="3113532"/>
            <a:ext cx="402336" cy="1783080"/>
          </a:xfrm>
          <a:prstGeom prst="bentConnector3">
            <a:avLst>
              <a:gd name="adj1" fmla="val 50000"/>
            </a:avLst>
          </a:prstGeom>
          <a:noFill/>
          <a:ln w="12700">
            <a:solidFill>
              <a:srgbClr val="5B9BFF"/>
            </a:solidFill>
            <a:prstDash val="solid"/>
            <a:headEnd type="triangle"/>
            <a:tailEnd type="triangle"/>
          </a:ln>
        </p:spPr>
      </p:cxnSp>
      <p:cxnSp>
        <p:nvCxnSpPr>
          <p:cNvPr id="152" name="Verbinder: gewinkelt 151">
            <a:extLst>
              <a:ext uri="{FF2B5EF4-FFF2-40B4-BE49-F238E27FC236}">
                <a16:creationId xmlns:a16="http://schemas.microsoft.com/office/drawing/2014/main" id="{6BC85863-1ECF-C7EC-A0F6-C620413AAC78}"/>
              </a:ext>
            </a:extLst>
          </p:cNvPr>
          <p:cNvCxnSpPr>
            <a:cxnSpLocks/>
            <a:stCxn id="91" idx="0"/>
            <a:endCxn id="69" idx="2"/>
          </p:cNvCxnSpPr>
          <p:nvPr/>
        </p:nvCxnSpPr>
        <p:spPr>
          <a:xfrm rot="16200000" flipV="1">
            <a:off x="1897380" y="3653028"/>
            <a:ext cx="402336" cy="704088"/>
          </a:xfrm>
          <a:prstGeom prst="bentConnector3">
            <a:avLst>
              <a:gd name="adj1" fmla="val 50000"/>
            </a:avLst>
          </a:prstGeom>
          <a:noFill/>
          <a:ln w="12700">
            <a:solidFill>
              <a:srgbClr val="5B9BFF"/>
            </a:solidFill>
            <a:prstDash val="solid"/>
            <a:headEnd type="triangle"/>
            <a:tailEnd type="triangle"/>
          </a:ln>
        </p:spPr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306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0" y="-1828800"/>
            <a:ext cx="5029200" cy="5029200"/>
          </a:xfrm>
          <a:prstGeom prst="ellipse">
            <a:avLst/>
          </a:prstGeom>
          <a:solidFill>
            <a:srgbClr val="0B1E4D">
              <a:alpha val="20000"/>
            </a:srgbClr>
          </a:solidFill>
          <a:ln w="12700">
            <a:solidFill>
              <a:srgbClr val="0B1E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20117"/>
          </a:xfrm>
          <a:prstGeom prst="rect">
            <a:avLst/>
          </a:prstGeom>
          <a:solidFill>
            <a:srgbClr val="FF5FA8"/>
          </a:solidFill>
          <a:ln w="12700">
            <a:solidFill>
              <a:srgbClr val="FF5FA8"/>
            </a:solidFill>
            <a:prstDash val="solid"/>
          </a:ln>
          <a:effectLst>
            <a:outerShdw blurRad="1143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FF5FA8"/>
          </a:solidFill>
          <a:ln w="12700">
            <a:solidFill>
              <a:srgbClr val="FF5FA8"/>
            </a:solidFill>
            <a:prstDash val="solid"/>
          </a:ln>
          <a:effectLst>
            <a:outerShdw blurRad="88900" dist="50800" dir="16200000" algn="bl" rotWithShape="0">
              <a:srgbClr val="FF5FA8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-22860" y="1417320"/>
            <a:ext cx="91440" cy="91440"/>
          </a:xfrm>
          <a:prstGeom prst="ellipse">
            <a:avLst/>
          </a:prstGeom>
          <a:solidFill>
            <a:srgbClr val="FF5FA8"/>
          </a:solidFill>
          <a:ln w="6350">
            <a:solidFill>
              <a:srgbClr val="FF5FA8"/>
            </a:solidFill>
            <a:prstDash val="solid"/>
          </a:ln>
          <a:effectLst>
            <a:outerShdw blurRad="1397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658" y="144383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-13716" y="3072384"/>
            <a:ext cx="73152" cy="73152"/>
          </a:xfrm>
          <a:prstGeom prst="ellipse">
            <a:avLst/>
          </a:prstGeom>
          <a:solidFill>
            <a:srgbClr val="FF5FA8"/>
          </a:solidFill>
          <a:ln w="6350">
            <a:solidFill>
              <a:srgbClr val="FF5FA8"/>
            </a:solidFill>
            <a:prstDash val="solid"/>
          </a:ln>
          <a:effectLst>
            <a:outerShdw blurRad="1397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498" y="309359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955280" y="310896"/>
            <a:ext cx="502920" cy="0"/>
          </a:xfrm>
          <a:prstGeom prst="line">
            <a:avLst/>
          </a:prstGeom>
          <a:noFill/>
          <a:ln w="12700">
            <a:solidFill>
              <a:srgbClr val="FF5FA8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8458200" y="182880"/>
            <a:ext cx="338328" cy="274320"/>
          </a:xfrm>
          <a:prstGeom prst="line">
            <a:avLst/>
          </a:prstGeom>
          <a:noFill/>
          <a:ln w="12700">
            <a:solidFill>
              <a:srgbClr val="FF5FA8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955280" y="310896"/>
            <a:ext cx="274320" cy="219456"/>
          </a:xfrm>
          <a:prstGeom prst="line">
            <a:avLst/>
          </a:prstGeom>
          <a:noFill/>
          <a:ln w="12700">
            <a:solidFill>
              <a:srgbClr val="FF5FA8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914132" y="269748"/>
            <a:ext cx="82296" cy="82296"/>
          </a:xfrm>
          <a:prstGeom prst="ellipse">
            <a:avLst/>
          </a:prstGeom>
          <a:solidFill>
            <a:srgbClr val="FF5FA8"/>
          </a:solidFill>
          <a:ln w="6350">
            <a:solidFill>
              <a:srgbClr val="FF5FA8"/>
            </a:solidFill>
            <a:prstDash val="solid"/>
          </a:ln>
          <a:effectLst>
            <a:outerShdw blurRad="1397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937998" y="293614"/>
            <a:ext cx="34564" cy="3456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407908" y="132588"/>
            <a:ext cx="100584" cy="100584"/>
          </a:xfrm>
          <a:prstGeom prst="ellipse">
            <a:avLst/>
          </a:prstGeom>
          <a:solidFill>
            <a:srgbClr val="FF5FA8"/>
          </a:solidFill>
          <a:ln w="6350">
            <a:solidFill>
              <a:srgbClr val="FF5FA8"/>
            </a:solidFill>
            <a:prstDash val="solid"/>
          </a:ln>
          <a:effectLst>
            <a:outerShdw blurRad="1397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437077" y="16175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759952" y="420624"/>
            <a:ext cx="73152" cy="73152"/>
          </a:xfrm>
          <a:prstGeom prst="ellipse">
            <a:avLst/>
          </a:prstGeom>
          <a:solidFill>
            <a:srgbClr val="FF5FA8"/>
          </a:solidFill>
          <a:ln w="6350">
            <a:solidFill>
              <a:srgbClr val="FF5FA8"/>
            </a:solidFill>
            <a:prstDash val="solid"/>
          </a:ln>
          <a:effectLst>
            <a:outerShdw blurRad="1397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781166" y="44183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197596" y="498348"/>
            <a:ext cx="64008" cy="64008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216158" y="516910"/>
            <a:ext cx="26883" cy="26883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74320" y="82296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GDPR Strategy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74320" y="420624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Machine-first data processing with strict personal-data controls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0" y="4956048"/>
            <a:ext cx="9144000" cy="16459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274320" y="4974336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 ·  SilverTrust Consulting  ·  Confidential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8229600" y="497433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9/13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274320" y="841248"/>
            <a:ext cx="4224528" cy="1920240"/>
          </a:xfrm>
          <a:prstGeom prst="rect">
            <a:avLst/>
          </a:prstGeom>
          <a:solidFill>
            <a:srgbClr val="0A1430"/>
          </a:solidFill>
          <a:ln w="12700">
            <a:solidFill>
              <a:srgbClr val="FF5FA8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274320" y="841248"/>
            <a:ext cx="4224528" cy="54864"/>
          </a:xfrm>
          <a:prstGeom prst="rect">
            <a:avLst/>
          </a:prstGeom>
          <a:solidFill>
            <a:srgbClr val="FF5FA8">
              <a:alpha val="18000"/>
            </a:srgbClr>
          </a:solidFill>
          <a:ln w="12700">
            <a:solidFill>
              <a:srgbClr val="FF5FA8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57200" y="98755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5FA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data is processed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57200" y="1298448"/>
            <a:ext cx="3886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platform primarily processes machine and operational data. Limited personal data may include: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57200" y="1828800"/>
            <a:ext cx="1828800" cy="329184"/>
          </a:xfrm>
          <a:prstGeom prst="rect">
            <a:avLst/>
          </a:prstGeom>
          <a:solidFill>
            <a:srgbClr val="08112A"/>
          </a:solidFill>
          <a:ln w="6350">
            <a:solidFill>
              <a:srgbClr val="FF5FA8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548640" y="1828800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 accounts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2423160" y="1828800"/>
            <a:ext cx="1828800" cy="329184"/>
          </a:xfrm>
          <a:prstGeom prst="rect">
            <a:avLst/>
          </a:prstGeom>
          <a:solidFill>
            <a:srgbClr val="08112A"/>
          </a:solidFill>
          <a:ln w="6350">
            <a:solidFill>
              <a:srgbClr val="FF5FA8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2514600" y="1828800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Employee names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2249424"/>
            <a:ext cx="1828800" cy="329184"/>
          </a:xfrm>
          <a:prstGeom prst="rect">
            <a:avLst/>
          </a:prstGeom>
          <a:solidFill>
            <a:srgbClr val="08112A"/>
          </a:solidFill>
          <a:ln w="6350">
            <a:solidFill>
              <a:srgbClr val="FF5FA8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548640" y="2249424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Shift information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2423160" y="2249424"/>
            <a:ext cx="1828800" cy="329184"/>
          </a:xfrm>
          <a:prstGeom prst="rect">
            <a:avLst/>
          </a:prstGeom>
          <a:solidFill>
            <a:srgbClr val="08112A"/>
          </a:solidFill>
          <a:ln w="6350">
            <a:solidFill>
              <a:srgbClr val="FF5FA8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2514600" y="2249424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Maintenance records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274320" y="2871216"/>
            <a:ext cx="4224528" cy="1883664"/>
          </a:xfrm>
          <a:prstGeom prst="rect">
            <a:avLst/>
          </a:prstGeom>
          <a:solidFill>
            <a:srgbClr val="0A1430"/>
          </a:solidFill>
          <a:ln w="12700">
            <a:solidFill>
              <a:srgbClr val="3DEFC4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274320" y="2871216"/>
            <a:ext cx="91440" cy="1883664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635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475488" y="299923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C2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Lawful basis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475488" y="331012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Legitimate Interest</a:t>
            </a:r>
            <a:endParaRPr lang="en-US" sz="2000" dirty="0"/>
          </a:p>
        </p:txBody>
      </p:sp>
      <p:sp>
        <p:nvSpPr>
          <p:cNvPr id="43" name="Text 41"/>
          <p:cNvSpPr/>
          <p:nvPr/>
        </p:nvSpPr>
        <p:spPr>
          <a:xfrm>
            <a:off x="475488" y="3767328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C2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Article 6(1)(f) GDPR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475488" y="4078224"/>
            <a:ext cx="39319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Processing is necessary for legitimate operational interests, balanced against data-subject rights through the controls applied.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4663440" y="841248"/>
            <a:ext cx="4224528" cy="3913632"/>
          </a:xfrm>
          <a:prstGeom prst="rect">
            <a:avLst/>
          </a:prstGeom>
          <a:solidFill>
            <a:srgbClr val="0A1430"/>
          </a:solidFill>
          <a:ln w="12700">
            <a:solidFill>
              <a:srgbClr val="3DEFC4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4663440" y="841248"/>
            <a:ext cx="4224528" cy="457200"/>
          </a:xfrm>
          <a:prstGeom prst="rect">
            <a:avLst/>
          </a:prstGeom>
          <a:solidFill>
            <a:srgbClr val="3DEFC4">
              <a:alpha val="18000"/>
            </a:srgbClr>
          </a:solidFill>
          <a:ln w="12700">
            <a:solidFill>
              <a:srgbClr val="3DEFC4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4846320" y="84124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Controls in place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4846320" y="1426464"/>
            <a:ext cx="3858768" cy="548640"/>
          </a:xfrm>
          <a:prstGeom prst="rect">
            <a:avLst/>
          </a:prstGeom>
          <a:solidFill>
            <a:srgbClr val="08112A"/>
          </a:solidFill>
          <a:ln w="6350">
            <a:solidFill>
              <a:srgbClr val="3DEFC4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4846320" y="1426464"/>
            <a:ext cx="54864" cy="548640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635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5010912" y="148132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Role-based access control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5010912" y="171907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Only authorized users reach permitted data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846320" y="2066544"/>
            <a:ext cx="3858768" cy="548640"/>
          </a:xfrm>
          <a:prstGeom prst="rect">
            <a:avLst/>
          </a:prstGeom>
          <a:solidFill>
            <a:srgbClr val="08112A"/>
          </a:solidFill>
          <a:ln w="6350">
            <a:solidFill>
              <a:srgbClr val="3DEFC4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4846320" y="2066544"/>
            <a:ext cx="54864" cy="548640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635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5010912" y="212140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Encryption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5010912" y="235915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protected at rest and in transit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846320" y="2706624"/>
            <a:ext cx="3858768" cy="548640"/>
          </a:xfrm>
          <a:prstGeom prst="rect">
            <a:avLst/>
          </a:prstGeom>
          <a:solidFill>
            <a:srgbClr val="08112A"/>
          </a:solidFill>
          <a:ln w="6350">
            <a:solidFill>
              <a:srgbClr val="3DEFC4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Shape 55"/>
          <p:cNvSpPr/>
          <p:nvPr/>
        </p:nvSpPr>
        <p:spPr>
          <a:xfrm>
            <a:off x="4846320" y="2706624"/>
            <a:ext cx="54864" cy="548640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635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5010912" y="276148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Audit logging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5010912" y="299923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access and request is recorded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4846320" y="3346704"/>
            <a:ext cx="3858768" cy="548640"/>
          </a:xfrm>
          <a:prstGeom prst="rect">
            <a:avLst/>
          </a:prstGeom>
          <a:solidFill>
            <a:srgbClr val="08112A"/>
          </a:solidFill>
          <a:ln w="6350">
            <a:solidFill>
              <a:srgbClr val="3DEFC4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>
            <a:off x="4846320" y="3346704"/>
            <a:ext cx="54864" cy="548640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635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5010912" y="340156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Pseudonymization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5010912" y="363931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where appropriate to limit exposure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4846320" y="3986784"/>
            <a:ext cx="3858768" cy="548640"/>
          </a:xfrm>
          <a:prstGeom prst="rect">
            <a:avLst/>
          </a:prstGeom>
          <a:solidFill>
            <a:srgbClr val="08112A"/>
          </a:solidFill>
          <a:ln w="6350">
            <a:solidFill>
              <a:srgbClr val="3DEFC4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4846320" y="3986784"/>
            <a:ext cx="54864" cy="548640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635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6" name="Text 64"/>
          <p:cNvSpPr/>
          <p:nvPr/>
        </p:nvSpPr>
        <p:spPr>
          <a:xfrm>
            <a:off x="5010912" y="40416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minimization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5010912" y="427939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Only required fields are processed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306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0" y="-1828800"/>
            <a:ext cx="5029200" cy="5029200"/>
          </a:xfrm>
          <a:prstGeom prst="ellipse">
            <a:avLst/>
          </a:prstGeom>
          <a:solidFill>
            <a:srgbClr val="0B1E4D">
              <a:alpha val="20000"/>
            </a:srgbClr>
          </a:solidFill>
          <a:ln w="12700">
            <a:solidFill>
              <a:srgbClr val="0B1E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20117"/>
          </a:xfrm>
          <a:prstGeom prst="rect">
            <a:avLst/>
          </a:prstGeom>
          <a:solidFill>
            <a:srgbClr val="A78BFF"/>
          </a:solidFill>
          <a:ln w="12700">
            <a:solidFill>
              <a:srgbClr val="A78BFF"/>
            </a:solidFill>
            <a:prstDash val="solid"/>
          </a:ln>
          <a:effectLst>
            <a:outerShdw blurRad="1143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A78BFF"/>
          </a:solidFill>
          <a:ln w="12700">
            <a:solidFill>
              <a:srgbClr val="A78BFF"/>
            </a:solidFill>
            <a:prstDash val="solid"/>
          </a:ln>
          <a:effectLst>
            <a:outerShdw blurRad="88900" dist="50800" dir="16200000" algn="bl" rotWithShape="0">
              <a:srgbClr val="A78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-22860" y="1417320"/>
            <a:ext cx="91440" cy="91440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658" y="144383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-13716" y="3072384"/>
            <a:ext cx="73152" cy="73152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498" y="309359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955280" y="310896"/>
            <a:ext cx="502920" cy="0"/>
          </a:xfrm>
          <a:prstGeom prst="line">
            <a:avLst/>
          </a:prstGeom>
          <a:noFill/>
          <a:ln w="12700">
            <a:solidFill>
              <a:srgbClr val="A78BFF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8458200" y="182880"/>
            <a:ext cx="338328" cy="274320"/>
          </a:xfrm>
          <a:prstGeom prst="line">
            <a:avLst/>
          </a:prstGeom>
          <a:noFill/>
          <a:ln w="12700">
            <a:solidFill>
              <a:srgbClr val="A78BFF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955280" y="310896"/>
            <a:ext cx="274320" cy="219456"/>
          </a:xfrm>
          <a:prstGeom prst="line">
            <a:avLst/>
          </a:prstGeom>
          <a:noFill/>
          <a:ln w="12700">
            <a:solidFill>
              <a:srgbClr val="A78BFF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914132" y="269748"/>
            <a:ext cx="82296" cy="82296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937998" y="293614"/>
            <a:ext cx="34564" cy="3456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407908" y="132588"/>
            <a:ext cx="100584" cy="100584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437077" y="16175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759952" y="420624"/>
            <a:ext cx="73152" cy="73152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781166" y="44183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197596" y="498348"/>
            <a:ext cx="64008" cy="64008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216158" y="516910"/>
            <a:ext cx="26883" cy="26883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74320" y="82296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NDA &amp; IP Protection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74320" y="420624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Customer NDAs and OEM agreements enforced by design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0" y="4956048"/>
            <a:ext cx="9144000" cy="16459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274320" y="4974336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 ·  SilverTrust Consulting  ·  Confidential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8229600" y="497433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10/13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274320" y="841248"/>
            <a:ext cx="3840480" cy="3913632"/>
          </a:xfrm>
          <a:prstGeom prst="rect">
            <a:avLst/>
          </a:prstGeom>
          <a:solidFill>
            <a:srgbClr val="0A1430"/>
          </a:solidFill>
          <a:ln w="12700">
            <a:solidFill>
              <a:srgbClr val="A78BFF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274320" y="841248"/>
            <a:ext cx="91440" cy="3913632"/>
          </a:xfrm>
          <a:prstGeom prst="rect">
            <a:avLst/>
          </a:prstGeom>
          <a:solidFill>
            <a:srgbClr val="A78BFF"/>
          </a:solidFill>
          <a:ln w="12700">
            <a:solidFill>
              <a:srgbClr val="A78BFF"/>
            </a:solidFill>
            <a:prstDash val="solid"/>
          </a:ln>
          <a:effectLst>
            <a:outerShdw blurRad="88900" dist="50800" dir="16200000" algn="bl" rotWithShape="0">
              <a:srgbClr val="A78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75488" y="1024128"/>
            <a:ext cx="3520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78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governing principle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75488" y="1371600"/>
            <a:ext cx="35204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AI can only access information that the requesting user is authorized to view.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475488" y="2697480"/>
            <a:ext cx="35204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operates under customer NDAs and OEM agreements. Protection is not a policy layer on top — it is enforced at every request, end to end.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279392" y="877824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5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Protection measures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279392" y="1243584"/>
            <a:ext cx="2212848" cy="987552"/>
          </a:xfrm>
          <a:prstGeom prst="rect">
            <a:avLst/>
          </a:prstGeom>
          <a:solidFill>
            <a:srgbClr val="0A1430"/>
          </a:solidFill>
          <a:ln w="10160">
            <a:solidFill>
              <a:srgbClr val="A78BFF">
                <a:alpha val="50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4279392" y="1243584"/>
            <a:ext cx="2212848" cy="45720"/>
          </a:xfrm>
          <a:prstGeom prst="rect">
            <a:avLst/>
          </a:prstGeom>
          <a:solidFill>
            <a:srgbClr val="A78BFF"/>
          </a:solidFill>
          <a:ln w="12700">
            <a:solidFill>
              <a:srgbClr val="A78BFF"/>
            </a:solidFill>
            <a:prstDash val="solid"/>
          </a:ln>
          <a:effectLst>
            <a:outerShdw blurRad="63500" dist="50800" dir="16200000" algn="bl" rotWithShape="0">
              <a:srgbClr val="A78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4507992" y="1545336"/>
            <a:ext cx="128016" cy="128016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4545117" y="1582461"/>
            <a:ext cx="53767" cy="53767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425696" y="1463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425696" y="1810512"/>
            <a:ext cx="197510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On-premises deployment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620256" y="1243584"/>
            <a:ext cx="2212848" cy="987552"/>
          </a:xfrm>
          <a:prstGeom prst="rect">
            <a:avLst/>
          </a:prstGeom>
          <a:solidFill>
            <a:srgbClr val="0A1430"/>
          </a:solidFill>
          <a:ln w="10160">
            <a:solidFill>
              <a:srgbClr val="A78BFF">
                <a:alpha val="50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6620256" y="1243584"/>
            <a:ext cx="2212848" cy="45720"/>
          </a:xfrm>
          <a:prstGeom prst="rect">
            <a:avLst/>
          </a:prstGeom>
          <a:solidFill>
            <a:srgbClr val="A78BFF"/>
          </a:solidFill>
          <a:ln w="12700">
            <a:solidFill>
              <a:srgbClr val="A78BFF"/>
            </a:solidFill>
            <a:prstDash val="solid"/>
          </a:ln>
          <a:effectLst>
            <a:outerShdw blurRad="63500" dist="50800" dir="16200000" algn="bl" rotWithShape="0">
              <a:srgbClr val="A78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6848856" y="1545336"/>
            <a:ext cx="128016" cy="128016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6885981" y="1582461"/>
            <a:ext cx="53767" cy="53767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6766560" y="1463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766560" y="1810512"/>
            <a:ext cx="197510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unrestricted external data transfer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4279392" y="2377440"/>
            <a:ext cx="2212848" cy="987552"/>
          </a:xfrm>
          <a:prstGeom prst="rect">
            <a:avLst/>
          </a:prstGeom>
          <a:solidFill>
            <a:srgbClr val="0A1430"/>
          </a:solidFill>
          <a:ln w="10160">
            <a:solidFill>
              <a:srgbClr val="A78BFF">
                <a:alpha val="50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4279392" y="2377440"/>
            <a:ext cx="2212848" cy="45720"/>
          </a:xfrm>
          <a:prstGeom prst="rect">
            <a:avLst/>
          </a:prstGeom>
          <a:solidFill>
            <a:srgbClr val="A78BFF"/>
          </a:solidFill>
          <a:ln w="12700">
            <a:solidFill>
              <a:srgbClr val="A78BFF"/>
            </a:solidFill>
            <a:prstDash val="solid"/>
          </a:ln>
          <a:effectLst>
            <a:outerShdw blurRad="63500" dist="50800" dir="16200000" algn="bl" rotWithShape="0">
              <a:srgbClr val="A78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4507992" y="2679192"/>
            <a:ext cx="128016" cy="128016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4545117" y="2716317"/>
            <a:ext cx="53767" cy="53767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4425696" y="25968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4425696" y="2944368"/>
            <a:ext cx="197510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 classification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6620256" y="2377440"/>
            <a:ext cx="2212848" cy="987552"/>
          </a:xfrm>
          <a:prstGeom prst="rect">
            <a:avLst/>
          </a:prstGeom>
          <a:solidFill>
            <a:srgbClr val="0A1430"/>
          </a:solidFill>
          <a:ln w="10160">
            <a:solidFill>
              <a:srgbClr val="A78BFF">
                <a:alpha val="50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6620256" y="2377440"/>
            <a:ext cx="2212848" cy="45720"/>
          </a:xfrm>
          <a:prstGeom prst="rect">
            <a:avLst/>
          </a:prstGeom>
          <a:solidFill>
            <a:srgbClr val="A78BFF"/>
          </a:solidFill>
          <a:ln w="12700">
            <a:solidFill>
              <a:srgbClr val="A78BFF"/>
            </a:solidFill>
            <a:prstDash val="solid"/>
          </a:ln>
          <a:effectLst>
            <a:outerShdw blurRad="63500" dist="50800" dir="16200000" algn="bl" rotWithShape="0">
              <a:srgbClr val="A78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6848856" y="2679192"/>
            <a:ext cx="128016" cy="128016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6885981" y="2716317"/>
            <a:ext cx="53767" cy="53767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6766560" y="25968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6766560" y="2944368"/>
            <a:ext cx="197510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Role-based permissions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4279392" y="3511296"/>
            <a:ext cx="2212848" cy="987552"/>
          </a:xfrm>
          <a:prstGeom prst="rect">
            <a:avLst/>
          </a:prstGeom>
          <a:solidFill>
            <a:srgbClr val="0A1430"/>
          </a:solidFill>
          <a:ln w="10160">
            <a:solidFill>
              <a:srgbClr val="A78BFF">
                <a:alpha val="50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4279392" y="3511296"/>
            <a:ext cx="2212848" cy="45720"/>
          </a:xfrm>
          <a:prstGeom prst="rect">
            <a:avLst/>
          </a:prstGeom>
          <a:solidFill>
            <a:srgbClr val="A78BFF"/>
          </a:solidFill>
          <a:ln w="12700">
            <a:solidFill>
              <a:srgbClr val="A78BFF"/>
            </a:solidFill>
            <a:prstDash val="solid"/>
          </a:ln>
          <a:effectLst>
            <a:outerShdw blurRad="63500" dist="50800" dir="16200000" algn="bl" rotWithShape="0">
              <a:srgbClr val="A78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4507992" y="3813048"/>
            <a:ext cx="128016" cy="128016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4545117" y="3850173"/>
            <a:ext cx="53767" cy="53767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4425696" y="37307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4425696" y="4078224"/>
            <a:ext cx="197510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Restricted customer data access</a:t>
            </a:r>
            <a:endParaRPr lang="en-US" sz="1050" dirty="0"/>
          </a:p>
        </p:txBody>
      </p:sp>
      <p:sp>
        <p:nvSpPr>
          <p:cNvPr id="63" name="Shape 61"/>
          <p:cNvSpPr/>
          <p:nvPr/>
        </p:nvSpPr>
        <p:spPr>
          <a:xfrm>
            <a:off x="6620256" y="3511296"/>
            <a:ext cx="2212848" cy="987552"/>
          </a:xfrm>
          <a:prstGeom prst="rect">
            <a:avLst/>
          </a:prstGeom>
          <a:solidFill>
            <a:srgbClr val="0A1430"/>
          </a:solidFill>
          <a:ln w="10160">
            <a:solidFill>
              <a:srgbClr val="A78BFF">
                <a:alpha val="50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4" name="Shape 62"/>
          <p:cNvSpPr/>
          <p:nvPr/>
        </p:nvSpPr>
        <p:spPr>
          <a:xfrm>
            <a:off x="6620256" y="3511296"/>
            <a:ext cx="2212848" cy="45720"/>
          </a:xfrm>
          <a:prstGeom prst="rect">
            <a:avLst/>
          </a:prstGeom>
          <a:solidFill>
            <a:srgbClr val="A78BFF"/>
          </a:solidFill>
          <a:ln w="12700">
            <a:solidFill>
              <a:srgbClr val="A78BFF"/>
            </a:solidFill>
            <a:prstDash val="solid"/>
          </a:ln>
          <a:effectLst>
            <a:outerShdw blurRad="63500" dist="50800" dir="16200000" algn="bl" rotWithShape="0">
              <a:srgbClr val="A78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6848856" y="3813048"/>
            <a:ext cx="128016" cy="128016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6" name="Shape 64"/>
          <p:cNvSpPr/>
          <p:nvPr/>
        </p:nvSpPr>
        <p:spPr>
          <a:xfrm>
            <a:off x="6885981" y="3850173"/>
            <a:ext cx="53767" cy="53767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65"/>
          <p:cNvSpPr/>
          <p:nvPr/>
        </p:nvSpPr>
        <p:spPr>
          <a:xfrm>
            <a:off x="6766560" y="37307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6766560" y="4078224"/>
            <a:ext cx="197510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Audit trail for all AI requests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306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0" y="-1828800"/>
            <a:ext cx="5029200" cy="5029200"/>
          </a:xfrm>
          <a:prstGeom prst="ellipse">
            <a:avLst/>
          </a:prstGeom>
          <a:solidFill>
            <a:srgbClr val="0B1E4D">
              <a:alpha val="20000"/>
            </a:srgbClr>
          </a:solidFill>
          <a:ln w="12700">
            <a:solidFill>
              <a:srgbClr val="0B1E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20117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1143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889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-22860" y="1417320"/>
            <a:ext cx="91440" cy="91440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658" y="144383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-13716" y="3072384"/>
            <a:ext cx="73152" cy="73152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498" y="309359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955280" y="310896"/>
            <a:ext cx="502920" cy="0"/>
          </a:xfrm>
          <a:prstGeom prst="line">
            <a:avLst/>
          </a:prstGeom>
          <a:noFill/>
          <a:ln w="12700">
            <a:solidFill>
              <a:srgbClr val="3DEFC4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8458200" y="182880"/>
            <a:ext cx="338328" cy="274320"/>
          </a:xfrm>
          <a:prstGeom prst="line">
            <a:avLst/>
          </a:prstGeom>
          <a:noFill/>
          <a:ln w="12700">
            <a:solidFill>
              <a:srgbClr val="3DEFC4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955280" y="310896"/>
            <a:ext cx="274320" cy="219456"/>
          </a:xfrm>
          <a:prstGeom prst="line">
            <a:avLst/>
          </a:prstGeom>
          <a:noFill/>
          <a:ln w="12700">
            <a:solidFill>
              <a:srgbClr val="3DEFC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914132" y="269748"/>
            <a:ext cx="82296" cy="82296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937998" y="293614"/>
            <a:ext cx="34564" cy="3456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407908" y="132588"/>
            <a:ext cx="100584" cy="100584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437077" y="16175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759952" y="420624"/>
            <a:ext cx="73152" cy="73152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781166" y="44183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197596" y="498348"/>
            <a:ext cx="64008" cy="64008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216158" y="516910"/>
            <a:ext cx="26883" cy="26883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74320" y="82296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EU AI Act Classification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74320" y="420624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this system qualifies as Minimal Risk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0" y="4956048"/>
            <a:ext cx="9144000" cy="16459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274320" y="4974336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 ·  SilverTrust Consulting  ·  Confidential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8229600" y="497433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11/13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274320" y="841248"/>
            <a:ext cx="3200400" cy="3913632"/>
          </a:xfrm>
          <a:prstGeom prst="rect">
            <a:avLst/>
          </a:prstGeom>
          <a:solidFill>
            <a:srgbClr val="0A1430"/>
          </a:solidFill>
          <a:ln w="12700">
            <a:solidFill>
              <a:srgbClr val="3DEFC4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274320" y="841248"/>
            <a:ext cx="3200400" cy="54864"/>
          </a:xfrm>
          <a:prstGeom prst="rect">
            <a:avLst/>
          </a:prstGeom>
          <a:solidFill>
            <a:srgbClr val="3DEFC4">
              <a:alpha val="18000"/>
            </a:srgbClr>
          </a:solidFill>
          <a:ln w="12700">
            <a:solidFill>
              <a:srgbClr val="3DEFC4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274320" y="11887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 LEVEL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274320" y="1517904"/>
            <a:ext cx="3200400" cy="640080"/>
          </a:xfrm>
          <a:prstGeom prst="rect">
            <a:avLst/>
          </a:prstGeom>
          <a:noFill/>
          <a:ln/>
          <a:effectLst>
            <a:outerShdw blurRad="177800" dist="50800" dir="16200000" algn="bl" rotWithShape="0">
              <a:srgbClr val="3DEFC4">
                <a:alpha val="40000"/>
              </a:srgbClr>
            </a:outerShdw>
          </a:effectLst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3DEF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Minimal</a:t>
            </a:r>
            <a:endParaRPr lang="en-US" sz="3400" dirty="0"/>
          </a:p>
        </p:txBody>
      </p:sp>
      <p:sp>
        <p:nvSpPr>
          <p:cNvPr id="31" name="Text 29"/>
          <p:cNvSpPr/>
          <p:nvPr/>
        </p:nvSpPr>
        <p:spPr>
          <a:xfrm>
            <a:off x="274320" y="2139696"/>
            <a:ext cx="3200400" cy="548640"/>
          </a:xfrm>
          <a:prstGeom prst="rect">
            <a:avLst/>
          </a:prstGeom>
          <a:noFill/>
          <a:ln/>
          <a:effectLst>
            <a:outerShdw blurRad="177800" dist="50800" dir="16200000" algn="bl" rotWithShape="0">
              <a:srgbClr val="3DEFC4">
                <a:alpha val="40000"/>
              </a:srgbClr>
            </a:outerShdw>
          </a:effectLst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3DEF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</a:t>
            </a:r>
            <a:endParaRPr lang="en-US" sz="3400" dirty="0"/>
          </a:p>
        </p:txBody>
      </p:sp>
      <p:sp>
        <p:nvSpPr>
          <p:cNvPr id="32" name="Shape 30"/>
          <p:cNvSpPr/>
          <p:nvPr/>
        </p:nvSpPr>
        <p:spPr>
          <a:xfrm>
            <a:off x="1170432" y="2889504"/>
            <a:ext cx="1371600" cy="18288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274320" y="3035808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Lowest tier under the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EU AI Act framework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3639312" y="877824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5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Justification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3639312" y="1225296"/>
            <a:ext cx="2798064" cy="402336"/>
          </a:xfrm>
          <a:prstGeom prst="rect">
            <a:avLst/>
          </a:prstGeom>
          <a:solidFill>
            <a:srgbClr val="0A1430"/>
          </a:solidFill>
          <a:ln w="7620">
            <a:solidFill>
              <a:srgbClr val="3DEFC4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3749040" y="1380744"/>
            <a:ext cx="91440" cy="91440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3775558" y="1407262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3931920" y="1225296"/>
            <a:ext cx="24505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automated decisions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3639312" y="1719072"/>
            <a:ext cx="2798064" cy="402336"/>
          </a:xfrm>
          <a:prstGeom prst="rect">
            <a:avLst/>
          </a:prstGeom>
          <a:solidFill>
            <a:srgbClr val="0A1430"/>
          </a:solidFill>
          <a:ln w="7620">
            <a:solidFill>
              <a:srgbClr val="3DEFC4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3749040" y="1874520"/>
            <a:ext cx="91440" cy="91440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3775558" y="190103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3931920" y="1719072"/>
            <a:ext cx="24505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machine control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3639312" y="2212848"/>
            <a:ext cx="2798064" cy="402336"/>
          </a:xfrm>
          <a:prstGeom prst="rect">
            <a:avLst/>
          </a:prstGeom>
          <a:solidFill>
            <a:srgbClr val="0A1430"/>
          </a:solidFill>
          <a:ln w="7620">
            <a:solidFill>
              <a:srgbClr val="3DEFC4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3749040" y="2368296"/>
            <a:ext cx="91440" cy="91440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3775558" y="2394814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3931920" y="2212848"/>
            <a:ext cx="24505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employee evaluation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3639312" y="2706624"/>
            <a:ext cx="2798064" cy="402336"/>
          </a:xfrm>
          <a:prstGeom prst="rect">
            <a:avLst/>
          </a:prstGeom>
          <a:solidFill>
            <a:srgbClr val="0A1430"/>
          </a:solidFill>
          <a:ln w="7620">
            <a:solidFill>
              <a:srgbClr val="3DEFC4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3749040" y="2862072"/>
            <a:ext cx="91440" cy="91440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3775558" y="2888590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3931920" y="2706624"/>
            <a:ext cx="24505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safety-critical operation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3639312" y="3200400"/>
            <a:ext cx="2798064" cy="402336"/>
          </a:xfrm>
          <a:prstGeom prst="rect">
            <a:avLst/>
          </a:prstGeom>
          <a:solidFill>
            <a:srgbClr val="0A1430"/>
          </a:solidFill>
          <a:ln w="7620">
            <a:solidFill>
              <a:srgbClr val="3DEFC4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3749040" y="3355848"/>
            <a:ext cx="91440" cy="91440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3775558" y="3382366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3931920" y="3200400"/>
            <a:ext cx="24505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approval required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6565392" y="877824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5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Role allocation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6565392" y="1225296"/>
            <a:ext cx="2322576" cy="1371600"/>
          </a:xfrm>
          <a:prstGeom prst="rect">
            <a:avLst/>
          </a:prstGeom>
          <a:solidFill>
            <a:srgbClr val="0A1430"/>
          </a:solidFill>
          <a:ln w="12700">
            <a:solidFill>
              <a:srgbClr val="5B9BFF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7" name="Shape 55"/>
          <p:cNvSpPr/>
          <p:nvPr/>
        </p:nvSpPr>
        <p:spPr>
          <a:xfrm>
            <a:off x="6565392" y="1225296"/>
            <a:ext cx="2322576" cy="45720"/>
          </a:xfrm>
          <a:prstGeom prst="rect">
            <a:avLst/>
          </a:prstGeom>
          <a:solidFill>
            <a:srgbClr val="5B9BFF"/>
          </a:solidFill>
          <a:ln w="12700">
            <a:solidFill>
              <a:srgbClr val="5B9BFF"/>
            </a:solidFill>
            <a:prstDash val="solid"/>
          </a:ln>
          <a:effectLst>
            <a:outerShdw blurRad="76200" dist="50800" dir="16200000" algn="bl" rotWithShape="0">
              <a:srgbClr val="5B9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6711696" y="13716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SilverTrust</a:t>
            </a:r>
            <a:endParaRPr lang="en-US" sz="1500" dirty="0"/>
          </a:p>
        </p:txBody>
      </p:sp>
      <p:sp>
        <p:nvSpPr>
          <p:cNvPr id="59" name="Text 57"/>
          <p:cNvSpPr/>
          <p:nvPr/>
        </p:nvSpPr>
        <p:spPr>
          <a:xfrm>
            <a:off x="6711696" y="175564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9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Provider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6711696" y="2048256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Builds and supplies the AI system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565392" y="2706624"/>
            <a:ext cx="2322576" cy="1371600"/>
          </a:xfrm>
          <a:prstGeom prst="rect">
            <a:avLst/>
          </a:prstGeom>
          <a:solidFill>
            <a:srgbClr val="0A1430"/>
          </a:solidFill>
          <a:ln w="12700">
            <a:solidFill>
              <a:srgbClr val="36E0FF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2" name="Shape 60"/>
          <p:cNvSpPr/>
          <p:nvPr/>
        </p:nvSpPr>
        <p:spPr>
          <a:xfrm>
            <a:off x="6565392" y="2706624"/>
            <a:ext cx="2322576" cy="45720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76200" dist="50800" dir="16200000" algn="bl" rotWithShape="0">
              <a:srgbClr val="36E0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3" name="Text 61"/>
          <p:cNvSpPr/>
          <p:nvPr/>
        </p:nvSpPr>
        <p:spPr>
          <a:xfrm>
            <a:off x="6711696" y="2852928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</a:t>
            </a:r>
            <a:endParaRPr lang="en-US" sz="1500" dirty="0"/>
          </a:p>
        </p:txBody>
      </p:sp>
      <p:sp>
        <p:nvSpPr>
          <p:cNvPr id="64" name="Text 62"/>
          <p:cNvSpPr/>
          <p:nvPr/>
        </p:nvSpPr>
        <p:spPr>
          <a:xfrm>
            <a:off x="6711696" y="3236976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6E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Deployer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6711696" y="3529584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Operates the system in production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306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0" y="-1828800"/>
            <a:ext cx="5029200" cy="5029200"/>
          </a:xfrm>
          <a:prstGeom prst="ellipse">
            <a:avLst/>
          </a:prstGeom>
          <a:solidFill>
            <a:srgbClr val="0B1E4D">
              <a:alpha val="20000"/>
            </a:srgbClr>
          </a:solidFill>
          <a:ln w="12700">
            <a:solidFill>
              <a:srgbClr val="0B1E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20117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1143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88900" dist="50800" dir="16200000" algn="bl" rotWithShape="0">
              <a:srgbClr val="36E0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-22860" y="1417320"/>
            <a:ext cx="91440" cy="91440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658" y="144383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-13716" y="3072384"/>
            <a:ext cx="73152" cy="73152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498" y="309359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955280" y="310896"/>
            <a:ext cx="502920" cy="0"/>
          </a:xfrm>
          <a:prstGeom prst="line">
            <a:avLst/>
          </a:prstGeom>
          <a:noFill/>
          <a:ln w="12700">
            <a:solidFill>
              <a:srgbClr val="36E0FF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8458200" y="182880"/>
            <a:ext cx="338328" cy="274320"/>
          </a:xfrm>
          <a:prstGeom prst="line">
            <a:avLst/>
          </a:prstGeom>
          <a:noFill/>
          <a:ln w="12700">
            <a:solidFill>
              <a:srgbClr val="36E0FF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955280" y="310896"/>
            <a:ext cx="274320" cy="219456"/>
          </a:xfrm>
          <a:prstGeom prst="line">
            <a:avLst/>
          </a:prstGeom>
          <a:noFill/>
          <a:ln w="12700">
            <a:solidFill>
              <a:srgbClr val="36E0FF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914132" y="269748"/>
            <a:ext cx="82296" cy="82296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937998" y="293614"/>
            <a:ext cx="34564" cy="3456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407908" y="132588"/>
            <a:ext cx="100584" cy="100584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437077" y="16175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759952" y="420624"/>
            <a:ext cx="73152" cy="73152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781166" y="44183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197596" y="498348"/>
            <a:ext cx="64008" cy="64008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216158" y="516910"/>
            <a:ext cx="26883" cy="26883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74320" y="82296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LangSmith Monitoring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74320" y="420624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Full observability of the AI system — not the production systems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0" y="4956048"/>
            <a:ext cx="9144000" cy="16459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274320" y="4974336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 ·  SilverTrust Consulting  ·  Confidential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8229600" y="497433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12/13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274320" y="7818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5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is tracked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74320" y="1069848"/>
            <a:ext cx="2176272" cy="713232"/>
          </a:xfrm>
          <a:prstGeom prst="rect">
            <a:avLst/>
          </a:prstGeom>
          <a:solidFill>
            <a:srgbClr val="0A1430"/>
          </a:solidFill>
          <a:ln w="7620">
            <a:solidFill>
              <a:srgbClr val="36E0FF">
                <a:alpha val="4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274320" y="1069848"/>
            <a:ext cx="54864" cy="713232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63500" dist="50800" dir="16200000" algn="bl" rotWithShape="0">
              <a:srgbClr val="36E0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539496" y="1380744"/>
            <a:ext cx="91440" cy="91440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566014" y="1407262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731520" y="1069848"/>
            <a:ext cx="166420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 requests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578608" y="1069848"/>
            <a:ext cx="2176272" cy="713232"/>
          </a:xfrm>
          <a:prstGeom prst="rect">
            <a:avLst/>
          </a:prstGeom>
          <a:solidFill>
            <a:srgbClr val="0A1430"/>
          </a:solidFill>
          <a:ln w="7620">
            <a:solidFill>
              <a:srgbClr val="36E0FF">
                <a:alpha val="4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2578608" y="1069848"/>
            <a:ext cx="54864" cy="713232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63500" dist="50800" dir="16200000" algn="bl" rotWithShape="0">
              <a:srgbClr val="36E0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2843784" y="1380744"/>
            <a:ext cx="91440" cy="91440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2870302" y="1407262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3035808" y="1069848"/>
            <a:ext cx="166420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Retrieved documents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274320" y="1911096"/>
            <a:ext cx="2176272" cy="713232"/>
          </a:xfrm>
          <a:prstGeom prst="rect">
            <a:avLst/>
          </a:prstGeom>
          <a:solidFill>
            <a:srgbClr val="0A1430"/>
          </a:solidFill>
          <a:ln w="7620">
            <a:solidFill>
              <a:srgbClr val="36E0FF">
                <a:alpha val="4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274320" y="1911096"/>
            <a:ext cx="54864" cy="713232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63500" dist="50800" dir="16200000" algn="bl" rotWithShape="0">
              <a:srgbClr val="36E0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539496" y="2221992"/>
            <a:ext cx="91440" cy="91440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566014" y="2248510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731520" y="1911096"/>
            <a:ext cx="166420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Generated responses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2578608" y="1911096"/>
            <a:ext cx="2176272" cy="713232"/>
          </a:xfrm>
          <a:prstGeom prst="rect">
            <a:avLst/>
          </a:prstGeom>
          <a:solidFill>
            <a:srgbClr val="0A1430"/>
          </a:solidFill>
          <a:ln w="7620">
            <a:solidFill>
              <a:srgbClr val="36E0FF">
                <a:alpha val="4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2578608" y="1911096"/>
            <a:ext cx="54864" cy="713232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63500" dist="50800" dir="16200000" algn="bl" rotWithShape="0">
              <a:srgbClr val="36E0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2843784" y="2221992"/>
            <a:ext cx="91440" cy="91440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2870302" y="2248510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3035808" y="1911096"/>
            <a:ext cx="166420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Investigation outputs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274320" y="2752344"/>
            <a:ext cx="2176272" cy="713232"/>
          </a:xfrm>
          <a:prstGeom prst="rect">
            <a:avLst/>
          </a:prstGeom>
          <a:solidFill>
            <a:srgbClr val="0A1430"/>
          </a:solidFill>
          <a:ln w="7620">
            <a:solidFill>
              <a:srgbClr val="36E0FF">
                <a:alpha val="4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274320" y="2752344"/>
            <a:ext cx="54864" cy="713232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63500" dist="50800" dir="16200000" algn="bl" rotWithShape="0">
              <a:srgbClr val="36E0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539496" y="3063240"/>
            <a:ext cx="91440" cy="91440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566014" y="308975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731520" y="2752344"/>
            <a:ext cx="166420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 generation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2578608" y="2752344"/>
            <a:ext cx="2176272" cy="713232"/>
          </a:xfrm>
          <a:prstGeom prst="rect">
            <a:avLst/>
          </a:prstGeom>
          <a:solidFill>
            <a:srgbClr val="0A1430"/>
          </a:solidFill>
          <a:ln w="7620">
            <a:solidFill>
              <a:srgbClr val="36E0FF">
                <a:alpha val="4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2578608" y="2752344"/>
            <a:ext cx="54864" cy="713232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63500" dist="50800" dir="16200000" algn="bl" rotWithShape="0">
              <a:srgbClr val="36E0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5" name="Shape 53"/>
          <p:cNvSpPr/>
          <p:nvPr/>
        </p:nvSpPr>
        <p:spPr>
          <a:xfrm>
            <a:off x="2843784" y="3063240"/>
            <a:ext cx="91440" cy="91440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2870302" y="308975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3035808" y="2752344"/>
            <a:ext cx="166420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Latency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274320" y="3593592"/>
            <a:ext cx="2176272" cy="713232"/>
          </a:xfrm>
          <a:prstGeom prst="rect">
            <a:avLst/>
          </a:prstGeom>
          <a:solidFill>
            <a:srgbClr val="0A1430"/>
          </a:solidFill>
          <a:ln w="7620">
            <a:solidFill>
              <a:srgbClr val="36E0FF">
                <a:alpha val="4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274320" y="3593592"/>
            <a:ext cx="54864" cy="713232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63500" dist="50800" dir="16200000" algn="bl" rotWithShape="0">
              <a:srgbClr val="36E0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539496" y="3904488"/>
            <a:ext cx="91440" cy="91440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>
            <a:off x="566014" y="3931006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731520" y="3593592"/>
            <a:ext cx="166420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Errors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2578608" y="3593592"/>
            <a:ext cx="2176272" cy="713232"/>
          </a:xfrm>
          <a:prstGeom prst="rect">
            <a:avLst/>
          </a:prstGeom>
          <a:solidFill>
            <a:srgbClr val="0A1430"/>
          </a:solidFill>
          <a:ln w="7620">
            <a:solidFill>
              <a:srgbClr val="36E0FF">
                <a:alpha val="4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4" name="Shape 62"/>
          <p:cNvSpPr/>
          <p:nvPr/>
        </p:nvSpPr>
        <p:spPr>
          <a:xfrm>
            <a:off x="2578608" y="3593592"/>
            <a:ext cx="54864" cy="713232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63500" dist="50800" dir="16200000" algn="bl" rotWithShape="0">
              <a:srgbClr val="36E0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2843784" y="3904488"/>
            <a:ext cx="91440" cy="91440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6" name="Shape 64"/>
          <p:cNvSpPr/>
          <p:nvPr/>
        </p:nvSpPr>
        <p:spPr>
          <a:xfrm>
            <a:off x="2870302" y="3931006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65"/>
          <p:cNvSpPr/>
          <p:nvPr/>
        </p:nvSpPr>
        <p:spPr>
          <a:xfrm>
            <a:off x="3035808" y="3593592"/>
            <a:ext cx="166420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 feedback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4956048" y="841248"/>
            <a:ext cx="3931920" cy="2377440"/>
          </a:xfrm>
          <a:prstGeom prst="rect">
            <a:avLst/>
          </a:prstGeom>
          <a:solidFill>
            <a:srgbClr val="0A1430"/>
          </a:solidFill>
          <a:ln w="12700">
            <a:solidFill>
              <a:srgbClr val="3DEFC4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9" name="Shape 67"/>
          <p:cNvSpPr/>
          <p:nvPr/>
        </p:nvSpPr>
        <p:spPr>
          <a:xfrm>
            <a:off x="4956048" y="841248"/>
            <a:ext cx="3931920" cy="457200"/>
          </a:xfrm>
          <a:prstGeom prst="rect">
            <a:avLst/>
          </a:prstGeom>
          <a:solidFill>
            <a:srgbClr val="3DEFC4">
              <a:alpha val="18000"/>
            </a:srgbClr>
          </a:solidFill>
          <a:ln w="12700">
            <a:solidFill>
              <a:srgbClr val="3DEFC4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Text 68"/>
          <p:cNvSpPr/>
          <p:nvPr/>
        </p:nvSpPr>
        <p:spPr>
          <a:xfrm>
            <a:off x="5138928" y="84124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Benefits</a:t>
            </a:r>
            <a:endParaRPr lang="en-US" sz="1300" dirty="0"/>
          </a:p>
        </p:txBody>
      </p:sp>
      <p:sp>
        <p:nvSpPr>
          <p:cNvPr id="71" name="Text 69"/>
          <p:cNvSpPr/>
          <p:nvPr/>
        </p:nvSpPr>
        <p:spPr>
          <a:xfrm>
            <a:off x="5138928" y="1426464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3DEF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Full transparency</a:t>
            </a:r>
            <a:endParaRPr lang="en-US" sz="1050" dirty="0"/>
          </a:p>
        </p:txBody>
      </p:sp>
      <p:sp>
        <p:nvSpPr>
          <p:cNvPr id="72" name="Text 70"/>
          <p:cNvSpPr/>
          <p:nvPr/>
        </p:nvSpPr>
        <p:spPr>
          <a:xfrm>
            <a:off x="6675120" y="1426464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AI action is visible</a:t>
            </a:r>
            <a:endParaRPr lang="en-US" sz="950" dirty="0"/>
          </a:p>
        </p:txBody>
      </p:sp>
      <p:sp>
        <p:nvSpPr>
          <p:cNvPr id="73" name="Text 71"/>
          <p:cNvSpPr/>
          <p:nvPr/>
        </p:nvSpPr>
        <p:spPr>
          <a:xfrm>
            <a:off x="5138928" y="184708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3DEF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auditability</a:t>
            </a:r>
            <a:endParaRPr lang="en-US" sz="1050" dirty="0"/>
          </a:p>
        </p:txBody>
      </p:sp>
      <p:sp>
        <p:nvSpPr>
          <p:cNvPr id="74" name="Text 72"/>
          <p:cNvSpPr/>
          <p:nvPr/>
        </p:nvSpPr>
        <p:spPr>
          <a:xfrm>
            <a:off x="6675120" y="1847088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review of outputs</a:t>
            </a:r>
            <a:endParaRPr lang="en-US" sz="950" dirty="0"/>
          </a:p>
        </p:txBody>
      </p:sp>
      <p:sp>
        <p:nvSpPr>
          <p:cNvPr id="75" name="Text 73"/>
          <p:cNvSpPr/>
          <p:nvPr/>
        </p:nvSpPr>
        <p:spPr>
          <a:xfrm>
            <a:off x="5138928" y="2267712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3DEF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Trust in AI insights</a:t>
            </a:r>
            <a:endParaRPr lang="en-US" sz="1050" dirty="0"/>
          </a:p>
        </p:txBody>
      </p:sp>
      <p:sp>
        <p:nvSpPr>
          <p:cNvPr id="76" name="Text 74"/>
          <p:cNvSpPr/>
          <p:nvPr/>
        </p:nvSpPr>
        <p:spPr>
          <a:xfrm>
            <a:off x="6675120" y="2267712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Confidence for decision-makers</a:t>
            </a:r>
            <a:endParaRPr lang="en-US" sz="950" dirty="0"/>
          </a:p>
        </p:txBody>
      </p:sp>
      <p:sp>
        <p:nvSpPr>
          <p:cNvPr id="77" name="Text 75"/>
          <p:cNvSpPr/>
          <p:nvPr/>
        </p:nvSpPr>
        <p:spPr>
          <a:xfrm>
            <a:off x="5138928" y="2688336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3DEF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Compliance evidence</a:t>
            </a:r>
            <a:endParaRPr lang="en-US" sz="1050" dirty="0"/>
          </a:p>
        </p:txBody>
      </p:sp>
      <p:sp>
        <p:nvSpPr>
          <p:cNvPr id="78" name="Text 76"/>
          <p:cNvSpPr/>
          <p:nvPr/>
        </p:nvSpPr>
        <p:spPr>
          <a:xfrm>
            <a:off x="6675120" y="2688336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Records for regulatory review</a:t>
            </a:r>
            <a:endParaRPr lang="en-US" sz="950" dirty="0"/>
          </a:p>
        </p:txBody>
      </p:sp>
      <p:sp>
        <p:nvSpPr>
          <p:cNvPr id="79" name="Shape 77"/>
          <p:cNvSpPr/>
          <p:nvPr/>
        </p:nvSpPr>
        <p:spPr>
          <a:xfrm>
            <a:off x="4956048" y="3346704"/>
            <a:ext cx="3931920" cy="1408176"/>
          </a:xfrm>
          <a:prstGeom prst="rect">
            <a:avLst/>
          </a:prstGeom>
          <a:solidFill>
            <a:srgbClr val="08112A"/>
          </a:solidFill>
          <a:ln w="12700">
            <a:solidFill>
              <a:srgbClr val="5B9BFF">
                <a:alpha val="60000"/>
              </a:srgbClr>
            </a:solidFill>
            <a:prstDash val="solid"/>
          </a:ln>
          <a:effectLst>
            <a:outerShdw blurRad="101600" dist="50800" dir="16200000" algn="bl" rotWithShape="0">
              <a:srgbClr val="5B9BFF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0" name="Shape 78"/>
          <p:cNvSpPr/>
          <p:nvPr/>
        </p:nvSpPr>
        <p:spPr>
          <a:xfrm>
            <a:off x="4956048" y="3346704"/>
            <a:ext cx="91440" cy="1408176"/>
          </a:xfrm>
          <a:prstGeom prst="rect">
            <a:avLst/>
          </a:prstGeom>
          <a:solidFill>
            <a:srgbClr val="5B9BFF"/>
          </a:solidFill>
          <a:ln w="12700">
            <a:solidFill>
              <a:srgbClr val="5B9BFF"/>
            </a:solidFill>
            <a:prstDash val="solid"/>
          </a:ln>
          <a:effectLst>
            <a:outerShdw blurRad="76200" dist="50800" dir="16200000" algn="bl" rotWithShape="0">
              <a:srgbClr val="5B9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1" name="Text 79"/>
          <p:cNvSpPr/>
          <p:nvPr/>
        </p:nvSpPr>
        <p:spPr>
          <a:xfrm>
            <a:off x="5157216" y="34747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B9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End-to-end traceability</a:t>
            </a:r>
            <a:endParaRPr lang="en-US" sz="1200" dirty="0"/>
          </a:p>
        </p:txBody>
      </p:sp>
      <p:sp>
        <p:nvSpPr>
          <p:cNvPr id="82" name="Text 80"/>
          <p:cNvSpPr/>
          <p:nvPr/>
        </p:nvSpPr>
        <p:spPr>
          <a:xfrm>
            <a:off x="5157216" y="3785616"/>
            <a:ext cx="35661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AI-generated report, recommendation and investigation can be traced back to its source and reviewed by authorized personnel.</a:t>
            </a:r>
            <a:endParaRPr lang="en-US" sz="1050" dirty="0"/>
          </a:p>
        </p:txBody>
      </p:sp>
      <p:sp>
        <p:nvSpPr>
          <p:cNvPr id="83" name="Text 80">
            <a:extLst>
              <a:ext uri="{FF2B5EF4-FFF2-40B4-BE49-F238E27FC236}">
                <a16:creationId xmlns:a16="http://schemas.microsoft.com/office/drawing/2014/main" id="{D1A0ABCB-79C7-9DB4-3B67-21D6BD6A80F6}"/>
              </a:ext>
            </a:extLst>
          </p:cNvPr>
          <p:cNvSpPr/>
          <p:nvPr/>
        </p:nvSpPr>
        <p:spPr>
          <a:xfrm>
            <a:off x="182880" y="4434840"/>
            <a:ext cx="46634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 err="1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LangSmith</a:t>
            </a:r>
            <a:r>
              <a:rPr lang="en-US" sz="10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is not watching machines, it’s watching the AI itself. </a:t>
            </a:r>
            <a:br>
              <a:rPr lang="en-US" sz="10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</a:br>
            <a:r>
              <a:rPr lang="en-US" sz="9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ensuring each draft, recommendation and investigation is traceable and reviewable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306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0" y="-1828800"/>
            <a:ext cx="5029200" cy="5029200"/>
          </a:xfrm>
          <a:prstGeom prst="ellipse">
            <a:avLst/>
          </a:prstGeom>
          <a:solidFill>
            <a:srgbClr val="0B1E4D">
              <a:alpha val="20000"/>
            </a:srgbClr>
          </a:solidFill>
          <a:ln w="12700">
            <a:solidFill>
              <a:srgbClr val="0B1E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20117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1143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88900" dist="50800" dir="16200000" algn="bl" rotWithShape="0">
              <a:srgbClr val="36E0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-22860" y="1417320"/>
            <a:ext cx="91440" cy="91440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658" y="144383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-13716" y="2944368"/>
            <a:ext cx="73152" cy="73152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498" y="2965582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955280" y="310896"/>
            <a:ext cx="502920" cy="0"/>
          </a:xfrm>
          <a:prstGeom prst="line">
            <a:avLst/>
          </a:prstGeom>
          <a:noFill/>
          <a:ln w="12700">
            <a:solidFill>
              <a:srgbClr val="36E0FF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8458200" y="182880"/>
            <a:ext cx="338328" cy="274320"/>
          </a:xfrm>
          <a:prstGeom prst="line">
            <a:avLst/>
          </a:prstGeom>
          <a:noFill/>
          <a:ln w="12700">
            <a:solidFill>
              <a:srgbClr val="36E0FF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955280" y="310896"/>
            <a:ext cx="274320" cy="219456"/>
          </a:xfrm>
          <a:prstGeom prst="line">
            <a:avLst/>
          </a:prstGeom>
          <a:noFill/>
          <a:ln w="12700">
            <a:solidFill>
              <a:srgbClr val="36E0FF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914132" y="269748"/>
            <a:ext cx="82296" cy="82296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937998" y="293614"/>
            <a:ext cx="34564" cy="3456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407908" y="132588"/>
            <a:ext cx="100584" cy="100584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437077" y="16175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759952" y="420624"/>
            <a:ext cx="73152" cy="73152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781166" y="44183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197596" y="498348"/>
            <a:ext cx="64008" cy="64008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216158" y="516910"/>
            <a:ext cx="26883" cy="26883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74320" y="82296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Phased Rollout Plan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74320" y="420624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 small, prove value, reduce implementation risk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0" y="4956048"/>
            <a:ext cx="9144000" cy="16459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274320" y="4974336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 ·  SilverTrust Consulting  ·  Confidential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8229600" y="497433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8/13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274320" y="1060704"/>
            <a:ext cx="8595360" cy="20117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1161288" y="996696"/>
            <a:ext cx="146304" cy="146304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1203716" y="1039124"/>
            <a:ext cx="61448" cy="61448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274320" y="1207008"/>
            <a:ext cx="206654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kern="0" spc="150" dirty="0">
                <a:solidFill>
                  <a:srgbClr val="5B9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1097280" y="97840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274320" y="1426464"/>
            <a:ext cx="2066544" cy="3291840"/>
          </a:xfrm>
          <a:prstGeom prst="rect">
            <a:avLst/>
          </a:prstGeom>
          <a:solidFill>
            <a:srgbClr val="0A1430"/>
          </a:solidFill>
          <a:ln w="12700">
            <a:solidFill>
              <a:srgbClr val="5B9BFF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274320" y="1426464"/>
            <a:ext cx="2066544" cy="475488"/>
          </a:xfrm>
          <a:prstGeom prst="rect">
            <a:avLst/>
          </a:prstGeom>
          <a:solidFill>
            <a:srgbClr val="5B9BFF">
              <a:alpha val="20000"/>
            </a:srgbClr>
          </a:solidFill>
          <a:ln w="12700">
            <a:solidFill>
              <a:srgbClr val="5B9B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274320" y="1426464"/>
            <a:ext cx="2066544" cy="45720"/>
          </a:xfrm>
          <a:prstGeom prst="rect">
            <a:avLst/>
          </a:prstGeom>
          <a:solidFill>
            <a:srgbClr val="5B9BFF"/>
          </a:solidFill>
          <a:ln w="12700">
            <a:solidFill>
              <a:srgbClr val="5B9BFF"/>
            </a:solidFill>
            <a:prstDash val="solid"/>
          </a:ln>
          <a:effectLst>
            <a:outerShdw blurRad="76200" dist="50800" dir="16200000" algn="bl" rotWithShape="0">
              <a:srgbClr val="5B9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384048" y="1472184"/>
            <a:ext cx="18470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Foundation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384048" y="1975104"/>
            <a:ext cx="18470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5B9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 a trusted single source of truth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384048" y="2322576"/>
            <a:ext cx="18470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Scope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402336" y="2487168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SAP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384048" y="2761488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Quality &amp; manufacturing data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384048" y="3035808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Reporting datasets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384048" y="3332988"/>
            <a:ext cx="18470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5B9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Benefits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384048" y="3497580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Unified Data Layer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384048" y="3771900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governance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384048" y="4046220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Security model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2340864" y="1664208"/>
            <a:ext cx="128016" cy="0"/>
          </a:xfrm>
          <a:prstGeom prst="line">
            <a:avLst/>
          </a:prstGeom>
          <a:noFill/>
          <a:ln w="12700">
            <a:solidFill>
              <a:srgbClr val="5B9BFF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3355848" y="996696"/>
            <a:ext cx="146304" cy="146304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3398276" y="1039124"/>
            <a:ext cx="61448" cy="61448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2468880" y="1207008"/>
            <a:ext cx="206654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kern="0" spc="150" dirty="0">
                <a:solidFill>
                  <a:srgbClr val="3DEF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3291840" y="97840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468880" y="1426464"/>
            <a:ext cx="2066544" cy="3291840"/>
          </a:xfrm>
          <a:prstGeom prst="rect">
            <a:avLst/>
          </a:prstGeom>
          <a:solidFill>
            <a:srgbClr val="0A1430"/>
          </a:solidFill>
          <a:ln w="12700">
            <a:solidFill>
              <a:srgbClr val="3DEFC4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2468880" y="1426464"/>
            <a:ext cx="2066544" cy="475488"/>
          </a:xfrm>
          <a:prstGeom prst="rect">
            <a:avLst/>
          </a:prstGeom>
          <a:solidFill>
            <a:srgbClr val="3DEFC4">
              <a:alpha val="20000"/>
            </a:srgbClr>
          </a:solidFill>
          <a:ln w="12700">
            <a:solidFill>
              <a:srgbClr val="3DEFC4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2468880" y="1426464"/>
            <a:ext cx="2066544" cy="45720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762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2578608" y="1472184"/>
            <a:ext cx="18470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Knowledge Agent</a:t>
            </a:r>
            <a:endParaRPr lang="en-US" sz="1150" dirty="0"/>
          </a:p>
        </p:txBody>
      </p:sp>
      <p:sp>
        <p:nvSpPr>
          <p:cNvPr id="54" name="Text 52"/>
          <p:cNvSpPr/>
          <p:nvPr/>
        </p:nvSpPr>
        <p:spPr>
          <a:xfrm>
            <a:off x="2578608" y="1975104"/>
            <a:ext cx="18470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3DEF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Reduce dependency on individual experts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2578608" y="2322576"/>
            <a:ext cx="18470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Scope</a:t>
            </a:r>
            <a:endParaRPr lang="en-US" sz="750" dirty="0"/>
          </a:p>
        </p:txBody>
      </p:sp>
      <p:sp>
        <p:nvSpPr>
          <p:cNvPr id="56" name="Text 54"/>
          <p:cNvSpPr/>
          <p:nvPr/>
        </p:nvSpPr>
        <p:spPr>
          <a:xfrm>
            <a:off x="2596896" y="2487168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Downtime data lookup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2578608" y="2761488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OEE calculation logic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2578608" y="3035808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 data sources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2578608" y="3332988"/>
            <a:ext cx="18470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3DEF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Benefits</a:t>
            </a:r>
            <a:endParaRPr lang="en-US" sz="750" dirty="0"/>
          </a:p>
        </p:txBody>
      </p:sp>
      <p:sp>
        <p:nvSpPr>
          <p:cNvPr id="60" name="Text 58"/>
          <p:cNvSpPr/>
          <p:nvPr/>
        </p:nvSpPr>
        <p:spPr>
          <a:xfrm>
            <a:off x="2578608" y="3497580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Faster info access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2578608" y="3771900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Knowledge retention</a:t>
            </a:r>
            <a:endParaRPr lang="en-US" sz="800" dirty="0"/>
          </a:p>
        </p:txBody>
      </p:sp>
      <p:sp>
        <p:nvSpPr>
          <p:cNvPr id="62" name="Text 60"/>
          <p:cNvSpPr/>
          <p:nvPr/>
        </p:nvSpPr>
        <p:spPr>
          <a:xfrm>
            <a:off x="2578608" y="4046220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Fewer bottlenecks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4535424" y="1664208"/>
            <a:ext cx="128016" cy="0"/>
          </a:xfrm>
          <a:prstGeom prst="line">
            <a:avLst/>
          </a:prstGeom>
          <a:noFill/>
          <a:ln w="12700">
            <a:solidFill>
              <a:srgbClr val="3DEFC4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Shape 62"/>
          <p:cNvSpPr/>
          <p:nvPr/>
        </p:nvSpPr>
        <p:spPr>
          <a:xfrm>
            <a:off x="5550408" y="996696"/>
            <a:ext cx="146304" cy="146304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5592836" y="1039124"/>
            <a:ext cx="61448" cy="61448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64"/>
          <p:cNvSpPr/>
          <p:nvPr/>
        </p:nvSpPr>
        <p:spPr>
          <a:xfrm>
            <a:off x="4663440" y="1207008"/>
            <a:ext cx="206654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kern="0" spc="150" dirty="0">
                <a:solidFill>
                  <a:srgbClr val="A78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</a:t>
            </a: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5486400" y="97840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4663440" y="1426464"/>
            <a:ext cx="2066544" cy="3291840"/>
          </a:xfrm>
          <a:prstGeom prst="rect">
            <a:avLst/>
          </a:prstGeom>
          <a:solidFill>
            <a:srgbClr val="0A1430"/>
          </a:solidFill>
          <a:ln w="12700">
            <a:solidFill>
              <a:srgbClr val="A78BFF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9" name="Shape 67"/>
          <p:cNvSpPr/>
          <p:nvPr/>
        </p:nvSpPr>
        <p:spPr>
          <a:xfrm>
            <a:off x="4663440" y="1426464"/>
            <a:ext cx="2066544" cy="475488"/>
          </a:xfrm>
          <a:prstGeom prst="rect">
            <a:avLst/>
          </a:prstGeom>
          <a:solidFill>
            <a:srgbClr val="A78BFF">
              <a:alpha val="20000"/>
            </a:srgbClr>
          </a:solidFill>
          <a:ln w="12700">
            <a:solidFill>
              <a:srgbClr val="A78B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Shape 68"/>
          <p:cNvSpPr/>
          <p:nvPr/>
        </p:nvSpPr>
        <p:spPr>
          <a:xfrm>
            <a:off x="4663440" y="1426464"/>
            <a:ext cx="2066544" cy="45720"/>
          </a:xfrm>
          <a:prstGeom prst="rect">
            <a:avLst/>
          </a:prstGeom>
          <a:solidFill>
            <a:srgbClr val="A78BFF"/>
          </a:solidFill>
          <a:ln w="12700">
            <a:solidFill>
              <a:srgbClr val="A78BFF"/>
            </a:solidFill>
            <a:prstDash val="solid"/>
          </a:ln>
          <a:effectLst>
            <a:outerShdw blurRad="76200" dist="50800" dir="16200000" algn="bl" rotWithShape="0">
              <a:srgbClr val="A78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1" name="Text 69"/>
          <p:cNvSpPr/>
          <p:nvPr/>
        </p:nvSpPr>
        <p:spPr>
          <a:xfrm>
            <a:off x="4773168" y="1472184"/>
            <a:ext cx="18470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Reporting Agent</a:t>
            </a:r>
            <a:endParaRPr lang="en-US" sz="1150" dirty="0"/>
          </a:p>
        </p:txBody>
      </p:sp>
      <p:sp>
        <p:nvSpPr>
          <p:cNvPr id="72" name="Text 70"/>
          <p:cNvSpPr/>
          <p:nvPr/>
        </p:nvSpPr>
        <p:spPr>
          <a:xfrm>
            <a:off x="4773168" y="1975104"/>
            <a:ext cx="18470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A78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Automate report preparation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4773168" y="2322576"/>
            <a:ext cx="18470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Scope</a:t>
            </a:r>
            <a:endParaRPr lang="en-US" sz="750" dirty="0"/>
          </a:p>
        </p:txBody>
      </p:sp>
      <p:sp>
        <p:nvSpPr>
          <p:cNvPr id="74" name="Text 72"/>
          <p:cNvSpPr/>
          <p:nvPr/>
        </p:nvSpPr>
        <p:spPr>
          <a:xfrm>
            <a:off x="4791456" y="2487168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ISO 9001 reports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4773168" y="2761488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Audit preparation</a:t>
            </a:r>
            <a:endParaRPr lang="en-US" sz="800" dirty="0"/>
          </a:p>
        </p:txBody>
      </p:sp>
      <p:sp>
        <p:nvSpPr>
          <p:cNvPr id="76" name="Text 74"/>
          <p:cNvSpPr/>
          <p:nvPr/>
        </p:nvSpPr>
        <p:spPr>
          <a:xfrm>
            <a:off x="4773168" y="3035808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Management summaries</a:t>
            </a:r>
            <a:endParaRPr lang="en-US" sz="800" dirty="0"/>
          </a:p>
        </p:txBody>
      </p:sp>
      <p:sp>
        <p:nvSpPr>
          <p:cNvPr id="77" name="Text 75"/>
          <p:cNvSpPr/>
          <p:nvPr/>
        </p:nvSpPr>
        <p:spPr>
          <a:xfrm>
            <a:off x="4773168" y="3332988"/>
            <a:ext cx="18470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A78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Benefits</a:t>
            </a:r>
            <a:endParaRPr lang="en-US" sz="750" dirty="0"/>
          </a:p>
        </p:txBody>
      </p:sp>
      <p:sp>
        <p:nvSpPr>
          <p:cNvPr id="78" name="Text 76"/>
          <p:cNvSpPr/>
          <p:nvPr/>
        </p:nvSpPr>
        <p:spPr>
          <a:xfrm>
            <a:off x="4773168" y="3497580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Less manual effort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4773168" y="3771900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Consistent documentation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4773168" y="4046220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Faster audits</a:t>
            </a:r>
            <a:endParaRPr lang="en-US" sz="800" dirty="0"/>
          </a:p>
        </p:txBody>
      </p:sp>
      <p:sp>
        <p:nvSpPr>
          <p:cNvPr id="81" name="Shape 79"/>
          <p:cNvSpPr/>
          <p:nvPr/>
        </p:nvSpPr>
        <p:spPr>
          <a:xfrm>
            <a:off x="6729984" y="1664208"/>
            <a:ext cx="128016" cy="0"/>
          </a:xfrm>
          <a:prstGeom prst="line">
            <a:avLst/>
          </a:prstGeom>
          <a:noFill/>
          <a:ln w="12700">
            <a:solidFill>
              <a:srgbClr val="A78BFF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2" name="Shape 80"/>
          <p:cNvSpPr/>
          <p:nvPr/>
        </p:nvSpPr>
        <p:spPr>
          <a:xfrm>
            <a:off x="7744968" y="996696"/>
            <a:ext cx="146304" cy="146304"/>
          </a:xfrm>
          <a:prstGeom prst="ellipse">
            <a:avLst/>
          </a:prstGeom>
          <a:solidFill>
            <a:srgbClr val="FFC23D"/>
          </a:solidFill>
          <a:ln w="6350">
            <a:solidFill>
              <a:srgbClr val="FFC23D"/>
            </a:solidFill>
            <a:prstDash val="solid"/>
          </a:ln>
          <a:effectLst>
            <a:outerShdw blurRad="139700" dist="50800" dir="16200000" algn="bl" rotWithShape="0">
              <a:srgbClr val="FFC23D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3" name="Shape 81"/>
          <p:cNvSpPr/>
          <p:nvPr/>
        </p:nvSpPr>
        <p:spPr>
          <a:xfrm>
            <a:off x="7787396" y="1039124"/>
            <a:ext cx="61448" cy="61448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4" name="Text 82"/>
          <p:cNvSpPr/>
          <p:nvPr/>
        </p:nvSpPr>
        <p:spPr>
          <a:xfrm>
            <a:off x="6858000" y="1207008"/>
            <a:ext cx="206654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kern="0" spc="150" dirty="0">
                <a:solidFill>
                  <a:srgbClr val="FFC2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</a:t>
            </a:r>
            <a:endParaRPr lang="en-US" sz="700" dirty="0"/>
          </a:p>
        </p:txBody>
      </p:sp>
      <p:sp>
        <p:nvSpPr>
          <p:cNvPr id="85" name="Text 83"/>
          <p:cNvSpPr/>
          <p:nvPr/>
        </p:nvSpPr>
        <p:spPr>
          <a:xfrm>
            <a:off x="7680960" y="97840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86" name="Shape 84"/>
          <p:cNvSpPr/>
          <p:nvPr/>
        </p:nvSpPr>
        <p:spPr>
          <a:xfrm>
            <a:off x="6858000" y="1426464"/>
            <a:ext cx="2066544" cy="3291840"/>
          </a:xfrm>
          <a:prstGeom prst="rect">
            <a:avLst/>
          </a:prstGeom>
          <a:solidFill>
            <a:srgbClr val="0A1430"/>
          </a:solidFill>
          <a:ln w="12700">
            <a:solidFill>
              <a:srgbClr val="FFC23D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7" name="Shape 85"/>
          <p:cNvSpPr/>
          <p:nvPr/>
        </p:nvSpPr>
        <p:spPr>
          <a:xfrm>
            <a:off x="6858000" y="1426464"/>
            <a:ext cx="2066544" cy="475488"/>
          </a:xfrm>
          <a:prstGeom prst="rect">
            <a:avLst/>
          </a:prstGeom>
          <a:solidFill>
            <a:srgbClr val="FFC23D">
              <a:alpha val="20000"/>
            </a:srgbClr>
          </a:solidFill>
          <a:ln w="12700">
            <a:solidFill>
              <a:srgbClr val="FFC23D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8" name="Shape 86"/>
          <p:cNvSpPr/>
          <p:nvPr/>
        </p:nvSpPr>
        <p:spPr>
          <a:xfrm>
            <a:off x="6858000" y="1426464"/>
            <a:ext cx="2066544" cy="45720"/>
          </a:xfrm>
          <a:prstGeom prst="rect">
            <a:avLst/>
          </a:prstGeom>
          <a:solidFill>
            <a:srgbClr val="FFC23D"/>
          </a:solidFill>
          <a:ln w="12700">
            <a:solidFill>
              <a:srgbClr val="FFC23D"/>
            </a:solidFill>
            <a:prstDash val="solid"/>
          </a:ln>
          <a:effectLst>
            <a:outerShdw blurRad="76200" dist="50800" dir="16200000" algn="bl" rotWithShape="0">
              <a:srgbClr val="FFC23D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9" name="Text 87"/>
          <p:cNvSpPr/>
          <p:nvPr/>
        </p:nvSpPr>
        <p:spPr>
          <a:xfrm>
            <a:off x="6967728" y="1472184"/>
            <a:ext cx="18470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Investigation &amp; Monitoring</a:t>
            </a:r>
            <a:endParaRPr lang="en-US" sz="1150" dirty="0"/>
          </a:p>
        </p:txBody>
      </p:sp>
      <p:sp>
        <p:nvSpPr>
          <p:cNvPr id="90" name="Text 88"/>
          <p:cNvSpPr/>
          <p:nvPr/>
        </p:nvSpPr>
        <p:spPr>
          <a:xfrm>
            <a:off x="6967728" y="1975104"/>
            <a:ext cx="18470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FFC2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Improve visibility &amp; issue detection</a:t>
            </a:r>
            <a:endParaRPr lang="en-US" sz="850" dirty="0"/>
          </a:p>
        </p:txBody>
      </p:sp>
      <p:sp>
        <p:nvSpPr>
          <p:cNvPr id="91" name="Text 89"/>
          <p:cNvSpPr/>
          <p:nvPr/>
        </p:nvSpPr>
        <p:spPr>
          <a:xfrm>
            <a:off x="6967728" y="2322576"/>
            <a:ext cx="18470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Scope</a:t>
            </a:r>
            <a:endParaRPr lang="en-US" sz="750" dirty="0"/>
          </a:p>
        </p:txBody>
      </p:sp>
      <p:sp>
        <p:nvSpPr>
          <p:cNvPr id="92" name="Text 90"/>
          <p:cNvSpPr/>
          <p:nvPr/>
        </p:nvSpPr>
        <p:spPr>
          <a:xfrm>
            <a:off x="6986016" y="2487168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Root cause analysis</a:t>
            </a:r>
            <a:endParaRPr lang="en-US" sz="800" dirty="0"/>
          </a:p>
        </p:txBody>
      </p:sp>
      <p:sp>
        <p:nvSpPr>
          <p:cNvPr id="93" name="Text 91"/>
          <p:cNvSpPr/>
          <p:nvPr/>
        </p:nvSpPr>
        <p:spPr>
          <a:xfrm>
            <a:off x="6967728" y="2761488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Early warning alerts</a:t>
            </a:r>
            <a:endParaRPr lang="en-US" sz="800" dirty="0"/>
          </a:p>
        </p:txBody>
      </p:sp>
      <p:sp>
        <p:nvSpPr>
          <p:cNvPr id="94" name="Text 92"/>
          <p:cNvSpPr/>
          <p:nvPr/>
        </p:nvSpPr>
        <p:spPr>
          <a:xfrm>
            <a:off x="6967728" y="3035808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Quality trend monitoring</a:t>
            </a:r>
            <a:endParaRPr lang="en-US" sz="800" dirty="0"/>
          </a:p>
        </p:txBody>
      </p:sp>
      <p:sp>
        <p:nvSpPr>
          <p:cNvPr id="95" name="Text 93"/>
          <p:cNvSpPr/>
          <p:nvPr/>
        </p:nvSpPr>
        <p:spPr>
          <a:xfrm>
            <a:off x="6967728" y="3332988"/>
            <a:ext cx="18470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FFC2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Benefits</a:t>
            </a:r>
            <a:endParaRPr lang="en-US" sz="750" dirty="0"/>
          </a:p>
        </p:txBody>
      </p:sp>
      <p:sp>
        <p:nvSpPr>
          <p:cNvPr id="96" name="Text 94"/>
          <p:cNvSpPr/>
          <p:nvPr/>
        </p:nvSpPr>
        <p:spPr>
          <a:xfrm>
            <a:off x="6967728" y="3497580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Reduced downtime</a:t>
            </a:r>
            <a:endParaRPr lang="en-US" sz="800" dirty="0"/>
          </a:p>
        </p:txBody>
      </p:sp>
      <p:sp>
        <p:nvSpPr>
          <p:cNvPr id="97" name="Text 95"/>
          <p:cNvSpPr/>
          <p:nvPr/>
        </p:nvSpPr>
        <p:spPr>
          <a:xfrm>
            <a:off x="6967728" y="3771900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Reduced rework</a:t>
            </a:r>
            <a:endParaRPr lang="en-US" sz="800" dirty="0"/>
          </a:p>
        </p:txBody>
      </p:sp>
      <p:sp>
        <p:nvSpPr>
          <p:cNvPr id="98" name="Text 96"/>
          <p:cNvSpPr/>
          <p:nvPr/>
        </p:nvSpPr>
        <p:spPr>
          <a:xfrm>
            <a:off x="6967728" y="4046220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Faster investigations</a:t>
            </a:r>
            <a:endParaRPr lang="en-US" sz="800" dirty="0"/>
          </a:p>
        </p:txBody>
      </p:sp>
      <p:sp>
        <p:nvSpPr>
          <p:cNvPr id="99" name="Pfeil: Fünfeck 98">
            <a:extLst>
              <a:ext uri="{FF2B5EF4-FFF2-40B4-BE49-F238E27FC236}">
                <a16:creationId xmlns:a16="http://schemas.microsoft.com/office/drawing/2014/main" id="{89115413-D65F-B5C1-EDD0-7364B271D0C9}"/>
              </a:ext>
            </a:extLst>
          </p:cNvPr>
          <p:cNvSpPr/>
          <p:nvPr/>
        </p:nvSpPr>
        <p:spPr>
          <a:xfrm>
            <a:off x="402336" y="4412437"/>
            <a:ext cx="8430768" cy="195681"/>
          </a:xfrm>
          <a:prstGeom prst="homePlate">
            <a:avLst/>
          </a:prstGeom>
          <a:solidFill>
            <a:srgbClr val="0A1430"/>
          </a:solidFill>
          <a:ln w="12700">
            <a:solidFill>
              <a:srgbClr val="FF5FA8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pPr algn="ctr"/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9DBEF0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Ongoing Quick Wins</a:t>
            </a:r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060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A90072A-4DFF-A7BC-40CF-1BC849EDF7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3" name="think-cell data - do not delete" hidden="1">
            <a:extLst>
              <a:ext uri="{FF2B5EF4-FFF2-40B4-BE49-F238E27FC236}">
                <a16:creationId xmlns:a16="http://schemas.microsoft.com/office/drawing/2014/main" id="{0DA6C786-6D9E-E394-01B0-529845D20229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6430523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4" imgW="370" imgH="371" progId="TCLayout.ActiveDocument.1">
                  <p:embed/>
                </p:oleObj>
              </mc:Choice>
              <mc:Fallback>
                <p:oleObj name="think-cell Folie" r:id="rId4" imgW="370" imgH="371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Shape 0">
            <a:extLst>
              <a:ext uri="{FF2B5EF4-FFF2-40B4-BE49-F238E27FC236}">
                <a16:creationId xmlns:a16="http://schemas.microsoft.com/office/drawing/2014/main" id="{4133E981-F1FC-C8D8-CC0A-A7D7226036BC}"/>
              </a:ext>
            </a:extLst>
          </p:cNvPr>
          <p:cNvSpPr/>
          <p:nvPr/>
        </p:nvSpPr>
        <p:spPr>
          <a:xfrm>
            <a:off x="6035040" y="-1828800"/>
            <a:ext cx="5029200" cy="5029200"/>
          </a:xfrm>
          <a:prstGeom prst="ellipse">
            <a:avLst/>
          </a:prstGeom>
          <a:solidFill>
            <a:srgbClr val="0B1E4D">
              <a:alpha val="20000"/>
            </a:srgbClr>
          </a:solidFill>
          <a:ln w="12700">
            <a:solidFill>
              <a:srgbClr val="0B1E4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9153956-0016-37E1-5EC6-ABEFD6CF8022}"/>
              </a:ext>
            </a:extLst>
          </p:cNvPr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1EB829F2-B24A-5A3C-81D0-540982453E21}"/>
              </a:ext>
            </a:extLst>
          </p:cNvPr>
          <p:cNvSpPr/>
          <p:nvPr/>
        </p:nvSpPr>
        <p:spPr>
          <a:xfrm>
            <a:off x="0" y="658368"/>
            <a:ext cx="9144000" cy="20117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1143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0588EAF6-78D1-7867-30C5-E95303B23C4E}"/>
              </a:ext>
            </a:extLst>
          </p:cNvPr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88900" dist="50800" dir="16200000" algn="bl" rotWithShape="0">
              <a:srgbClr val="36E0FF">
                <a:alpha val="6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1A282BAA-588A-59F2-D16E-737A04B02DEB}"/>
              </a:ext>
            </a:extLst>
          </p:cNvPr>
          <p:cNvSpPr/>
          <p:nvPr/>
        </p:nvSpPr>
        <p:spPr>
          <a:xfrm>
            <a:off x="7955280" y="310896"/>
            <a:ext cx="502920" cy="0"/>
          </a:xfrm>
          <a:prstGeom prst="line">
            <a:avLst/>
          </a:prstGeom>
          <a:noFill/>
          <a:ln w="12700">
            <a:solidFill>
              <a:srgbClr val="36E0FF">
                <a:alpha val="7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EE8461DB-A0A2-76FE-A80D-AF2D292CA99B}"/>
              </a:ext>
            </a:extLst>
          </p:cNvPr>
          <p:cNvSpPr/>
          <p:nvPr/>
        </p:nvSpPr>
        <p:spPr>
          <a:xfrm>
            <a:off x="8458200" y="182880"/>
            <a:ext cx="338328" cy="274320"/>
          </a:xfrm>
          <a:prstGeom prst="line">
            <a:avLst/>
          </a:prstGeom>
          <a:noFill/>
          <a:ln w="12700">
            <a:solidFill>
              <a:srgbClr val="36E0FF">
                <a:alpha val="7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78C198C9-F5F6-5A41-C881-332321406EC1}"/>
              </a:ext>
            </a:extLst>
          </p:cNvPr>
          <p:cNvSpPr/>
          <p:nvPr/>
        </p:nvSpPr>
        <p:spPr>
          <a:xfrm>
            <a:off x="7955280" y="310896"/>
            <a:ext cx="274320" cy="219456"/>
          </a:xfrm>
          <a:prstGeom prst="line">
            <a:avLst/>
          </a:prstGeom>
          <a:noFill/>
          <a:ln w="12700">
            <a:solidFill>
              <a:srgbClr val="36E0FF">
                <a:alpha val="5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F704C643-A540-EDEE-C8DC-7DAEC7AF5DC8}"/>
              </a:ext>
            </a:extLst>
          </p:cNvPr>
          <p:cNvSpPr/>
          <p:nvPr/>
        </p:nvSpPr>
        <p:spPr>
          <a:xfrm>
            <a:off x="7914132" y="269748"/>
            <a:ext cx="82296" cy="82296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0C27AFEB-080B-0D15-2498-2F57BCD9B7AF}"/>
              </a:ext>
            </a:extLst>
          </p:cNvPr>
          <p:cNvSpPr/>
          <p:nvPr/>
        </p:nvSpPr>
        <p:spPr>
          <a:xfrm>
            <a:off x="7937998" y="293614"/>
            <a:ext cx="34564" cy="3456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4A2D7314-9BD0-6AC6-C9B9-8BC12EB5A4A2}"/>
              </a:ext>
            </a:extLst>
          </p:cNvPr>
          <p:cNvSpPr/>
          <p:nvPr/>
        </p:nvSpPr>
        <p:spPr>
          <a:xfrm>
            <a:off x="8407908" y="132588"/>
            <a:ext cx="100584" cy="100584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D477E29E-1EF9-A72E-0C9F-188F6BF3CD98}"/>
              </a:ext>
            </a:extLst>
          </p:cNvPr>
          <p:cNvSpPr/>
          <p:nvPr/>
        </p:nvSpPr>
        <p:spPr>
          <a:xfrm>
            <a:off x="8437077" y="16175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432F228D-55BC-CCEF-DA0B-DD6B5585D2EA}"/>
              </a:ext>
            </a:extLst>
          </p:cNvPr>
          <p:cNvSpPr/>
          <p:nvPr/>
        </p:nvSpPr>
        <p:spPr>
          <a:xfrm>
            <a:off x="8759952" y="420624"/>
            <a:ext cx="73152" cy="73152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66E92581-F8FA-A9A6-B143-A55D93B4122F}"/>
              </a:ext>
            </a:extLst>
          </p:cNvPr>
          <p:cNvSpPr/>
          <p:nvPr/>
        </p:nvSpPr>
        <p:spPr>
          <a:xfrm>
            <a:off x="8781166" y="44183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FDFF399C-17D2-E7E5-832C-710DF9ADB5A2}"/>
              </a:ext>
            </a:extLst>
          </p:cNvPr>
          <p:cNvSpPr/>
          <p:nvPr/>
        </p:nvSpPr>
        <p:spPr>
          <a:xfrm>
            <a:off x="8197596" y="498348"/>
            <a:ext cx="64008" cy="64008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90BB6A0B-3B95-7AC5-A634-62CD37DC3868}"/>
              </a:ext>
            </a:extLst>
          </p:cNvPr>
          <p:cNvSpPr/>
          <p:nvPr/>
        </p:nvSpPr>
        <p:spPr>
          <a:xfrm>
            <a:off x="8216158" y="516910"/>
            <a:ext cx="26883" cy="26883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FF45D385-D750-1763-95F4-2592BE350D77}"/>
              </a:ext>
            </a:extLst>
          </p:cNvPr>
          <p:cNvSpPr/>
          <p:nvPr/>
        </p:nvSpPr>
        <p:spPr>
          <a:xfrm>
            <a:off x="274320" y="82296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EAF2FF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Phased Rollout Plan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77D6849A-4197-0EA0-05C5-9A9EFDC8D309}"/>
              </a:ext>
            </a:extLst>
          </p:cNvPr>
          <p:cNvSpPr/>
          <p:nvPr/>
        </p:nvSpPr>
        <p:spPr>
          <a:xfrm>
            <a:off x="274320" y="420624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9DBEF0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Start small, prove value, reduce implementation risk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77C00C6D-22E3-3664-8BED-D95F4D63BCC0}"/>
              </a:ext>
            </a:extLst>
          </p:cNvPr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C934F376-D8E8-C4E4-34F2-A9F82CA3F443}"/>
              </a:ext>
            </a:extLst>
          </p:cNvPr>
          <p:cNvSpPr/>
          <p:nvPr/>
        </p:nvSpPr>
        <p:spPr>
          <a:xfrm>
            <a:off x="0" y="4956048"/>
            <a:ext cx="9144000" cy="16459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60903642-26BC-0146-0C9E-A60CF1D275FC}"/>
              </a:ext>
            </a:extLst>
          </p:cNvPr>
          <p:cNvSpPr/>
          <p:nvPr/>
        </p:nvSpPr>
        <p:spPr>
          <a:xfrm>
            <a:off x="274320" y="4974336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0" i="0" u="none" strike="noStrike" kern="1200" cap="none" spc="0" normalizeH="0" baseline="0" noProof="0" dirty="0">
                <a:ln>
                  <a:noFill/>
                </a:ln>
                <a:solidFill>
                  <a:srgbClr val="3F5379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Vulkan Werke  ·  SilverTrust Consulting  ·  Confidential</a:t>
            </a:r>
            <a:endParaRPr kumimoji="0" lang="en-US" sz="7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27A76212-A91E-BE8D-2C8B-7CCD21F46DC2}"/>
              </a:ext>
            </a:extLst>
          </p:cNvPr>
          <p:cNvSpPr/>
          <p:nvPr/>
        </p:nvSpPr>
        <p:spPr>
          <a:xfrm>
            <a:off x="8229600" y="497433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0" i="0" u="none" strike="noStrike" kern="1200" cap="none" spc="0" normalizeH="0" baseline="0" noProof="0" dirty="0">
                <a:ln>
                  <a:noFill/>
                </a:ln>
                <a:solidFill>
                  <a:srgbClr val="3F5379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8/13</a:t>
            </a:r>
            <a:endParaRPr kumimoji="0" lang="en-US" sz="7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4" name="Shape 37">
            <a:extLst>
              <a:ext uri="{FF2B5EF4-FFF2-40B4-BE49-F238E27FC236}">
                <a16:creationId xmlns:a16="http://schemas.microsoft.com/office/drawing/2014/main" id="{D4A9C04D-AFC1-A9D8-12AB-465EB31ED328}"/>
              </a:ext>
            </a:extLst>
          </p:cNvPr>
          <p:cNvSpPr/>
          <p:nvPr/>
        </p:nvSpPr>
        <p:spPr>
          <a:xfrm>
            <a:off x="274320" y="841248"/>
            <a:ext cx="6016752" cy="3913632"/>
          </a:xfrm>
          <a:prstGeom prst="rect">
            <a:avLst/>
          </a:prstGeom>
          <a:solidFill>
            <a:srgbClr val="0A1430"/>
          </a:solidFill>
          <a:ln w="12700">
            <a:solidFill>
              <a:srgbClr val="3DEFC4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15" name="Shape 38">
            <a:extLst>
              <a:ext uri="{FF2B5EF4-FFF2-40B4-BE49-F238E27FC236}">
                <a16:creationId xmlns:a16="http://schemas.microsoft.com/office/drawing/2014/main" id="{4ED87527-3E76-A615-5B98-712615E51964}"/>
              </a:ext>
            </a:extLst>
          </p:cNvPr>
          <p:cNvSpPr/>
          <p:nvPr/>
        </p:nvSpPr>
        <p:spPr>
          <a:xfrm>
            <a:off x="274320" y="841248"/>
            <a:ext cx="91440" cy="3913632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635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6" name="Text 39">
            <a:extLst>
              <a:ext uri="{FF2B5EF4-FFF2-40B4-BE49-F238E27FC236}">
                <a16:creationId xmlns:a16="http://schemas.microsoft.com/office/drawing/2014/main" id="{3CA76AF0-2C17-CFA3-6D67-719420D17C24}"/>
              </a:ext>
            </a:extLst>
          </p:cNvPr>
          <p:cNvSpPr/>
          <p:nvPr/>
        </p:nvSpPr>
        <p:spPr>
          <a:xfrm>
            <a:off x="475488" y="94183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C2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</a:t>
            </a:r>
            <a:endParaRPr lang="en-US" sz="1200" dirty="0"/>
          </a:p>
        </p:txBody>
      </p:sp>
      <p:sp>
        <p:nvSpPr>
          <p:cNvPr id="118" name="Text 41">
            <a:extLst>
              <a:ext uri="{FF2B5EF4-FFF2-40B4-BE49-F238E27FC236}">
                <a16:creationId xmlns:a16="http://schemas.microsoft.com/office/drawing/2014/main" id="{D410E9EF-78B2-60CB-81DD-9EBAFA0EE8C2}"/>
              </a:ext>
            </a:extLst>
          </p:cNvPr>
          <p:cNvSpPr/>
          <p:nvPr/>
        </p:nvSpPr>
        <p:spPr>
          <a:xfrm>
            <a:off x="475488" y="3532632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C2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2-Day Discovery Workshop</a:t>
            </a:r>
            <a:endParaRPr lang="en-US" sz="1200" dirty="0"/>
          </a:p>
        </p:txBody>
      </p:sp>
      <p:sp>
        <p:nvSpPr>
          <p:cNvPr id="119" name="Text 42">
            <a:extLst>
              <a:ext uri="{FF2B5EF4-FFF2-40B4-BE49-F238E27FC236}">
                <a16:creationId xmlns:a16="http://schemas.microsoft.com/office/drawing/2014/main" id="{CDA326A1-2665-9E82-E658-A41AAE508972}"/>
              </a:ext>
            </a:extLst>
          </p:cNvPr>
          <p:cNvSpPr/>
          <p:nvPr/>
        </p:nvSpPr>
        <p:spPr>
          <a:xfrm>
            <a:off x="475488" y="3857244"/>
            <a:ext cx="520598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8.000 €. We do not recommend committing to a full implementation before understanding the actual system landscape, data quality, and business priorities. Therefore, we recommend starting with a focused two-day discovery workshop, resulting in a validated architecture, implementation roadmap, business case, and final project estimate.</a:t>
            </a:r>
            <a:endParaRPr lang="en-US" sz="950" dirty="0"/>
          </a:p>
        </p:txBody>
      </p:sp>
      <p:sp>
        <p:nvSpPr>
          <p:cNvPr id="120" name="Shape 43">
            <a:extLst>
              <a:ext uri="{FF2B5EF4-FFF2-40B4-BE49-F238E27FC236}">
                <a16:creationId xmlns:a16="http://schemas.microsoft.com/office/drawing/2014/main" id="{8C395F5A-289C-34A7-B875-73DF4185E994}"/>
              </a:ext>
            </a:extLst>
          </p:cNvPr>
          <p:cNvSpPr/>
          <p:nvPr/>
        </p:nvSpPr>
        <p:spPr>
          <a:xfrm>
            <a:off x="6400800" y="841248"/>
            <a:ext cx="2487168" cy="3913632"/>
          </a:xfrm>
          <a:prstGeom prst="rect">
            <a:avLst/>
          </a:prstGeom>
          <a:solidFill>
            <a:srgbClr val="0A1430"/>
          </a:solidFill>
          <a:ln w="12700">
            <a:solidFill>
              <a:srgbClr val="3DEFC4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1" name="Shape 44">
            <a:extLst>
              <a:ext uri="{FF2B5EF4-FFF2-40B4-BE49-F238E27FC236}">
                <a16:creationId xmlns:a16="http://schemas.microsoft.com/office/drawing/2014/main" id="{4EB705F3-D511-E75E-D26E-559C96B721FF}"/>
              </a:ext>
            </a:extLst>
          </p:cNvPr>
          <p:cNvSpPr/>
          <p:nvPr/>
        </p:nvSpPr>
        <p:spPr>
          <a:xfrm>
            <a:off x="6400800" y="841248"/>
            <a:ext cx="2487168" cy="457200"/>
          </a:xfrm>
          <a:prstGeom prst="rect">
            <a:avLst/>
          </a:prstGeom>
          <a:solidFill>
            <a:srgbClr val="3DEFC4">
              <a:alpha val="18000"/>
            </a:srgbClr>
          </a:solidFill>
          <a:ln w="12700">
            <a:solidFill>
              <a:srgbClr val="3DEFC4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2" name="Text 45">
            <a:extLst>
              <a:ext uri="{FF2B5EF4-FFF2-40B4-BE49-F238E27FC236}">
                <a16:creationId xmlns:a16="http://schemas.microsoft.com/office/drawing/2014/main" id="{8E849D3A-FB1F-CA8F-B076-26B43E5F2D3D}"/>
              </a:ext>
            </a:extLst>
          </p:cNvPr>
          <p:cNvSpPr/>
          <p:nvPr/>
        </p:nvSpPr>
        <p:spPr>
          <a:xfrm>
            <a:off x="6620256" y="841248"/>
            <a:ext cx="2066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AF2FF"/>
                </a:solidFill>
                <a:latin typeface="Aptos" pitchFamily="34" charset="0"/>
              </a:rPr>
              <a:t>Recommended Approach</a:t>
            </a:r>
            <a:endParaRPr lang="en-US" sz="1300" dirty="0"/>
          </a:p>
        </p:txBody>
      </p:sp>
      <p:grpSp>
        <p:nvGrpSpPr>
          <p:cNvPr id="101" name="Gruppieren 100">
            <a:extLst>
              <a:ext uri="{FF2B5EF4-FFF2-40B4-BE49-F238E27FC236}">
                <a16:creationId xmlns:a16="http://schemas.microsoft.com/office/drawing/2014/main" id="{E2475566-FA43-DC8F-243A-BA74212A091A}"/>
              </a:ext>
            </a:extLst>
          </p:cNvPr>
          <p:cNvGrpSpPr/>
          <p:nvPr/>
        </p:nvGrpSpPr>
        <p:grpSpPr>
          <a:xfrm>
            <a:off x="6620256" y="2356317"/>
            <a:ext cx="2066544" cy="2249424"/>
            <a:chOff x="274320" y="1426464"/>
            <a:chExt cx="2066544" cy="2249424"/>
          </a:xfrm>
        </p:grpSpPr>
        <p:sp>
          <p:nvSpPr>
            <p:cNvPr id="33" name="Shape 31">
              <a:extLst>
                <a:ext uri="{FF2B5EF4-FFF2-40B4-BE49-F238E27FC236}">
                  <a16:creationId xmlns:a16="http://schemas.microsoft.com/office/drawing/2014/main" id="{2DE3396D-471F-B714-B7D8-1D6B6A197F4A}"/>
                </a:ext>
              </a:extLst>
            </p:cNvPr>
            <p:cNvSpPr/>
            <p:nvPr/>
          </p:nvSpPr>
          <p:spPr>
            <a:xfrm>
              <a:off x="274320" y="1426464"/>
              <a:ext cx="2066544" cy="475488"/>
            </a:xfrm>
            <a:prstGeom prst="rect">
              <a:avLst/>
            </a:prstGeom>
            <a:solidFill>
              <a:srgbClr val="5B9BFF">
                <a:alpha val="20000"/>
              </a:srgbClr>
            </a:solidFill>
            <a:ln w="12700">
              <a:solidFill>
                <a:srgbClr val="5B9BFF">
                  <a:alpha val="20000"/>
                </a:srgbClr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4" name="Shape 32">
              <a:extLst>
                <a:ext uri="{FF2B5EF4-FFF2-40B4-BE49-F238E27FC236}">
                  <a16:creationId xmlns:a16="http://schemas.microsoft.com/office/drawing/2014/main" id="{519C3624-6238-BDF3-FBD2-7EBEABAFC7AC}"/>
                </a:ext>
              </a:extLst>
            </p:cNvPr>
            <p:cNvSpPr/>
            <p:nvPr/>
          </p:nvSpPr>
          <p:spPr>
            <a:xfrm>
              <a:off x="274320" y="1426464"/>
              <a:ext cx="2066544" cy="45720"/>
            </a:xfrm>
            <a:prstGeom prst="rect">
              <a:avLst/>
            </a:prstGeom>
            <a:solidFill>
              <a:srgbClr val="5B9BFF"/>
            </a:solidFill>
            <a:ln w="12700">
              <a:solidFill>
                <a:srgbClr val="5B9BFF"/>
              </a:solidFill>
              <a:prstDash val="solid"/>
            </a:ln>
            <a:effectLst>
              <a:outerShdw blurRad="76200" dist="50800" dir="16200000" algn="bl" rotWithShape="0">
                <a:srgbClr val="5B9BFF">
                  <a:alpha val="60000"/>
                </a:srgbClr>
              </a:outerShdw>
            </a:effec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5" name="Text 33">
              <a:extLst>
                <a:ext uri="{FF2B5EF4-FFF2-40B4-BE49-F238E27FC236}">
                  <a16:creationId xmlns:a16="http://schemas.microsoft.com/office/drawing/2014/main" id="{6B12747D-F762-46E6-922F-65514CA2E55A}"/>
                </a:ext>
              </a:extLst>
            </p:cNvPr>
            <p:cNvSpPr/>
            <p:nvPr/>
          </p:nvSpPr>
          <p:spPr>
            <a:xfrm>
              <a:off x="384048" y="1472184"/>
              <a:ext cx="1847088" cy="42062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150" b="1" i="0" u="none" strike="noStrike" kern="1200" cap="none" spc="0" normalizeH="0" baseline="0" noProof="0" dirty="0">
                  <a:ln>
                    <a:noFill/>
                  </a:ln>
                  <a:solidFill>
                    <a:srgbClr val="EAF2FF"/>
                  </a:solidFill>
                  <a:effectLst/>
                  <a:uLnTx/>
                  <a:uFillTx/>
                  <a:latin typeface="Aptos" pitchFamily="34" charset="0"/>
                  <a:ea typeface="Aptos" pitchFamily="34" charset="-122"/>
                  <a:cs typeface="Aptos" pitchFamily="34" charset="-120"/>
                </a:rPr>
                <a:t>Data Foundation</a:t>
              </a:r>
              <a:endPara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1" name="Shape 49">
              <a:extLst>
                <a:ext uri="{FF2B5EF4-FFF2-40B4-BE49-F238E27FC236}">
                  <a16:creationId xmlns:a16="http://schemas.microsoft.com/office/drawing/2014/main" id="{01480F3A-DF12-DA99-1CBE-D0FD5796BDFF}"/>
                </a:ext>
              </a:extLst>
            </p:cNvPr>
            <p:cNvSpPr/>
            <p:nvPr/>
          </p:nvSpPr>
          <p:spPr>
            <a:xfrm>
              <a:off x="274320" y="2017776"/>
              <a:ext cx="2066544" cy="475488"/>
            </a:xfrm>
            <a:prstGeom prst="rect">
              <a:avLst/>
            </a:prstGeom>
            <a:solidFill>
              <a:srgbClr val="3DEFC4">
                <a:alpha val="20000"/>
              </a:srgbClr>
            </a:solidFill>
            <a:ln w="12700">
              <a:solidFill>
                <a:srgbClr val="3DEFC4">
                  <a:alpha val="20000"/>
                </a:srgbClr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2" name="Shape 50">
              <a:extLst>
                <a:ext uri="{FF2B5EF4-FFF2-40B4-BE49-F238E27FC236}">
                  <a16:creationId xmlns:a16="http://schemas.microsoft.com/office/drawing/2014/main" id="{757A8AE8-684B-EC6A-8FC1-D4A046FC8A98}"/>
                </a:ext>
              </a:extLst>
            </p:cNvPr>
            <p:cNvSpPr/>
            <p:nvPr/>
          </p:nvSpPr>
          <p:spPr>
            <a:xfrm>
              <a:off x="274320" y="2017776"/>
              <a:ext cx="2066544" cy="45720"/>
            </a:xfrm>
            <a:prstGeom prst="rect">
              <a:avLst/>
            </a:prstGeom>
            <a:solidFill>
              <a:srgbClr val="3DEFC4"/>
            </a:solidFill>
            <a:ln w="12700">
              <a:solidFill>
                <a:srgbClr val="3DEFC4"/>
              </a:solidFill>
              <a:prstDash val="solid"/>
            </a:ln>
            <a:effectLst>
              <a:outerShdw blurRad="76200" dist="50800" dir="16200000" algn="bl" rotWithShape="0">
                <a:srgbClr val="3DEFC4">
                  <a:alpha val="60000"/>
                </a:srgbClr>
              </a:outerShdw>
            </a:effec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3" name="Text 51">
              <a:extLst>
                <a:ext uri="{FF2B5EF4-FFF2-40B4-BE49-F238E27FC236}">
                  <a16:creationId xmlns:a16="http://schemas.microsoft.com/office/drawing/2014/main" id="{4BECC1ED-DC0F-C5CD-E683-B20A214C56F2}"/>
                </a:ext>
              </a:extLst>
            </p:cNvPr>
            <p:cNvSpPr/>
            <p:nvPr/>
          </p:nvSpPr>
          <p:spPr>
            <a:xfrm>
              <a:off x="384048" y="2063496"/>
              <a:ext cx="1847088" cy="42062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150" b="1" i="0" u="none" strike="noStrike" kern="1200" cap="none" spc="0" normalizeH="0" baseline="0" noProof="0" dirty="0">
                  <a:ln>
                    <a:noFill/>
                  </a:ln>
                  <a:solidFill>
                    <a:srgbClr val="EAF2FF"/>
                  </a:solidFill>
                  <a:effectLst/>
                  <a:uLnTx/>
                  <a:uFillTx/>
                  <a:latin typeface="Aptos" pitchFamily="34" charset="0"/>
                  <a:ea typeface="Aptos" pitchFamily="34" charset="-122"/>
                  <a:cs typeface="Aptos" pitchFamily="34" charset="-120"/>
                </a:rPr>
                <a:t>Knowledge Agent</a:t>
              </a:r>
              <a:endPara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9" name="Shape 67">
              <a:extLst>
                <a:ext uri="{FF2B5EF4-FFF2-40B4-BE49-F238E27FC236}">
                  <a16:creationId xmlns:a16="http://schemas.microsoft.com/office/drawing/2014/main" id="{888648A9-6C11-C247-E7E8-A7B2C389B5D5}"/>
                </a:ext>
              </a:extLst>
            </p:cNvPr>
            <p:cNvSpPr/>
            <p:nvPr/>
          </p:nvSpPr>
          <p:spPr>
            <a:xfrm>
              <a:off x="274320" y="2604517"/>
              <a:ext cx="2066544" cy="475488"/>
            </a:xfrm>
            <a:prstGeom prst="rect">
              <a:avLst/>
            </a:prstGeom>
            <a:solidFill>
              <a:srgbClr val="A78BFF">
                <a:alpha val="20000"/>
              </a:srgbClr>
            </a:solidFill>
            <a:ln w="12700">
              <a:solidFill>
                <a:srgbClr val="A78BFF">
                  <a:alpha val="20000"/>
                </a:srgbClr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0" name="Shape 68">
              <a:extLst>
                <a:ext uri="{FF2B5EF4-FFF2-40B4-BE49-F238E27FC236}">
                  <a16:creationId xmlns:a16="http://schemas.microsoft.com/office/drawing/2014/main" id="{D9F3FA90-5606-E990-15EB-1D315A750755}"/>
                </a:ext>
              </a:extLst>
            </p:cNvPr>
            <p:cNvSpPr/>
            <p:nvPr/>
          </p:nvSpPr>
          <p:spPr>
            <a:xfrm>
              <a:off x="274320" y="2604517"/>
              <a:ext cx="2066544" cy="45720"/>
            </a:xfrm>
            <a:prstGeom prst="rect">
              <a:avLst/>
            </a:prstGeom>
            <a:solidFill>
              <a:srgbClr val="A78BFF"/>
            </a:solidFill>
            <a:ln w="12700">
              <a:solidFill>
                <a:srgbClr val="A78BFF"/>
              </a:solidFill>
              <a:prstDash val="solid"/>
            </a:ln>
            <a:effectLst>
              <a:outerShdw blurRad="76200" dist="50800" dir="16200000" algn="bl" rotWithShape="0">
                <a:srgbClr val="A78BFF">
                  <a:alpha val="60000"/>
                </a:srgbClr>
              </a:outerShdw>
            </a:effec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1" name="Text 69">
              <a:extLst>
                <a:ext uri="{FF2B5EF4-FFF2-40B4-BE49-F238E27FC236}">
                  <a16:creationId xmlns:a16="http://schemas.microsoft.com/office/drawing/2014/main" id="{DBD75B0D-0BBE-870A-3E27-E20B5B7E5371}"/>
                </a:ext>
              </a:extLst>
            </p:cNvPr>
            <p:cNvSpPr/>
            <p:nvPr/>
          </p:nvSpPr>
          <p:spPr>
            <a:xfrm>
              <a:off x="384048" y="2650237"/>
              <a:ext cx="1847088" cy="42062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150" b="1" i="0" u="none" strike="noStrike" kern="1200" cap="none" spc="0" normalizeH="0" baseline="0" noProof="0" dirty="0">
                  <a:ln>
                    <a:noFill/>
                  </a:ln>
                  <a:solidFill>
                    <a:srgbClr val="EAF2FF"/>
                  </a:solidFill>
                  <a:effectLst/>
                  <a:uLnTx/>
                  <a:uFillTx/>
                  <a:latin typeface="Aptos" pitchFamily="34" charset="0"/>
                  <a:ea typeface="Aptos" pitchFamily="34" charset="-122"/>
                  <a:cs typeface="Aptos" pitchFamily="34" charset="-120"/>
                </a:rPr>
                <a:t>Reporting Agent</a:t>
              </a:r>
              <a:endPara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7" name="Shape 85">
              <a:extLst>
                <a:ext uri="{FF2B5EF4-FFF2-40B4-BE49-F238E27FC236}">
                  <a16:creationId xmlns:a16="http://schemas.microsoft.com/office/drawing/2014/main" id="{F3D08F29-E53C-8693-C7BC-58904360D8A9}"/>
                </a:ext>
              </a:extLst>
            </p:cNvPr>
            <p:cNvSpPr/>
            <p:nvPr/>
          </p:nvSpPr>
          <p:spPr>
            <a:xfrm>
              <a:off x="274320" y="3200400"/>
              <a:ext cx="2066544" cy="475488"/>
            </a:xfrm>
            <a:prstGeom prst="rect">
              <a:avLst/>
            </a:prstGeom>
            <a:solidFill>
              <a:srgbClr val="FFC23D">
                <a:alpha val="20000"/>
              </a:srgbClr>
            </a:solidFill>
            <a:ln w="12700">
              <a:solidFill>
                <a:srgbClr val="FFC23D">
                  <a:alpha val="20000"/>
                </a:srgbClr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8" name="Shape 86">
              <a:extLst>
                <a:ext uri="{FF2B5EF4-FFF2-40B4-BE49-F238E27FC236}">
                  <a16:creationId xmlns:a16="http://schemas.microsoft.com/office/drawing/2014/main" id="{B542AE0E-A1B8-A6A9-F576-0D456F36EB5F}"/>
                </a:ext>
              </a:extLst>
            </p:cNvPr>
            <p:cNvSpPr/>
            <p:nvPr/>
          </p:nvSpPr>
          <p:spPr>
            <a:xfrm>
              <a:off x="274320" y="3200400"/>
              <a:ext cx="2066544" cy="45720"/>
            </a:xfrm>
            <a:prstGeom prst="rect">
              <a:avLst/>
            </a:prstGeom>
            <a:solidFill>
              <a:srgbClr val="FFC23D"/>
            </a:solidFill>
            <a:ln w="12700">
              <a:solidFill>
                <a:srgbClr val="FFC23D"/>
              </a:solidFill>
              <a:prstDash val="solid"/>
            </a:ln>
            <a:effectLst>
              <a:outerShdw blurRad="76200" dist="50800" dir="16200000" algn="bl" rotWithShape="0">
                <a:srgbClr val="FFC23D">
                  <a:alpha val="60000"/>
                </a:srgbClr>
              </a:outerShdw>
            </a:effec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9" name="Text 87">
              <a:extLst>
                <a:ext uri="{FF2B5EF4-FFF2-40B4-BE49-F238E27FC236}">
                  <a16:creationId xmlns:a16="http://schemas.microsoft.com/office/drawing/2014/main" id="{2692EE5E-A2D1-6B81-C32F-931B2601CD73}"/>
                </a:ext>
              </a:extLst>
            </p:cNvPr>
            <p:cNvSpPr/>
            <p:nvPr/>
          </p:nvSpPr>
          <p:spPr>
            <a:xfrm>
              <a:off x="384048" y="3246120"/>
              <a:ext cx="1847088" cy="42062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150" b="1" i="0" u="none" strike="noStrike" kern="1200" cap="none" spc="0" normalizeH="0" baseline="0" noProof="0" dirty="0">
                  <a:ln>
                    <a:noFill/>
                  </a:ln>
                  <a:solidFill>
                    <a:srgbClr val="EAF2FF"/>
                  </a:solidFill>
                  <a:effectLst/>
                  <a:uLnTx/>
                  <a:uFillTx/>
                  <a:latin typeface="Aptos" pitchFamily="34" charset="0"/>
                  <a:ea typeface="Aptos" pitchFamily="34" charset="-122"/>
                  <a:cs typeface="Aptos" pitchFamily="34" charset="-120"/>
                </a:rPr>
                <a:t>Investigation &amp; Monitoring</a:t>
              </a:r>
              <a:endPara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24" name="Text 42">
            <a:extLst>
              <a:ext uri="{FF2B5EF4-FFF2-40B4-BE49-F238E27FC236}">
                <a16:creationId xmlns:a16="http://schemas.microsoft.com/office/drawing/2014/main" id="{5D22BB9A-208B-D649-4299-302E5E6A4E55}"/>
              </a:ext>
            </a:extLst>
          </p:cNvPr>
          <p:cNvSpPr/>
          <p:nvPr/>
        </p:nvSpPr>
        <p:spPr>
          <a:xfrm>
            <a:off x="475488" y="1216152"/>
            <a:ext cx="3931920" cy="1984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50 employees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 CNC machines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 bending machines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 assembly lines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SAP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QM system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various data sources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a greenfield project</a:t>
            </a:r>
          </a:p>
          <a:p>
            <a:b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</a:b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Estimated Program Range: €260,000 – €530,000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Estimated Timeline: 6–12 Months</a:t>
            </a:r>
            <a:endParaRPr lang="en-US" sz="950" dirty="0"/>
          </a:p>
        </p:txBody>
      </p:sp>
      <p:sp>
        <p:nvSpPr>
          <p:cNvPr id="125" name="Shape 71">
            <a:extLst>
              <a:ext uri="{FF2B5EF4-FFF2-40B4-BE49-F238E27FC236}">
                <a16:creationId xmlns:a16="http://schemas.microsoft.com/office/drawing/2014/main" id="{545D2B45-65E8-504B-C263-D9B109D8BFA5}"/>
              </a:ext>
            </a:extLst>
          </p:cNvPr>
          <p:cNvSpPr/>
          <p:nvPr/>
        </p:nvSpPr>
        <p:spPr>
          <a:xfrm>
            <a:off x="6620256" y="1390710"/>
            <a:ext cx="2066544" cy="859536"/>
          </a:xfrm>
          <a:prstGeom prst="rect">
            <a:avLst/>
          </a:prstGeom>
          <a:solidFill>
            <a:srgbClr val="0A1430"/>
          </a:solidFill>
          <a:ln w="12700">
            <a:solidFill>
              <a:srgbClr val="FF5FA8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26" name="Shape 72">
            <a:extLst>
              <a:ext uri="{FF2B5EF4-FFF2-40B4-BE49-F238E27FC236}">
                <a16:creationId xmlns:a16="http://schemas.microsoft.com/office/drawing/2014/main" id="{22572C82-1F8E-3890-487E-4A0869F52979}"/>
              </a:ext>
            </a:extLst>
          </p:cNvPr>
          <p:cNvSpPr/>
          <p:nvPr/>
        </p:nvSpPr>
        <p:spPr>
          <a:xfrm>
            <a:off x="6620256" y="1390710"/>
            <a:ext cx="2066544" cy="45720"/>
          </a:xfrm>
          <a:prstGeom prst="rect">
            <a:avLst/>
          </a:prstGeom>
          <a:solidFill>
            <a:srgbClr val="FF5FA8"/>
          </a:solidFill>
          <a:ln w="12700">
            <a:solidFill>
              <a:srgbClr val="FF5FA8"/>
            </a:solidFill>
            <a:prstDash val="solid"/>
          </a:ln>
          <a:effectLst>
            <a:outerShdw blurRad="762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7" name="Text 73">
            <a:extLst>
              <a:ext uri="{FF2B5EF4-FFF2-40B4-BE49-F238E27FC236}">
                <a16:creationId xmlns:a16="http://schemas.microsoft.com/office/drawing/2014/main" id="{4F2A492E-E628-2C27-9790-09A27D4DB80C}"/>
              </a:ext>
            </a:extLst>
          </p:cNvPr>
          <p:cNvSpPr/>
          <p:nvPr/>
        </p:nvSpPr>
        <p:spPr>
          <a:xfrm>
            <a:off x="6656832" y="1463862"/>
            <a:ext cx="197366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5FA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2-Day Discovery Workshop</a:t>
            </a:r>
          </a:p>
        </p:txBody>
      </p:sp>
      <p:sp>
        <p:nvSpPr>
          <p:cNvPr id="128" name="Text 74">
            <a:extLst>
              <a:ext uri="{FF2B5EF4-FFF2-40B4-BE49-F238E27FC236}">
                <a16:creationId xmlns:a16="http://schemas.microsoft.com/office/drawing/2014/main" id="{1700923D-AC1A-A08D-A902-8E587883897E}"/>
              </a:ext>
            </a:extLst>
          </p:cNvPr>
          <p:cNvSpPr/>
          <p:nvPr/>
        </p:nvSpPr>
        <p:spPr>
          <a:xfrm>
            <a:off x="6675120" y="1719894"/>
            <a:ext cx="192722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architecture /</a:t>
            </a:r>
            <a:b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</a:b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Prioritized roadmap /</a:t>
            </a:r>
          </a:p>
          <a:p>
            <a:pPr marL="0" indent="0" algn="ctr">
              <a:buNone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 estimate / ROI  assessment</a:t>
            </a:r>
          </a:p>
          <a:p>
            <a:pPr marL="0" indent="0" algn="ctr">
              <a:buNone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 plan</a:t>
            </a:r>
            <a:endParaRPr lang="en-US" sz="850" dirty="0"/>
          </a:p>
        </p:txBody>
      </p:sp>
      <p:sp>
        <p:nvSpPr>
          <p:cNvPr id="130" name="Shape 81">
            <a:extLst>
              <a:ext uri="{FF2B5EF4-FFF2-40B4-BE49-F238E27FC236}">
                <a16:creationId xmlns:a16="http://schemas.microsoft.com/office/drawing/2014/main" id="{2B313802-41A0-F4A8-0B30-AE134EED32DD}"/>
              </a:ext>
            </a:extLst>
          </p:cNvPr>
          <p:cNvSpPr/>
          <p:nvPr/>
        </p:nvSpPr>
        <p:spPr>
          <a:xfrm>
            <a:off x="7479792" y="1390710"/>
            <a:ext cx="0" cy="0"/>
          </a:xfrm>
          <a:prstGeom prst="line">
            <a:avLst/>
          </a:prstGeom>
          <a:noFill/>
          <a:ln w="12700">
            <a:solidFill>
              <a:srgbClr val="5B9BFF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1" name="Text 41">
            <a:extLst>
              <a:ext uri="{FF2B5EF4-FFF2-40B4-BE49-F238E27FC236}">
                <a16:creationId xmlns:a16="http://schemas.microsoft.com/office/drawing/2014/main" id="{673E4BF9-FDC0-A419-200E-88C34C630411}"/>
              </a:ext>
            </a:extLst>
          </p:cNvPr>
          <p:cNvSpPr/>
          <p:nvPr/>
        </p:nvSpPr>
        <p:spPr>
          <a:xfrm>
            <a:off x="475488" y="3141391"/>
            <a:ext cx="5724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9DBEF0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First Step: Gain a detailed understanding of the current system landscape, data sources, reporting processes, compliance requirements, and business priorities. We do a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012794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306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1645920"/>
            <a:ext cx="6400800" cy="6400800"/>
          </a:xfrm>
          <a:prstGeom prst="ellipse">
            <a:avLst/>
          </a:prstGeom>
          <a:solidFill>
            <a:srgbClr val="0B1E4D">
              <a:alpha val="22000"/>
            </a:srgbClr>
          </a:solidFill>
          <a:ln w="12700">
            <a:solidFill>
              <a:srgbClr val="0B1E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949440" y="1097280"/>
            <a:ext cx="1005840" cy="73152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955280" y="1828800"/>
            <a:ext cx="548640" cy="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955280" y="1828800"/>
            <a:ext cx="0" cy="91440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955280" y="1828800"/>
            <a:ext cx="640080" cy="109728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498080" y="2743200"/>
            <a:ext cx="640080" cy="118872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498080" y="2743200"/>
            <a:ext cx="0" cy="91440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8595360" y="2926080"/>
            <a:ext cx="0" cy="100584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949440" y="1097280"/>
            <a:ext cx="548640" cy="164592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894576" y="1042416"/>
            <a:ext cx="109728" cy="109728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6926397" y="1074237"/>
            <a:ext cx="46086" cy="46086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891272" y="1764792"/>
            <a:ext cx="128016" cy="128016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928397" y="1801917"/>
            <a:ext cx="53767" cy="53767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458200" y="868680"/>
            <a:ext cx="91440" cy="91440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484718" y="89519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7443216" y="2688336"/>
            <a:ext cx="109728" cy="109728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7475037" y="2720157"/>
            <a:ext cx="46086" cy="46086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549640" y="2880360"/>
            <a:ext cx="91440" cy="91440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576158" y="290687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8092440" y="3886200"/>
            <a:ext cx="91440" cy="91440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8118958" y="391271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6999732" y="3616452"/>
            <a:ext cx="82296" cy="82296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7023598" y="3640318"/>
            <a:ext cx="34564" cy="3456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5B9BFF"/>
          </a:solidFill>
          <a:ln w="12700">
            <a:solidFill>
              <a:srgbClr val="5B9BFF"/>
            </a:solidFill>
            <a:prstDash val="solid"/>
          </a:ln>
          <a:effectLst>
            <a:outerShdw blurRad="88900" dist="50800" dir="16200000" algn="bl" rotWithShape="0">
              <a:srgbClr val="5B9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-27432" y="1595628"/>
            <a:ext cx="100584" cy="100584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1737" y="162479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-13716" y="3255264"/>
            <a:ext cx="73152" cy="73152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7498" y="327647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274320" y="914400"/>
            <a:ext cx="8229600" cy="1097280"/>
          </a:xfrm>
          <a:prstGeom prst="rect">
            <a:avLst/>
          </a:prstGeom>
          <a:noFill/>
          <a:ln/>
          <a:effectLst>
            <a:outerShdw blurRad="228600" dist="50800" dir="16200000" algn="bl" rotWithShape="0">
              <a:srgbClr val="5B9BFF">
                <a:alpha val="40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Thank you.</a:t>
            </a:r>
            <a:endParaRPr lang="en-US" sz="6000" dirty="0"/>
          </a:p>
        </p:txBody>
      </p:sp>
      <p:sp>
        <p:nvSpPr>
          <p:cNvPr id="31" name="Text 29"/>
          <p:cNvSpPr/>
          <p:nvPr/>
        </p:nvSpPr>
        <p:spPr>
          <a:xfrm>
            <a:off x="274320" y="2148840"/>
            <a:ext cx="6858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 look forward to working with Vulkan Werke.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274320" y="2834640"/>
            <a:ext cx="2194560" cy="22860"/>
          </a:xfrm>
          <a:prstGeom prst="rect">
            <a:avLst/>
          </a:prstGeom>
          <a:solidFill>
            <a:srgbClr val="5B9BFF"/>
          </a:solidFill>
          <a:ln w="12700">
            <a:solidFill>
              <a:srgbClr val="5B9BFF"/>
            </a:solidFill>
            <a:prstDash val="solid"/>
          </a:ln>
          <a:effectLst>
            <a:outerShdw blurRad="1016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274320" y="2980944"/>
            <a:ext cx="6400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SilverTrust Consulting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274320" y="332841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Questions? Comments? We're ready.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0" y="4956048"/>
            <a:ext cx="9144000" cy="16459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274320" y="4974336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 ·  SilverTrust Consulting  ·  Confidential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8229600" y="497433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13/13</a:t>
            </a:r>
            <a:endParaRPr lang="en-US" sz="750" dirty="0"/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1570</Words>
  <Application>Microsoft Macintosh PowerPoint</Application>
  <PresentationFormat>On-screen Show (16:9)</PresentationFormat>
  <Paragraphs>394</Paragraphs>
  <Slides>14</Slides>
  <Notes>14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Arial</vt:lpstr>
      <vt:lpstr>Calibri</vt:lpstr>
      <vt:lpstr>Office Theme</vt:lpstr>
      <vt:lpstr>think-cell Folie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Vulkan Werke – AI Data Intelligence</dc:title>
  <dc:subject>PptxGenJS Presentation</dc:subject>
  <dc:creator>PptxGenJS</dc:creator>
  <cp:lastModifiedBy>Markus von Aschoff</cp:lastModifiedBy>
  <cp:revision>9</cp:revision>
  <dcterms:created xsi:type="dcterms:W3CDTF">2026-06-02T12:56:39Z</dcterms:created>
  <dcterms:modified xsi:type="dcterms:W3CDTF">2026-06-03T09:27:23Z</dcterms:modified>
</cp:coreProperties>
</file>