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4" r:id="rId9"/>
    <p:sldId id="265" r:id="rId10"/>
    <p:sldId id="266" r:id="rId11"/>
    <p:sldId id="267" r:id="rId12"/>
    <p:sldId id="263" r:id="rId13"/>
    <p:sldId id="269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45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85015" autoAdjust="0"/>
  </p:normalViewPr>
  <p:slideViewPr>
    <p:cSldViewPr snapToGrid="0" snapToObjects="1">
      <p:cViewPr>
        <p:scale>
          <a:sx n="125" d="100"/>
          <a:sy n="125" d="100"/>
        </p:scale>
        <p:origin x="168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37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QM Report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Creates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prestructured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report / Analyzes Data Gap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Review content and add missing context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0245-C722-5A7C-ACC8-C3AE9255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EC410-67CA-B42A-66DB-98D8283F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05ECC-C54E-C899-557D-3CB50F8AB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BF359-983B-4A77-8B73-D73373824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052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3AB86E5-0DE4-3B28-5B7B-B0B0344F3C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30142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70" imgH="371" progId="TCLayout.ActiveDocument.1">
                  <p:embed/>
                </p:oleObj>
              </mc:Choice>
              <mc:Fallback>
                <p:oleObj name="think-cell Folie" r:id="rId4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2194560"/>
            <a:ext cx="6400800" cy="6400800"/>
          </a:xfrm>
          <a:prstGeom prst="ellipse">
            <a:avLst/>
          </a:prstGeom>
          <a:solidFill>
            <a:srgbClr val="0B1E4D">
              <a:alpha val="25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914400"/>
            <a:ext cx="1097280" cy="64008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914400"/>
            <a:ext cx="0" cy="11887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0" y="1554480"/>
            <a:ext cx="640080" cy="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0" y="1554480"/>
            <a:ext cx="0" cy="109728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1554480"/>
            <a:ext cx="731520" cy="82296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06640" y="2651760"/>
            <a:ext cx="0" cy="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2651760"/>
            <a:ext cx="0" cy="109728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95360" y="2377440"/>
            <a:ext cx="0" cy="100584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3383280"/>
            <a:ext cx="0" cy="7315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3383280"/>
            <a:ext cx="365760" cy="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651760"/>
            <a:ext cx="822960" cy="7315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3749040"/>
            <a:ext cx="1005840" cy="36576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11696" y="859536"/>
            <a:ext cx="109728" cy="10972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3517" y="891357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99832" y="1490472"/>
            <a:ext cx="128016" cy="12801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36957" y="152759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58200" y="777240"/>
            <a:ext cx="91440" cy="91440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84718" y="80375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51776" y="2596896"/>
            <a:ext cx="109728" cy="109728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83597" y="2628717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9640" y="2331720"/>
            <a:ext cx="91440" cy="91440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576158" y="23582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9652" y="2061972"/>
            <a:ext cx="82296" cy="8229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83518" y="2085838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79308" y="3332988"/>
            <a:ext cx="100584" cy="10058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08477" y="33621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91172" y="3707892"/>
            <a:ext cx="82296" cy="8229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15038" y="3731758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01584" y="407822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22798" y="40994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889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-27432" y="1778508"/>
            <a:ext cx="100584" cy="10058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37" y="180767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-13716" y="325526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98" y="327647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640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1051560"/>
            <a:ext cx="7498080" cy="1051560"/>
          </a:xfrm>
          <a:prstGeom prst="rect">
            <a:avLst/>
          </a:prstGeom>
          <a:noFill/>
          <a:ln/>
          <a:effectLst>
            <a:outerShdw blurRad="203200" dist="50800" dir="16200000" algn="bl" rotWithShape="0">
              <a:srgbClr val="5B9BFF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Data Intelligence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274320" y="224028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Solution Proposal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74320" y="2816352"/>
            <a:ext cx="2194560" cy="2286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1016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29809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  ·  June 1, 2026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74336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– Internal Use Only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1143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889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5B9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5B9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5B9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for a centralized data &amp; knowledge platform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5440680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5B9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5440680" cy="54864"/>
          </a:xfrm>
          <a:prstGeom prst="rect">
            <a:avLst/>
          </a:prstGeom>
          <a:solidFill>
            <a:srgbClr val="5B9BFF">
              <a:alpha val="18000"/>
            </a:srgbClr>
          </a:solidFill>
          <a:ln w="12700">
            <a:solidFill>
              <a:srgbClr val="5B9B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1060704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faces growing operational friction: fragmented data, disconnected systems, manual reporting, and heavy dependence on individual experts for critical information.</a:t>
            </a:r>
            <a:endParaRPr lang="en-US" sz="1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Manufacturing, quality, and operational data live in systems that don't talk to each other. Root cause investigations are slow, quality issues surface too late, reporting eats time, and knowledge stays locked in a few heads.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combines operational data from multiple systems into a single trusted source of truth — built on proven software, with AI applied only where it creates measurable business value.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70448" y="877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applied only where it pays off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70448" y="1243584"/>
            <a:ext cx="3017520" cy="1024128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70448" y="1243584"/>
            <a:ext cx="91440" cy="1024128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889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25896" y="1453896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52414" y="1480414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36208" y="137160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retrieval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1700784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access to operational and technical know-how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70448" y="2414016"/>
            <a:ext cx="3017520" cy="1024128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70448" y="2414016"/>
            <a:ext cx="91440" cy="1024128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889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25896" y="2624328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52414" y="2650846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36208" y="254203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support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36208" y="2871216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Faster, evidence-based root cause analysis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70448" y="3584448"/>
            <a:ext cx="3017520" cy="1024128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870448" y="3584448"/>
            <a:ext cx="91440" cy="1024128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889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25896" y="3794760"/>
            <a:ext cx="91440" cy="91440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52414" y="382127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36208" y="37124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36208" y="4041648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ISO, quality, and audit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1143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88900" dist="50800" dir="16200000" algn="bl" rotWithShape="0">
              <a:srgbClr val="FF5FA8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2855854"/>
            <a:ext cx="73152" cy="73152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287706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FF5F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FF5F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FF5F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domains, one root cause: fragmented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2779776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FF5FA8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2779776" cy="512064"/>
          </a:xfrm>
          <a:prstGeom prst="rect">
            <a:avLst/>
          </a:prstGeom>
          <a:solidFill>
            <a:srgbClr val="FF5FA8">
              <a:alpha val="18000"/>
            </a:srgbClr>
          </a:solidFill>
          <a:ln w="12700">
            <a:solidFill>
              <a:srgbClr val="FF5FA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84124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6636" y="1632204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5805" y="1661373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" y="1554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" y="1517904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&amp; quality issues detected too late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" y="2384938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5805" y="241410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624" y="230721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" y="2270638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costs continue to increase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6636" y="3061594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5805" y="3090763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0624" y="298387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" y="2947294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 investigations slow and difficult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841248"/>
            <a:ext cx="2779776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0" y="841248"/>
            <a:ext cx="2779776" cy="512064"/>
          </a:xfrm>
          <a:prstGeom prst="rect">
            <a:avLst/>
          </a:prstGeom>
          <a:solidFill>
            <a:srgbClr val="36E0FF">
              <a:alpha val="18000"/>
            </a:srgbClr>
          </a:solidFill>
          <a:ln w="12700">
            <a:solidFill>
              <a:srgbClr val="36E0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46704" y="84124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3442716" y="1632204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471885" y="1661373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46704" y="1554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12464" y="1517904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knowledge depends on few individuals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42716" y="260146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71885" y="26306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46704" y="25237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12464" y="2487168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retrieval is manual and time-consuming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42716" y="3570732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471885" y="3599901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46704" y="34930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12464" y="3456432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scattered across many systems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26480" y="841248"/>
            <a:ext cx="2779776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26480" y="841248"/>
            <a:ext cx="2779776" cy="512064"/>
          </a:xfrm>
          <a:prstGeom prst="rect">
            <a:avLst/>
          </a:prstGeom>
          <a:solidFill>
            <a:srgbClr val="A78BFF">
              <a:alpha val="18000"/>
            </a:srgbClr>
          </a:solidFill>
          <a:ln w="12700">
            <a:solidFill>
              <a:srgbClr val="A78B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72784" y="841248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368796" y="1632204"/>
            <a:ext cx="100584" cy="10058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397965" y="1661373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72784" y="1554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38544" y="1517904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preparation requires significant effort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68796" y="2601468"/>
            <a:ext cx="100584" cy="10058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397965" y="26306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72784" y="25237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38544" y="2487168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is largely manual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68796" y="3570732"/>
            <a:ext cx="100584" cy="10058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397965" y="3599901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72784" y="34930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38544" y="3456432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evidence for improvements hard to provide</a:t>
            </a:r>
            <a:endParaRPr lang="en-US" sz="1100" dirty="0"/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91D940D3-3B3D-F24F-006F-2E255BF6DA37}"/>
              </a:ext>
            </a:extLst>
          </p:cNvPr>
          <p:cNvSpPr/>
          <p:nvPr/>
        </p:nvSpPr>
        <p:spPr>
          <a:xfrm>
            <a:off x="516636" y="3765747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1580CB88-B797-31F9-D5BA-452F8AC2F7B8}"/>
              </a:ext>
            </a:extLst>
          </p:cNvPr>
          <p:cNvSpPr/>
          <p:nvPr/>
        </p:nvSpPr>
        <p:spPr>
          <a:xfrm>
            <a:off x="545805" y="3794916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59E0880F-D2B2-47AE-E56A-90FF857D6BA6}"/>
              </a:ext>
            </a:extLst>
          </p:cNvPr>
          <p:cNvSpPr/>
          <p:nvPr/>
        </p:nvSpPr>
        <p:spPr>
          <a:xfrm>
            <a:off x="420624" y="3688023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3A80E0B1-2A06-9CB5-8A83-8D1CCEB67ACF}"/>
              </a:ext>
            </a:extLst>
          </p:cNvPr>
          <p:cNvSpPr/>
          <p:nvPr/>
        </p:nvSpPr>
        <p:spPr>
          <a:xfrm>
            <a:off x="786384" y="3651447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 data based decision not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1143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889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DEF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Components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agents — each scoped to a clear business value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207568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2075688" cy="420624"/>
          </a:xfrm>
          <a:prstGeom prst="rect">
            <a:avLst/>
          </a:prstGeom>
          <a:solidFill>
            <a:srgbClr val="3DEFC4">
              <a:alpha val="18000"/>
            </a:srgbClr>
          </a:solidFill>
          <a:ln w="12700">
            <a:solidFill>
              <a:srgbClr val="3DEFC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3484" y="1001268"/>
            <a:ext cx="100584" cy="100584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653" y="10304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841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2336" y="13167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access to operational and technical knowledge.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2336" y="2121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downtime data?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24505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OEE calculated?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feeds this report?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2336" y="3163824"/>
            <a:ext cx="18288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2336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expert dependency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37673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onboarding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02336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retention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78024" y="841248"/>
            <a:ext cx="207568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478024" y="841248"/>
            <a:ext cx="2075688" cy="420624"/>
          </a:xfrm>
          <a:prstGeom prst="rect">
            <a:avLst/>
          </a:prstGeom>
          <a:solidFill>
            <a:srgbClr val="36E0FF">
              <a:alpha val="18000"/>
            </a:srgbClr>
          </a:solidFill>
          <a:ln w="12700">
            <a:solidFill>
              <a:srgbClr val="36E0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647188" y="100126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676357" y="10304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62072" y="841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606040" y="13167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root cause investigations.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06040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06040" y="2121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rework increase?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606040" y="24505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downtime occur?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06040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incidents before?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606040" y="3163824"/>
            <a:ext cx="18288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06040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06040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investigations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606040" y="37673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transparency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81728" y="841248"/>
            <a:ext cx="207568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81728" y="841248"/>
            <a:ext cx="2075688" cy="420624"/>
          </a:xfrm>
          <a:prstGeom prst="rect">
            <a:avLst/>
          </a:prstGeom>
          <a:solidFill>
            <a:srgbClr val="A78BFF">
              <a:alpha val="18000"/>
            </a:srgbClr>
          </a:solidFill>
          <a:ln w="12700">
            <a:solidFill>
              <a:srgbClr val="A78B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50892" y="1001268"/>
            <a:ext cx="100584" cy="10058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880061" y="10304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65776" y="841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809744" y="13167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report preparation.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09744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09744" y="2121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reports</a:t>
            </a:r>
          </a:p>
        </p:txBody>
      </p:sp>
      <p:sp>
        <p:nvSpPr>
          <p:cNvPr id="65" name="Text 63"/>
          <p:cNvSpPr/>
          <p:nvPr/>
        </p:nvSpPr>
        <p:spPr>
          <a:xfrm>
            <a:off x="4809744" y="24505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&amp; management summaries</a:t>
            </a:r>
          </a:p>
        </p:txBody>
      </p:sp>
      <p:sp>
        <p:nvSpPr>
          <p:cNvPr id="66" name="Text 64"/>
          <p:cNvSpPr/>
          <p:nvPr/>
        </p:nvSpPr>
        <p:spPr>
          <a:xfrm>
            <a:off x="4809744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packages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809744" y="3163824"/>
            <a:ext cx="18288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09744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09744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reporting effort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09744" y="37673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audits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09744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docs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885432" y="841248"/>
            <a:ext cx="207568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FFC23D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885432" y="841248"/>
            <a:ext cx="2075688" cy="420624"/>
          </a:xfrm>
          <a:prstGeom prst="rect">
            <a:avLst/>
          </a:prstGeom>
          <a:solidFill>
            <a:srgbClr val="FFC23D">
              <a:alpha val="18000"/>
            </a:srgbClr>
          </a:solidFill>
          <a:ln w="12700">
            <a:solidFill>
              <a:srgbClr val="FFC23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054596" y="1001268"/>
            <a:ext cx="100584" cy="100584"/>
          </a:xfrm>
          <a:prstGeom prst="ellipse">
            <a:avLst/>
          </a:prstGeom>
          <a:solidFill>
            <a:srgbClr val="FFC23D"/>
          </a:solidFill>
          <a:ln w="6350">
            <a:solidFill>
              <a:srgbClr val="FFC23D"/>
            </a:solidFill>
            <a:prstDash val="solid"/>
          </a:ln>
          <a:effectLst>
            <a:outerShdw blurRad="1397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083765" y="103043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269480" y="841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7013448" y="13167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early warning and trend detection.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013448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013448" y="21214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scrap rates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013448" y="24505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downtime patterns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013448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maintenance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013448" y="3163824"/>
            <a:ext cx="18288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013448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013448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visibility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013448" y="37673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downtime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013448" y="4096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surprises</a:t>
            </a:r>
            <a:endParaRPr lang="en-US" sz="850" dirty="0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B65F9AB8-DB6C-A179-4CC1-3133ACAC0CD3}"/>
              </a:ext>
            </a:extLst>
          </p:cNvPr>
          <p:cNvSpPr/>
          <p:nvPr/>
        </p:nvSpPr>
        <p:spPr>
          <a:xfrm>
            <a:off x="1042162" y="4574286"/>
            <a:ext cx="1321562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600" dirty="0">
                <a:solidFill>
                  <a:srgbClr val="9DBEF0"/>
                </a:solidFill>
                <a:latin typeface="Aptos" pitchFamily="34" charset="0"/>
              </a:rPr>
              <a:t>*Overall Equipment Effectiveness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1143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889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6E0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question becomes a trusted, traceable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841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pipeline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1170432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6B82B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0352" y="1307592"/>
            <a:ext cx="128016" cy="128016"/>
          </a:xfrm>
          <a:prstGeom prst="ellipse">
            <a:avLst/>
          </a:prstGeom>
          <a:solidFill>
            <a:srgbClr val="6B82B5"/>
          </a:solidFill>
          <a:ln w="6350">
            <a:solidFill>
              <a:srgbClr val="6B82B5"/>
            </a:solidFill>
            <a:prstDash val="solid"/>
          </a:ln>
          <a:effectLst>
            <a:outerShdw blurRad="139700" dist="50800" dir="16200000" algn="bl" rotWithShape="0">
              <a:srgbClr val="6B82B5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7477" y="134471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" y="11704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	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1572768"/>
            <a:ext cx="0" cy="109728"/>
          </a:xfrm>
          <a:prstGeom prst="line">
            <a:avLst/>
          </a:prstGeom>
          <a:noFill/>
          <a:ln w="12700">
            <a:solidFill>
              <a:srgbClr val="6B82B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1682496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FF5F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0352" y="1819656"/>
            <a:ext cx="128016" cy="128016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67477" y="1856781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" y="16824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Check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" y="2084832"/>
            <a:ext cx="0" cy="109728"/>
          </a:xfrm>
          <a:prstGeom prst="line">
            <a:avLst/>
          </a:prstGeom>
          <a:noFill/>
          <a:ln w="12700">
            <a:solidFill>
              <a:srgbClr val="FF5FA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2194560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36E0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0352" y="2331720"/>
            <a:ext cx="128016" cy="12801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7477" y="2368845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" y="21945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Data Selection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" y="2596896"/>
            <a:ext cx="0" cy="109728"/>
          </a:xfrm>
          <a:prstGeom prst="line">
            <a:avLst/>
          </a:prstGeom>
          <a:noFill/>
          <a:ln w="12700">
            <a:solidFill>
              <a:srgbClr val="36E0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5760" y="2706624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FFC23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30352" y="2843784"/>
            <a:ext cx="128016" cy="128016"/>
          </a:xfrm>
          <a:prstGeom prst="ellipse">
            <a:avLst/>
          </a:prstGeom>
          <a:solidFill>
            <a:srgbClr val="FFC23D"/>
          </a:solidFill>
          <a:ln w="6350">
            <a:solidFill>
              <a:srgbClr val="FFC23D"/>
            </a:solidFill>
            <a:prstDash val="solid"/>
          </a:ln>
          <a:effectLst>
            <a:outerShdw blurRad="1397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67477" y="2880909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1248" y="27066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Calculation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" y="3108960"/>
            <a:ext cx="0" cy="109728"/>
          </a:xfrm>
          <a:prstGeom prst="line">
            <a:avLst/>
          </a:prstGeom>
          <a:noFill/>
          <a:ln w="12700">
            <a:solidFill>
              <a:srgbClr val="FFC2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5760" y="3218688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5B9B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0352" y="3355848"/>
            <a:ext cx="128016" cy="128016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67477" y="3392973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1248" y="3218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Package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" y="3621024"/>
            <a:ext cx="0" cy="109728"/>
          </a:xfrm>
          <a:prstGeom prst="line">
            <a:avLst/>
          </a:prstGeom>
          <a:noFill/>
          <a:ln w="12700">
            <a:solidFill>
              <a:srgbClr val="5B9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65760" y="3730752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3DEF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30352" y="3867912"/>
            <a:ext cx="128016" cy="128016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67477" y="390503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1248" y="37307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Analysis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94360" y="4133088"/>
            <a:ext cx="0" cy="109728"/>
          </a:xfrm>
          <a:prstGeom prst="line">
            <a:avLst/>
          </a:prstGeom>
          <a:noFill/>
          <a:ln w="12700">
            <a:solidFill>
              <a:srgbClr val="3DEF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65760" y="4242816"/>
            <a:ext cx="4206240" cy="402336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30352" y="4379976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7477" y="4417101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572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1248" y="42428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→ Final Decision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892040" y="841248"/>
            <a:ext cx="399592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892040" y="841248"/>
            <a:ext cx="3995928" cy="54864"/>
          </a:xfrm>
          <a:prstGeom prst="rect">
            <a:avLst/>
          </a:prstGeom>
          <a:solidFill>
            <a:srgbClr val="36E0FF">
              <a:alpha val="18000"/>
            </a:srgbClr>
          </a:solidFill>
          <a:ln w="12700">
            <a:solidFill>
              <a:srgbClr val="36E0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0749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74920" y="1335024"/>
            <a:ext cx="3630168" cy="548640"/>
          </a:xfrm>
          <a:prstGeom prst="rect">
            <a:avLst/>
          </a:prstGeom>
          <a:solidFill>
            <a:srgbClr val="08112A"/>
          </a:solidFill>
          <a:ln w="10160">
            <a:solidFill>
              <a:srgbClr val="36E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184648" y="1335024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"Why did rework increase on Line 3 last week?"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5074920" y="2029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package sent to the AI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74920" y="2340864"/>
            <a:ext cx="3630168" cy="384048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074920" y="2340864"/>
            <a:ext cx="54864" cy="384048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239512" y="2340864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increased from 3.2% to 7.4%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074920" y="2798064"/>
            <a:ext cx="3630168" cy="384048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074920" y="2798064"/>
            <a:ext cx="54864" cy="384048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239512" y="2798064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 station alarms up by 38%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074920" y="3255264"/>
            <a:ext cx="3630168" cy="384048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074920" y="3255264"/>
            <a:ext cx="54864" cy="384048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239512" y="3255264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intervention occurred Tuesday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074920" y="3712464"/>
            <a:ext cx="3630168" cy="384048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074920" y="3712464"/>
            <a:ext cx="54864" cy="384048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239512" y="3712464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event recorded in March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074920" y="4224528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The AI receives only this filtered context — never the full production databases or customer data.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1143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889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DEF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 &amp; Report Accuracy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Quantified savings — and how AI reports stay trustworthy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AI reports stay accurate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1152144"/>
            <a:ext cx="3840480" cy="457200"/>
          </a:xfrm>
          <a:prstGeom prst="rect">
            <a:avLst/>
          </a:prstGeom>
          <a:solidFill>
            <a:srgbClr val="0A1430"/>
          </a:solidFill>
          <a:ln w="10160">
            <a:solidFill>
              <a:srgbClr val="6B82B5">
                <a:alpha val="6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1152144"/>
            <a:ext cx="54864" cy="457200"/>
          </a:xfrm>
          <a:prstGeom prst="rect">
            <a:avLst/>
          </a:prstGeom>
          <a:solidFill>
            <a:srgbClr val="6B82B5"/>
          </a:solidFill>
          <a:ln w="12700">
            <a:solidFill>
              <a:srgbClr val="6B82B5"/>
            </a:solidFill>
            <a:prstDash val="solid"/>
          </a:ln>
          <a:effectLst>
            <a:outerShdw blurRad="63500" dist="50800" dir="16200000" algn="bl" rotWithShape="0">
              <a:srgbClr val="6B82B5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" y="1325880"/>
            <a:ext cx="109728" cy="109728"/>
          </a:xfrm>
          <a:prstGeom prst="ellipse">
            <a:avLst/>
          </a:prstGeom>
          <a:solidFill>
            <a:srgbClr val="6B82B5"/>
          </a:solidFill>
          <a:ln w="6350">
            <a:solidFill>
              <a:srgbClr val="6B82B5"/>
            </a:solidFill>
            <a:prstDash val="solid"/>
          </a:ln>
          <a:effectLst>
            <a:outerShdw blurRad="139700" dist="50800" dir="16200000" algn="bl" rotWithShape="0">
              <a:srgbClr val="6B82B5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0189" y="1357701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" y="12435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1152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QM Report</a:t>
            </a:r>
          </a:p>
        </p:txBody>
      </p:sp>
      <p:sp>
        <p:nvSpPr>
          <p:cNvPr id="34" name="Shape 32"/>
          <p:cNvSpPr/>
          <p:nvPr/>
        </p:nvSpPr>
        <p:spPr>
          <a:xfrm>
            <a:off x="740664" y="1609344"/>
            <a:ext cx="0" cy="109728"/>
          </a:xfrm>
          <a:prstGeom prst="line">
            <a:avLst/>
          </a:prstGeom>
          <a:noFill/>
          <a:ln w="12700">
            <a:solidFill>
              <a:srgbClr val="6B82B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1719072"/>
            <a:ext cx="3840480" cy="457200"/>
          </a:xfrm>
          <a:prstGeom prst="rect">
            <a:avLst/>
          </a:prstGeom>
          <a:solidFill>
            <a:srgbClr val="0A1430"/>
          </a:solidFill>
          <a:ln w="10160">
            <a:solidFill>
              <a:srgbClr val="36E0FF">
                <a:alpha val="6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1719072"/>
            <a:ext cx="54864" cy="45720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8368" y="1892808"/>
            <a:ext cx="109728" cy="109728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0189" y="1924629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3504" y="18105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17190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 &amp; Evidence Collection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" y="2176272"/>
            <a:ext cx="0" cy="109728"/>
          </a:xfrm>
          <a:prstGeom prst="line">
            <a:avLst/>
          </a:prstGeom>
          <a:noFill/>
          <a:ln w="12700">
            <a:solidFill>
              <a:srgbClr val="36E0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2286000"/>
            <a:ext cx="3840480" cy="457200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6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" y="2459736"/>
            <a:ext cx="109728" cy="109728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90189" y="2491557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" y="23774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1440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Draft Report 	</a:t>
            </a:r>
            <a:r>
              <a:rPr lang="en-US" sz="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</a:t>
            </a:r>
            <a:r>
              <a:rPr lang="en-US" sz="800" i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[predefined structure / analyzes data gaps]</a:t>
            </a:r>
            <a:endParaRPr lang="en-US" sz="1100" i="1" dirty="0"/>
          </a:p>
        </p:txBody>
      </p:sp>
      <p:sp>
        <p:nvSpPr>
          <p:cNvPr id="48" name="Shape 46"/>
          <p:cNvSpPr/>
          <p:nvPr/>
        </p:nvSpPr>
        <p:spPr>
          <a:xfrm>
            <a:off x="740664" y="2743200"/>
            <a:ext cx="0" cy="109728"/>
          </a:xfrm>
          <a:prstGeom prst="line">
            <a:avLst/>
          </a:prstGeom>
          <a:noFill/>
          <a:ln w="12700">
            <a:solidFill>
              <a:srgbClr val="A78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7200" y="2852928"/>
            <a:ext cx="3840480" cy="457200"/>
          </a:xfrm>
          <a:prstGeom prst="rect">
            <a:avLst/>
          </a:prstGeom>
          <a:solidFill>
            <a:srgbClr val="0A1430"/>
          </a:solidFill>
          <a:ln w="10160">
            <a:solidFill>
              <a:srgbClr val="FF5FA8">
                <a:alpha val="6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" y="2852928"/>
            <a:ext cx="54864" cy="457200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63500" dist="50800" dir="16200000" algn="bl" rotWithShape="0">
              <a:srgbClr val="FF5FA8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8368" y="3026664"/>
            <a:ext cx="109728" cy="109728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90189" y="3058485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3504" y="29443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14400" y="28529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Validation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0664" y="3310128"/>
            <a:ext cx="0" cy="109728"/>
          </a:xfrm>
          <a:prstGeom prst="line">
            <a:avLst/>
          </a:prstGeom>
          <a:noFill/>
          <a:ln w="12700">
            <a:solidFill>
              <a:srgbClr val="FF5FA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7200" y="3419856"/>
            <a:ext cx="3840480" cy="457200"/>
          </a:xfrm>
          <a:prstGeom prst="rect">
            <a:avLst/>
          </a:prstGeom>
          <a:solidFill>
            <a:srgbClr val="0A1430"/>
          </a:solidFill>
          <a:ln w="10160">
            <a:solidFill>
              <a:srgbClr val="FFC23D">
                <a:alpha val="6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3419856"/>
            <a:ext cx="54864" cy="457200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63500" dist="50800" dir="16200000" algn="bl" rotWithShape="0">
              <a:srgbClr val="FFC23D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8368" y="3593592"/>
            <a:ext cx="109728" cy="109728"/>
          </a:xfrm>
          <a:prstGeom prst="ellipse">
            <a:avLst/>
          </a:prstGeom>
          <a:solidFill>
            <a:srgbClr val="FFC23D"/>
          </a:solidFill>
          <a:ln w="6350">
            <a:solidFill>
              <a:srgbClr val="FFC23D"/>
            </a:solidFill>
            <a:prstDash val="solid"/>
          </a:ln>
          <a:effectLst>
            <a:outerShdw blurRad="1397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0189" y="3625413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03504" y="35112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14400" y="34198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            </a:t>
            </a:r>
            <a:r>
              <a:rPr lang="en-US" sz="800" i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[Review content and add missing context]</a:t>
            </a:r>
            <a:endParaRPr lang="en-US" sz="1100" i="1" dirty="0"/>
          </a:p>
        </p:txBody>
      </p:sp>
      <p:sp>
        <p:nvSpPr>
          <p:cNvPr id="62" name="Shape 60"/>
          <p:cNvSpPr/>
          <p:nvPr/>
        </p:nvSpPr>
        <p:spPr>
          <a:xfrm>
            <a:off x="740664" y="3877056"/>
            <a:ext cx="0" cy="109728"/>
          </a:xfrm>
          <a:prstGeom prst="line">
            <a:avLst/>
          </a:prstGeom>
          <a:noFill/>
          <a:ln w="12700">
            <a:solidFill>
              <a:srgbClr val="FFC2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3986784"/>
            <a:ext cx="3840480" cy="457200"/>
          </a:xfrm>
          <a:prstGeom prst="rect">
            <a:avLst/>
          </a:prstGeom>
          <a:solidFill>
            <a:srgbClr val="0A1430"/>
          </a:solidFill>
          <a:ln w="20320">
            <a:solidFill>
              <a:srgbClr val="3DEFC4"/>
            </a:solidFill>
            <a:prstDash val="solid"/>
          </a:ln>
          <a:effectLst>
            <a:outerShdw blurRad="127000" dist="50800" dir="16200000" algn="bl" rotWithShape="0">
              <a:srgbClr val="3DEFC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57200" y="3986784"/>
            <a:ext cx="54864" cy="45720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58368" y="4160520"/>
            <a:ext cx="109728" cy="109728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90189" y="4192341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03504" y="40782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4400" y="39867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Final Report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4626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  ·  No unsupported assumptions  ·  Human approval required  ·  Full traceability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663440" y="841248"/>
            <a:ext cx="4224528" cy="1298448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70000"/>
              </a:srgbClr>
            </a:solidFill>
            <a:prstDash val="solid"/>
          </a:ln>
          <a:effectLst>
            <a:outerShdw blurRad="127000" dist="50800" dir="16200000" algn="bl" rotWithShape="0">
              <a:srgbClr val="3DEFC4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63440" y="841248"/>
            <a:ext cx="4224528" cy="4572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762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46320" y="9509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/ audit report preparation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846320" y="109151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 weeks</a:t>
            </a:r>
            <a:r>
              <a:rPr lang="en-US" sz="20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  </a:t>
            </a:r>
            <a:r>
              <a:rPr lang="en-US" sz="240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3–4 days</a:t>
            </a:r>
            <a:endParaRPr lang="en-US" sz="2400" dirty="0"/>
          </a:p>
        </p:txBody>
      </p:sp>
      <p:sp>
        <p:nvSpPr>
          <p:cNvPr id="74" name="Text 72"/>
          <p:cNvSpPr/>
          <p:nvPr/>
        </p:nvSpPr>
        <p:spPr>
          <a:xfrm>
            <a:off x="4846320" y="1615327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Ingrid's recurring reporting effort, today vs. with the platform</a:t>
            </a:r>
          </a:p>
          <a:p>
            <a:pPr marL="0" indent="0">
              <a:buNone/>
            </a:pPr>
            <a:endParaRPr lang="en-US" sz="850" i="1" dirty="0">
              <a:solidFill>
                <a:srgbClr val="9DBEF0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850" i="1" dirty="0">
                <a:solidFill>
                  <a:srgbClr val="9DBEF0"/>
                </a:solidFill>
                <a:latin typeface="Aptos" pitchFamily="34" charset="0"/>
              </a:rPr>
              <a:t>80% average reduction in time for complex report, up to 92% reduction in ad-hoc responses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663440" y="2286000"/>
            <a:ext cx="4224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FURTHER IMPACT  ·  estimated, to be validated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63440" y="2542032"/>
            <a:ext cx="4224528" cy="658368"/>
          </a:xfrm>
          <a:prstGeom prst="rect">
            <a:avLst/>
          </a:prstGeom>
          <a:solidFill>
            <a:srgbClr val="0A1430"/>
          </a:solidFill>
          <a:ln w="10160">
            <a:solidFill>
              <a:srgbClr val="36E0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63440" y="2542032"/>
            <a:ext cx="54864" cy="658368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828032" y="2615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investigations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4828032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analysis through guided evidence retrieval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882128" y="2633472"/>
            <a:ext cx="896112" cy="219456"/>
          </a:xfrm>
          <a:prstGeom prst="rect">
            <a:avLst/>
          </a:prstGeom>
          <a:solidFill>
            <a:srgbClr val="36E0FF">
              <a:alpha val="22000"/>
            </a:srgbClr>
          </a:solidFill>
          <a:ln w="6350">
            <a:solidFill>
              <a:srgbClr val="36E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882128" y="26334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4663440" y="3291840"/>
            <a:ext cx="4224528" cy="658368"/>
          </a:xfrm>
          <a:prstGeom prst="rect">
            <a:avLst/>
          </a:prstGeom>
          <a:solidFill>
            <a:srgbClr val="0A1430"/>
          </a:solidFill>
          <a:ln w="10160">
            <a:solidFill>
              <a:srgbClr val="FFC23D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663440" y="3291840"/>
            <a:ext cx="54864" cy="658368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63500" dist="50800" dir="16200000" algn="bl" rotWithShape="0">
              <a:srgbClr val="FFC23D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828032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downtime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4828032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reaction via proactive monitoring &amp; alerts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882128" y="3383280"/>
            <a:ext cx="896112" cy="219456"/>
          </a:xfrm>
          <a:prstGeom prst="rect">
            <a:avLst/>
          </a:prstGeom>
          <a:solidFill>
            <a:srgbClr val="FFC23D">
              <a:alpha val="22000"/>
            </a:srgbClr>
          </a:solidFill>
          <a:ln w="6350">
            <a:solidFill>
              <a:srgbClr val="FFC2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882128" y="338328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663440" y="4041648"/>
            <a:ext cx="4224528" cy="658368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663440" y="4041648"/>
            <a:ext cx="54864" cy="658368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828032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Sustained quality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4828032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recognition fixes root causes for good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882128" y="4133088"/>
            <a:ext cx="896112" cy="219456"/>
          </a:xfrm>
          <a:prstGeom prst="rect">
            <a:avLst/>
          </a:prstGeom>
          <a:solidFill>
            <a:srgbClr val="A78BFF">
              <a:alpha val="22000"/>
            </a:srgbClr>
          </a:solidFill>
          <a:ln w="6350">
            <a:solidFill>
              <a:srgbClr val="A7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882128" y="4133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600" dirty="0"/>
          </a:p>
        </p:txBody>
      </p:sp>
      <p:cxnSp>
        <p:nvCxnSpPr>
          <p:cNvPr id="99" name="Verbinder: gewinkelt 98">
            <a:extLst>
              <a:ext uri="{FF2B5EF4-FFF2-40B4-BE49-F238E27FC236}">
                <a16:creationId xmlns:a16="http://schemas.microsoft.com/office/drawing/2014/main" id="{96B1E413-0C63-8053-A546-F31FFD07FFBB}"/>
              </a:ext>
            </a:extLst>
          </p:cNvPr>
          <p:cNvCxnSpPr>
            <a:stCxn id="56" idx="3"/>
            <a:endCxn id="42" idx="3"/>
          </p:cNvCxnSpPr>
          <p:nvPr/>
        </p:nvCxnSpPr>
        <p:spPr>
          <a:xfrm flipV="1">
            <a:off x="4297680" y="2514600"/>
            <a:ext cx="12700" cy="1133856"/>
          </a:xfrm>
          <a:prstGeom prst="bentConnector3">
            <a:avLst>
              <a:gd name="adj1" fmla="val 990000"/>
            </a:avLst>
          </a:prstGeom>
          <a:noFill/>
          <a:ln w="12700">
            <a:solidFill>
              <a:srgbClr val="FFC23D">
                <a:alpha val="6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1143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889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5B9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5B9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5B9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8229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" y="4297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 ·  GDPR-compliant  ·  AI Act Minimal Risk  ·  AI never sees raw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10528" y="731520"/>
            <a:ext cx="16459" cy="4187952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6304" y="841248"/>
            <a:ext cx="676656" cy="201168"/>
          </a:xfrm>
          <a:prstGeom prst="rect">
            <a:avLst/>
          </a:prstGeom>
          <a:solidFill>
            <a:srgbClr val="36E0FF">
              <a:alpha val="20000"/>
            </a:srgbClr>
          </a:solidFill>
          <a:ln w="6350">
            <a:solidFill>
              <a:srgbClr val="36E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6304" y="84124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146304" y="1828800"/>
            <a:ext cx="676656" cy="180357"/>
          </a:xfrm>
          <a:prstGeom prst="rect">
            <a:avLst/>
          </a:prstGeom>
          <a:solidFill>
            <a:srgbClr val="3DEFC4">
              <a:alpha val="20000"/>
            </a:srgbClr>
          </a:solidFill>
          <a:ln w="6350">
            <a:solidFill>
              <a:srgbClr val="3DEF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6304" y="1828800"/>
            <a:ext cx="676656" cy="18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146304" y="2980944"/>
            <a:ext cx="676656" cy="201168"/>
          </a:xfrm>
          <a:prstGeom prst="rect">
            <a:avLst/>
          </a:prstGeom>
          <a:solidFill>
            <a:srgbClr val="5B9BFF">
              <a:alpha val="20000"/>
            </a:srgbClr>
          </a:solidFill>
          <a:ln w="6350">
            <a:solidFill>
              <a:srgbClr val="5B9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6304" y="298094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146304" y="3968496"/>
            <a:ext cx="676656" cy="201168"/>
          </a:xfrm>
          <a:prstGeom prst="rect">
            <a:avLst/>
          </a:prstGeom>
          <a:solidFill>
            <a:srgbClr val="6B82B5">
              <a:alpha val="20000"/>
            </a:srgbClr>
          </a:solidFill>
          <a:ln w="6350">
            <a:solidFill>
              <a:srgbClr val="6B82B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6304" y="39684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932688" y="822960"/>
            <a:ext cx="1627632" cy="841248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32688" y="822960"/>
            <a:ext cx="1627632" cy="4572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762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7552" y="877824"/>
            <a:ext cx="15179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 </a:t>
            </a:r>
          </a:p>
          <a:p>
            <a:pPr marL="0" indent="0" algn="ctr">
              <a:buNone/>
            </a:pPr>
            <a:r>
              <a:rPr lang="en-US" sz="1000" b="1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Alerts</a:t>
            </a:r>
          </a:p>
        </p:txBody>
      </p:sp>
      <p:sp>
        <p:nvSpPr>
          <p:cNvPr id="35" name="Shape 33"/>
          <p:cNvSpPr/>
          <p:nvPr/>
        </p:nvSpPr>
        <p:spPr>
          <a:xfrm>
            <a:off x="1746504" y="1792224"/>
            <a:ext cx="0" cy="0"/>
          </a:xfrm>
          <a:prstGeom prst="line">
            <a:avLst/>
          </a:prstGeom>
          <a:noFill/>
          <a:ln w="12700">
            <a:solidFill>
              <a:srgbClr val="36E0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0" y="822960"/>
            <a:ext cx="1627632" cy="841248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0" y="822960"/>
            <a:ext cx="1627632" cy="4572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762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98064" y="877824"/>
            <a:ext cx="15179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57016" y="1792224"/>
            <a:ext cx="0" cy="0"/>
          </a:xfrm>
          <a:prstGeom prst="line">
            <a:avLst/>
          </a:prstGeom>
          <a:noFill/>
          <a:ln w="12700">
            <a:solidFill>
              <a:srgbClr val="3DEFC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53712" y="822960"/>
            <a:ext cx="1627632" cy="841248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53712" y="822960"/>
            <a:ext cx="1627632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762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08576" y="877824"/>
            <a:ext cx="15179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&amp; Reports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67528" y="1792224"/>
            <a:ext cx="0" cy="0"/>
          </a:xfrm>
          <a:prstGeom prst="line">
            <a:avLst/>
          </a:prstGeom>
          <a:noFill/>
          <a:ln w="12700">
            <a:solidFill>
              <a:srgbClr val="A78B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1810512"/>
            <a:ext cx="5394960" cy="950975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87552" y="1883664"/>
            <a:ext cx="1225296" cy="819806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7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87552" y="1883664"/>
            <a:ext cx="1225296" cy="45719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762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554480" y="2093976"/>
            <a:ext cx="91440" cy="81981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80998" y="2120494"/>
            <a:ext cx="38405" cy="45719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24128" y="221284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24128" y="248716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know-how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322576" y="1883664"/>
            <a:ext cx="1225296" cy="819806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7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322576" y="1883664"/>
            <a:ext cx="1225296" cy="45719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762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889504" y="2093976"/>
            <a:ext cx="91440" cy="81981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916022" y="2120494"/>
            <a:ext cx="38405" cy="45719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59152" y="221284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59152" y="248716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analysis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0" y="1883664"/>
            <a:ext cx="1225296" cy="819806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7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657600" y="1883664"/>
            <a:ext cx="1225296" cy="45719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762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224528" y="2093976"/>
            <a:ext cx="91440" cy="81981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51046" y="2120494"/>
            <a:ext cx="38405" cy="45719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94176" y="221284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94176" y="2420112"/>
            <a:ext cx="1152144" cy="300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 / audit reports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992624" y="1883664"/>
            <a:ext cx="1225296" cy="819806"/>
          </a:xfrm>
          <a:prstGeom prst="rect">
            <a:avLst/>
          </a:prstGeom>
          <a:solidFill>
            <a:srgbClr val="0A1430"/>
          </a:solidFill>
          <a:ln w="12700">
            <a:solidFill>
              <a:srgbClr val="FFC23D">
                <a:alpha val="7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992624" y="1883664"/>
            <a:ext cx="1225296" cy="45719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76200" dist="50800" dir="16200000" algn="bl" rotWithShape="0">
              <a:srgbClr val="FFC23D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559552" y="2093976"/>
            <a:ext cx="91440" cy="81981"/>
          </a:xfrm>
          <a:prstGeom prst="ellipse">
            <a:avLst/>
          </a:prstGeom>
          <a:solidFill>
            <a:srgbClr val="FFC23D"/>
          </a:solidFill>
          <a:ln w="6350">
            <a:solidFill>
              <a:srgbClr val="FFC23D"/>
            </a:solidFill>
            <a:prstDash val="solid"/>
          </a:ln>
          <a:effectLst>
            <a:outerShdw blurRad="1397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586070" y="2120494"/>
            <a:ext cx="38405" cy="45719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0" y="221284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029200" y="2487168"/>
            <a:ext cx="1152144" cy="24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warning · alerts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32688" y="2944368"/>
            <a:ext cx="1627632" cy="859536"/>
          </a:xfrm>
          <a:prstGeom prst="rect">
            <a:avLst/>
          </a:prstGeom>
          <a:solidFill>
            <a:srgbClr val="0A1430"/>
          </a:solidFill>
          <a:ln w="22860">
            <a:solidFill>
              <a:srgbClr val="5B9BFF"/>
            </a:solidFill>
            <a:prstDash val="solid"/>
          </a:ln>
          <a:effectLst>
            <a:outerShdw blurRad="152400" dist="50800" dir="16200000" algn="bl" rotWithShape="0">
              <a:srgbClr val="5B9BFF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32688" y="2944368"/>
            <a:ext cx="1627632" cy="4572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762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69264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Layer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87552" y="3273552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source of truth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743200" y="2944368"/>
            <a:ext cx="1627632" cy="859536"/>
          </a:xfrm>
          <a:prstGeom prst="rect">
            <a:avLst/>
          </a:prstGeom>
          <a:solidFill>
            <a:srgbClr val="0A1430"/>
          </a:solidFill>
          <a:ln w="12700">
            <a:solidFill>
              <a:srgbClr val="FF5FA8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743200" y="2944368"/>
            <a:ext cx="1627632" cy="45720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762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779776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Layer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798064" y="3273552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· NDA · Minimization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53712" y="2944368"/>
            <a:ext cx="1627632" cy="859536"/>
          </a:xfrm>
          <a:prstGeom prst="rect">
            <a:avLst/>
          </a:prstGeom>
          <a:solidFill>
            <a:srgbClr val="0A1430"/>
          </a:solidFill>
          <a:ln w="12700">
            <a:solidFill>
              <a:srgbClr val="FFC23D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553712" y="2944368"/>
            <a:ext cx="1627632" cy="45720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762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590288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&amp; Analytics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608576" y="3273552"/>
            <a:ext cx="1517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Engine · Aggregation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560320" y="3374136"/>
            <a:ext cx="182880" cy="0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370832" y="3374136"/>
            <a:ext cx="182880" cy="0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602736" y="2944368"/>
            <a:ext cx="0" cy="0"/>
          </a:xfrm>
          <a:prstGeom prst="line">
            <a:avLst/>
          </a:prstGeom>
          <a:noFill/>
          <a:ln w="12700">
            <a:solidFill>
              <a:srgbClr val="5B9B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602736" y="1792224"/>
            <a:ext cx="0" cy="0"/>
          </a:xfrm>
          <a:prstGeom prst="line">
            <a:avLst/>
          </a:prstGeom>
          <a:noFill/>
          <a:ln w="12700">
            <a:solidFill>
              <a:srgbClr val="3DEFC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32688" y="4206240"/>
            <a:ext cx="877824" cy="146304"/>
          </a:xfrm>
          <a:prstGeom prst="ellipse">
            <a:avLst/>
          </a:prstGeom>
          <a:solidFill>
            <a:srgbClr val="5B9BFF">
              <a:alpha val="40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932688" y="4279392"/>
            <a:ext cx="877824" cy="384048"/>
          </a:xfrm>
          <a:prstGeom prst="rect">
            <a:avLst/>
          </a:prstGeom>
          <a:solidFill>
            <a:srgbClr val="5B9BFF">
              <a:alpha val="26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32688" y="4590288"/>
            <a:ext cx="877824" cy="146304"/>
          </a:xfrm>
          <a:prstGeom prst="ellipse">
            <a:avLst/>
          </a:prstGeom>
          <a:solidFill>
            <a:srgbClr val="5B9BFF">
              <a:alpha val="18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32688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011680" y="4206240"/>
            <a:ext cx="877824" cy="146304"/>
          </a:xfrm>
          <a:prstGeom prst="ellipse">
            <a:avLst/>
          </a:prstGeom>
          <a:solidFill>
            <a:srgbClr val="5B9BFF">
              <a:alpha val="40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011680" y="4279392"/>
            <a:ext cx="877824" cy="384048"/>
          </a:xfrm>
          <a:prstGeom prst="rect">
            <a:avLst/>
          </a:prstGeom>
          <a:solidFill>
            <a:srgbClr val="5B9BFF">
              <a:alpha val="26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011680" y="4590288"/>
            <a:ext cx="877824" cy="146304"/>
          </a:xfrm>
          <a:prstGeom prst="ellipse">
            <a:avLst/>
          </a:prstGeom>
          <a:solidFill>
            <a:srgbClr val="5B9BFF">
              <a:alpha val="18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011680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090672" y="4206240"/>
            <a:ext cx="877824" cy="146304"/>
          </a:xfrm>
          <a:prstGeom prst="ellipse">
            <a:avLst/>
          </a:prstGeom>
          <a:solidFill>
            <a:srgbClr val="5B9BFF">
              <a:alpha val="40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090672" y="4279392"/>
            <a:ext cx="877824" cy="384048"/>
          </a:xfrm>
          <a:prstGeom prst="rect">
            <a:avLst/>
          </a:prstGeom>
          <a:solidFill>
            <a:srgbClr val="5B9BFF">
              <a:alpha val="26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090672" y="4590288"/>
            <a:ext cx="877824" cy="146304"/>
          </a:xfrm>
          <a:prstGeom prst="ellipse">
            <a:avLst/>
          </a:prstGeom>
          <a:solidFill>
            <a:srgbClr val="5B9BFF">
              <a:alpha val="18000"/>
            </a:srgbClr>
          </a:solidFill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090672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529584" y="4206240"/>
            <a:ext cx="73152" cy="0"/>
          </a:xfrm>
          <a:prstGeom prst="line">
            <a:avLst/>
          </a:prstGeom>
          <a:noFill/>
          <a:ln w="12700">
            <a:solidFill>
              <a:srgbClr val="5B9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169664" y="4206240"/>
            <a:ext cx="877824" cy="146304"/>
          </a:xfrm>
          <a:prstGeom prst="ellipse">
            <a:avLst/>
          </a:prstGeom>
          <a:solidFill>
            <a:srgbClr val="6B82B5">
              <a:alpha val="40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169664" y="4279392"/>
            <a:ext cx="877824" cy="384048"/>
          </a:xfrm>
          <a:prstGeom prst="rect">
            <a:avLst/>
          </a:prstGeom>
          <a:solidFill>
            <a:srgbClr val="6B82B5">
              <a:alpha val="26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169664" y="4590288"/>
            <a:ext cx="877824" cy="146304"/>
          </a:xfrm>
          <a:prstGeom prst="ellipse">
            <a:avLst/>
          </a:prstGeom>
          <a:solidFill>
            <a:srgbClr val="6B82B5">
              <a:alpha val="18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169664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608576" y="4206240"/>
            <a:ext cx="0" cy="0"/>
          </a:xfrm>
          <a:prstGeom prst="line">
            <a:avLst/>
          </a:prstGeom>
          <a:noFill/>
          <a:ln w="12700">
            <a:solidFill>
              <a:srgbClr val="6B82B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248656" y="4206240"/>
            <a:ext cx="877824" cy="146304"/>
          </a:xfrm>
          <a:prstGeom prst="ellipse">
            <a:avLst/>
          </a:prstGeom>
          <a:solidFill>
            <a:srgbClr val="6B82B5">
              <a:alpha val="40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248656" y="4279392"/>
            <a:ext cx="877824" cy="384048"/>
          </a:xfrm>
          <a:prstGeom prst="rect">
            <a:avLst/>
          </a:prstGeom>
          <a:solidFill>
            <a:srgbClr val="6B82B5">
              <a:alpha val="26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248656" y="4590288"/>
            <a:ext cx="877824" cy="146304"/>
          </a:xfrm>
          <a:prstGeom prst="ellipse">
            <a:avLst/>
          </a:prstGeom>
          <a:solidFill>
            <a:srgbClr val="6B82B5">
              <a:alpha val="18000"/>
            </a:srgbClr>
          </a:solidFill>
          <a:ln w="12700">
            <a:solidFill>
              <a:srgbClr val="6B8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248656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687568" y="4206240"/>
            <a:ext cx="0" cy="0"/>
          </a:xfrm>
          <a:prstGeom prst="line">
            <a:avLst/>
          </a:prstGeom>
          <a:noFill/>
          <a:ln w="12700">
            <a:solidFill>
              <a:srgbClr val="6B82B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601968" y="80467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GUARANTEE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601968" y="1042416"/>
            <a:ext cx="2432304" cy="1371600"/>
          </a:xfrm>
          <a:prstGeom prst="rect">
            <a:avLst/>
          </a:prstGeom>
          <a:solidFill>
            <a:srgbClr val="0A1430"/>
          </a:solidFill>
          <a:ln w="12700">
            <a:solidFill>
              <a:srgbClr val="5B9BFF">
                <a:alpha val="65000"/>
              </a:srgbClr>
            </a:solidFill>
            <a:prstDash val="solid"/>
          </a:ln>
          <a:effectLst>
            <a:outerShdw blurRad="114300" dist="50800" dir="16200000" algn="bl" rotWithShape="0">
              <a:srgbClr val="5B9B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748272" y="1152144"/>
            <a:ext cx="21579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never receives raw production data.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request passes access validation, NDA checks, filtering, KPI calculation and aggregation first. Only the resulting business context reaches the LLM.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6601968" y="254203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6601968" y="2798064"/>
            <a:ext cx="2432304" cy="438912"/>
          </a:xfrm>
          <a:prstGeom prst="rect">
            <a:avLst/>
          </a:prstGeom>
          <a:solidFill>
            <a:srgbClr val="0A1430"/>
          </a:solidFill>
          <a:ln w="10160">
            <a:solidFill>
              <a:srgbClr val="FF5FA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601968" y="2798064"/>
            <a:ext cx="54864" cy="438912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63500" dist="50800" dir="16200000" algn="bl" rotWithShape="0">
              <a:srgbClr val="FF5FA8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711696" y="27980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260336" y="283464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PII to AI  ·  Art. 6(1)(f)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601968" y="3310128"/>
            <a:ext cx="2432304" cy="438912"/>
          </a:xfrm>
          <a:prstGeom prst="rect">
            <a:avLst/>
          </a:prstGeom>
          <a:solidFill>
            <a:srgbClr val="0A1430"/>
          </a:solidFill>
          <a:ln w="10160">
            <a:solidFill>
              <a:srgbClr val="FFC2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601968" y="3310128"/>
            <a:ext cx="54864" cy="438912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63500" dist="50800" dir="16200000" algn="bl" rotWithShape="0">
              <a:srgbClr val="FFC23D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711696" y="331012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Act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260336" y="33467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Risk  ·  Human approval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601968" y="3822192"/>
            <a:ext cx="2432304" cy="438912"/>
          </a:xfrm>
          <a:prstGeom prst="rect">
            <a:avLst/>
          </a:prstGeom>
          <a:solidFill>
            <a:srgbClr val="0A1430"/>
          </a:solidFill>
          <a:ln w="10160">
            <a:solidFill>
              <a:srgbClr val="3DEF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601968" y="3822192"/>
            <a:ext cx="54864" cy="438912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711696" y="38221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260336" y="385876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audit trails  ·  Traceable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601968" y="4334256"/>
            <a:ext cx="2432304" cy="43891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601968" y="4334256"/>
            <a:ext cx="54864" cy="438912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711696" y="43342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 / IP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260336" y="437083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 ·  Role-based access</a:t>
            </a:r>
            <a:endParaRPr lang="en-US" sz="800" dirty="0"/>
          </a:p>
        </p:txBody>
      </p:sp>
      <p:sp>
        <p:nvSpPr>
          <p:cNvPr id="134" name="Shape 80">
            <a:extLst>
              <a:ext uri="{FF2B5EF4-FFF2-40B4-BE49-F238E27FC236}">
                <a16:creationId xmlns:a16="http://schemas.microsoft.com/office/drawing/2014/main" id="{528CE517-00FA-756D-616B-8CD360EC5BFA}"/>
              </a:ext>
            </a:extLst>
          </p:cNvPr>
          <p:cNvSpPr/>
          <p:nvPr/>
        </p:nvSpPr>
        <p:spPr>
          <a:xfrm flipV="1">
            <a:off x="5151120" y="2761487"/>
            <a:ext cx="0" cy="189740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80">
            <a:extLst>
              <a:ext uri="{FF2B5EF4-FFF2-40B4-BE49-F238E27FC236}">
                <a16:creationId xmlns:a16="http://schemas.microsoft.com/office/drawing/2014/main" id="{353C7863-6CD6-28A0-733B-11A9170E2033}"/>
              </a:ext>
            </a:extLst>
          </p:cNvPr>
          <p:cNvSpPr/>
          <p:nvPr/>
        </p:nvSpPr>
        <p:spPr>
          <a:xfrm flipH="1" flipV="1">
            <a:off x="3602736" y="1673351"/>
            <a:ext cx="0" cy="132588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80">
            <a:extLst>
              <a:ext uri="{FF2B5EF4-FFF2-40B4-BE49-F238E27FC236}">
                <a16:creationId xmlns:a16="http://schemas.microsoft.com/office/drawing/2014/main" id="{59B98B5D-417B-7F40-4E68-C30CC5AAE5C4}"/>
              </a:ext>
            </a:extLst>
          </p:cNvPr>
          <p:cNvSpPr/>
          <p:nvPr/>
        </p:nvSpPr>
        <p:spPr>
          <a:xfrm flipH="1" flipV="1">
            <a:off x="5334000" y="1673351"/>
            <a:ext cx="0" cy="132588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80">
            <a:extLst>
              <a:ext uri="{FF2B5EF4-FFF2-40B4-BE49-F238E27FC236}">
                <a16:creationId xmlns:a16="http://schemas.microsoft.com/office/drawing/2014/main" id="{95C0D784-0EDA-C3E6-B485-0BB3158C4F6D}"/>
              </a:ext>
            </a:extLst>
          </p:cNvPr>
          <p:cNvSpPr/>
          <p:nvPr/>
        </p:nvSpPr>
        <p:spPr>
          <a:xfrm flipH="1" flipV="1">
            <a:off x="1746504" y="1673351"/>
            <a:ext cx="0" cy="132588"/>
          </a:xfrm>
          <a:prstGeom prst="line">
            <a:avLst/>
          </a:prstGeom>
          <a:noFill/>
          <a:ln w="12700">
            <a:solidFill>
              <a:srgbClr val="6B82B5"/>
            </a:solidFill>
            <a:prstDash val="solid"/>
            <a:headEnd type="none"/>
            <a:tailEnd type="triangl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45" name="Verbinder: gewinkelt 144">
            <a:extLst>
              <a:ext uri="{FF2B5EF4-FFF2-40B4-BE49-F238E27FC236}">
                <a16:creationId xmlns:a16="http://schemas.microsoft.com/office/drawing/2014/main" id="{F08504C3-5A44-EAAB-539D-7B2301E19102}"/>
              </a:ext>
            </a:extLst>
          </p:cNvPr>
          <p:cNvCxnSpPr>
            <a:stCxn id="86" idx="0"/>
            <a:endCxn id="69" idx="2"/>
          </p:cNvCxnSpPr>
          <p:nvPr/>
        </p:nvCxnSpPr>
        <p:spPr>
          <a:xfrm rot="5400000" flipH="1" flipV="1">
            <a:off x="1357884" y="3817620"/>
            <a:ext cx="402336" cy="374904"/>
          </a:xfrm>
          <a:prstGeom prst="bentConnector3">
            <a:avLst/>
          </a:prstGeom>
          <a:noFill/>
          <a:ln w="12700">
            <a:solidFill>
              <a:srgbClr val="5B9BFF"/>
            </a:solidFill>
            <a:prstDash val="solid"/>
            <a:headEnd type="triangle"/>
            <a:tailEnd type="triangle"/>
          </a:ln>
        </p:spPr>
      </p:cxnSp>
      <p:cxnSp>
        <p:nvCxnSpPr>
          <p:cNvPr id="146" name="Verbinder: gewinkelt 145">
            <a:extLst>
              <a:ext uri="{FF2B5EF4-FFF2-40B4-BE49-F238E27FC236}">
                <a16:creationId xmlns:a16="http://schemas.microsoft.com/office/drawing/2014/main" id="{5EDE1C30-937F-5D0E-6DDD-853147743A3D}"/>
              </a:ext>
            </a:extLst>
          </p:cNvPr>
          <p:cNvCxnSpPr>
            <a:cxnSpLocks/>
            <a:stCxn id="106" idx="0"/>
            <a:endCxn id="69" idx="2"/>
          </p:cNvCxnSpPr>
          <p:nvPr/>
        </p:nvCxnSpPr>
        <p:spPr>
          <a:xfrm rot="16200000" flipV="1">
            <a:off x="3515868" y="2034540"/>
            <a:ext cx="402336" cy="394106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5B9BFF"/>
            </a:solidFill>
            <a:prstDash val="solid"/>
            <a:headEnd type="triangle"/>
            <a:tailEnd type="triangle"/>
          </a:ln>
        </p:spPr>
      </p:cxn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59FCAC94-E499-DFA5-C859-1CB177A33D2B}"/>
              </a:ext>
            </a:extLst>
          </p:cNvPr>
          <p:cNvCxnSpPr>
            <a:cxnSpLocks/>
            <a:stCxn id="101" idx="0"/>
            <a:endCxn id="69" idx="2"/>
          </p:cNvCxnSpPr>
          <p:nvPr/>
        </p:nvCxnSpPr>
        <p:spPr>
          <a:xfrm rot="16200000" flipV="1">
            <a:off x="2976372" y="2574036"/>
            <a:ext cx="402336" cy="286207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5B9BFF"/>
            </a:solidFill>
            <a:prstDash val="solid"/>
            <a:headEnd type="triangle"/>
            <a:tailEnd type="triangle"/>
          </a:ln>
        </p:spPr>
      </p:cxnSp>
      <p:cxnSp>
        <p:nvCxnSpPr>
          <p:cNvPr id="150" name="Verbinder: gewinkelt 149">
            <a:extLst>
              <a:ext uri="{FF2B5EF4-FFF2-40B4-BE49-F238E27FC236}">
                <a16:creationId xmlns:a16="http://schemas.microsoft.com/office/drawing/2014/main" id="{99A53F2D-3E84-DBA4-AF63-2D0BEE6CFAF8}"/>
              </a:ext>
            </a:extLst>
          </p:cNvPr>
          <p:cNvCxnSpPr>
            <a:cxnSpLocks/>
            <a:stCxn id="96" idx="0"/>
            <a:endCxn id="69" idx="2"/>
          </p:cNvCxnSpPr>
          <p:nvPr/>
        </p:nvCxnSpPr>
        <p:spPr>
          <a:xfrm rot="16200000" flipV="1">
            <a:off x="2436876" y="3113532"/>
            <a:ext cx="402336" cy="178308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5B9BFF"/>
            </a:solidFill>
            <a:prstDash val="solid"/>
            <a:headEnd type="triangle"/>
            <a:tailEnd type="triangle"/>
          </a:ln>
        </p:spPr>
      </p:cxnSp>
      <p:cxnSp>
        <p:nvCxnSpPr>
          <p:cNvPr id="152" name="Verbinder: gewinkelt 151">
            <a:extLst>
              <a:ext uri="{FF2B5EF4-FFF2-40B4-BE49-F238E27FC236}">
                <a16:creationId xmlns:a16="http://schemas.microsoft.com/office/drawing/2014/main" id="{6BC85863-1ECF-C7EC-A0F6-C620413AAC78}"/>
              </a:ext>
            </a:extLst>
          </p:cNvPr>
          <p:cNvCxnSpPr>
            <a:cxnSpLocks/>
            <a:stCxn id="91" idx="0"/>
            <a:endCxn id="69" idx="2"/>
          </p:cNvCxnSpPr>
          <p:nvPr/>
        </p:nvCxnSpPr>
        <p:spPr>
          <a:xfrm rot="16200000" flipV="1">
            <a:off x="1897380" y="3653028"/>
            <a:ext cx="402336" cy="70408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5B9BFF"/>
            </a:solidFill>
            <a:prstDash val="solid"/>
            <a:headEnd type="triangle"/>
            <a:tailEnd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1143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88900" dist="50800" dir="16200000" algn="bl" rotWithShape="0">
              <a:srgbClr val="FF5FA8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FF5F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FF5F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FF5F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FF5FA8"/>
          </a:solidFill>
          <a:ln w="6350">
            <a:solidFill>
              <a:srgbClr val="FF5FA8"/>
            </a:solidFill>
            <a:prstDash val="solid"/>
          </a:ln>
          <a:effectLst>
            <a:outerShdw blurRad="1397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Strategy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Machine-first data processing with strict personal-data controls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4224528" cy="1920240"/>
          </a:xfrm>
          <a:prstGeom prst="rect">
            <a:avLst/>
          </a:prstGeom>
          <a:solidFill>
            <a:srgbClr val="0A1430"/>
          </a:solidFill>
          <a:ln w="12700">
            <a:solidFill>
              <a:srgbClr val="FF5FA8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4224528" cy="54864"/>
          </a:xfrm>
          <a:prstGeom prst="rect">
            <a:avLst/>
          </a:prstGeom>
          <a:solidFill>
            <a:srgbClr val="FF5FA8">
              <a:alpha val="18000"/>
            </a:srgbClr>
          </a:solidFill>
          <a:ln w="12700">
            <a:solidFill>
              <a:srgbClr val="FF5FA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is processed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1298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primarily processes machine and operational data. Limited personal data may include: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1828800"/>
            <a:ext cx="1828800" cy="329184"/>
          </a:xfrm>
          <a:prstGeom prst="rect">
            <a:avLst/>
          </a:prstGeom>
          <a:solidFill>
            <a:srgbClr val="08112A"/>
          </a:solidFill>
          <a:ln w="6350">
            <a:solidFill>
              <a:srgbClr val="FF5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18288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accounts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23160" y="1828800"/>
            <a:ext cx="1828800" cy="329184"/>
          </a:xfrm>
          <a:prstGeom prst="rect">
            <a:avLst/>
          </a:prstGeom>
          <a:solidFill>
            <a:srgbClr val="08112A"/>
          </a:solidFill>
          <a:ln w="6350">
            <a:solidFill>
              <a:srgbClr val="FF5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14600" y="18288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names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249424"/>
            <a:ext cx="1828800" cy="329184"/>
          </a:xfrm>
          <a:prstGeom prst="rect">
            <a:avLst/>
          </a:prstGeom>
          <a:solidFill>
            <a:srgbClr val="08112A"/>
          </a:solidFill>
          <a:ln w="6350">
            <a:solidFill>
              <a:srgbClr val="FF5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22494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information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2249424"/>
            <a:ext cx="1828800" cy="329184"/>
          </a:xfrm>
          <a:prstGeom prst="rect">
            <a:avLst/>
          </a:prstGeom>
          <a:solidFill>
            <a:srgbClr val="08112A"/>
          </a:solidFill>
          <a:ln w="6350">
            <a:solidFill>
              <a:srgbClr val="FF5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14600" y="22494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records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2871216"/>
            <a:ext cx="4224528" cy="1883664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2871216"/>
            <a:ext cx="91440" cy="1883664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Lawful basis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" y="3310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 Interest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75488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 6(1)(f) GDPR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" y="40782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is necessary for legitimate operational interests, balanced against data-subject rights through the controls applied.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841248"/>
            <a:ext cx="422452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63440" y="841248"/>
            <a:ext cx="4224528" cy="457200"/>
          </a:xfrm>
          <a:prstGeom prst="rect">
            <a:avLst/>
          </a:prstGeom>
          <a:solidFill>
            <a:srgbClr val="3DEFC4">
              <a:alpha val="18000"/>
            </a:srgbClr>
          </a:solidFill>
          <a:ln w="12700">
            <a:solidFill>
              <a:srgbClr val="3DEFC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in place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46320" y="1426464"/>
            <a:ext cx="3858768" cy="548640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46320" y="1426464"/>
            <a:ext cx="54864" cy="54864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10912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authorized users reach permitted data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2066544"/>
            <a:ext cx="3858768" cy="548640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6320" y="2066544"/>
            <a:ext cx="54864" cy="54864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10912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10912" y="2359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protected at rest and in transit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2706624"/>
            <a:ext cx="3858768" cy="548640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46320" y="2706624"/>
            <a:ext cx="54864" cy="54864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10912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access and request is recorded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3346704"/>
            <a:ext cx="3858768" cy="548640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846320" y="3346704"/>
            <a:ext cx="54864" cy="54864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10912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Pseudonymization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10912" y="3639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where appropriate to limit exposure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46320" y="3986784"/>
            <a:ext cx="3858768" cy="548640"/>
          </a:xfrm>
          <a:prstGeom prst="rect">
            <a:avLst/>
          </a:prstGeom>
          <a:solidFill>
            <a:srgbClr val="08112A"/>
          </a:solidFill>
          <a:ln w="6350">
            <a:solidFill>
              <a:srgbClr val="3DEF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846320" y="3986784"/>
            <a:ext cx="54864" cy="54864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10912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10912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required fields are processed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1143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889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A78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A78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A78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 &amp; IP Protection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NDAs and OEM agreements enforced by design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3840480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91440" cy="3913632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889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governing principle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13716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can only access information that the requesting user is authorized to view.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5488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operates under customer NDAs and OEM agreements. Protection is not a policy layer on top — it is enforced at every request, end to end.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79392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measures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9392" y="1243584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279392" y="1243584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07992" y="1545336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45117" y="1582461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25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25696" y="1810512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On-premises deployment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0256" y="1243584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20256" y="1243584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48856" y="1545336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85981" y="1582461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0" y="1810512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unrestricted external data transfer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79392" y="2377440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279392" y="2377440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07992" y="2679192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45117" y="271631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425696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25696" y="294436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classification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20256" y="2377440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620256" y="2377440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848856" y="2679192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85981" y="271631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6656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66560" y="294436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permissions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79392" y="3511296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279392" y="3511296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507992" y="3813048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45117" y="3850173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25696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425696" y="4078224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customer data access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20256" y="3511296"/>
            <a:ext cx="2212848" cy="987552"/>
          </a:xfrm>
          <a:prstGeom prst="rect">
            <a:avLst/>
          </a:prstGeom>
          <a:solidFill>
            <a:srgbClr val="0A1430"/>
          </a:solidFill>
          <a:ln w="10160">
            <a:solidFill>
              <a:srgbClr val="A78BFF">
                <a:alpha val="5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620256" y="3511296"/>
            <a:ext cx="2212848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635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848856" y="3813048"/>
            <a:ext cx="128016" cy="12801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885981" y="3850173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7665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66560" y="4078224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 for all AI requests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1143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889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DEF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Classification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system qualifies as Minimal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841248"/>
            <a:ext cx="3200400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841248"/>
            <a:ext cx="3200400" cy="54864"/>
          </a:xfrm>
          <a:prstGeom prst="rect">
            <a:avLst/>
          </a:prstGeom>
          <a:solidFill>
            <a:srgbClr val="3DEFC4">
              <a:alpha val="18000"/>
            </a:srgbClr>
          </a:solidFill>
          <a:ln w="12700">
            <a:solidFill>
              <a:srgbClr val="3DEFC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1517904"/>
            <a:ext cx="3200400" cy="640080"/>
          </a:xfrm>
          <a:prstGeom prst="rect">
            <a:avLst/>
          </a:prstGeom>
          <a:noFill/>
          <a:ln/>
          <a:effectLst>
            <a:outerShdw blurRad="177800" dist="50800" dir="16200000" algn="bl" rotWithShape="0">
              <a:srgbClr val="3DEFC4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274320" y="2139696"/>
            <a:ext cx="3200400" cy="548640"/>
          </a:xfrm>
          <a:prstGeom prst="rect">
            <a:avLst/>
          </a:prstGeom>
          <a:noFill/>
          <a:ln/>
          <a:effectLst>
            <a:outerShdw blurRad="177800" dist="50800" dir="16200000" algn="bl" rotWithShape="0">
              <a:srgbClr val="3DEFC4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1170432" y="2889504"/>
            <a:ext cx="1371600" cy="18288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0358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tier under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framework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39312" y="87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39312" y="1225296"/>
            <a:ext cx="2798064" cy="402336"/>
          </a:xfrm>
          <a:prstGeom prst="rect">
            <a:avLst/>
          </a:prstGeom>
          <a:solidFill>
            <a:srgbClr val="0A1430"/>
          </a:solidFill>
          <a:ln w="7620">
            <a:solidFill>
              <a:srgbClr val="3DEF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49040" y="1380744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75558" y="1407262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31920" y="122529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automated decisions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39312" y="1719072"/>
            <a:ext cx="2798064" cy="402336"/>
          </a:xfrm>
          <a:prstGeom prst="rect">
            <a:avLst/>
          </a:prstGeom>
          <a:solidFill>
            <a:srgbClr val="0A1430"/>
          </a:solidFill>
          <a:ln w="7620">
            <a:solidFill>
              <a:srgbClr val="3DEF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749040" y="1874520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75558" y="19010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31920" y="1719072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machine control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39312" y="2212848"/>
            <a:ext cx="2798064" cy="402336"/>
          </a:xfrm>
          <a:prstGeom prst="rect">
            <a:avLst/>
          </a:prstGeom>
          <a:solidFill>
            <a:srgbClr val="0A1430"/>
          </a:solidFill>
          <a:ln w="7620">
            <a:solidFill>
              <a:srgbClr val="3DEF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49040" y="2368296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75558" y="2394814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31920" y="221284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employee evaluation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39312" y="2706624"/>
            <a:ext cx="2798064" cy="402336"/>
          </a:xfrm>
          <a:prstGeom prst="rect">
            <a:avLst/>
          </a:prstGeom>
          <a:solidFill>
            <a:srgbClr val="0A1430"/>
          </a:solidFill>
          <a:ln w="7620">
            <a:solidFill>
              <a:srgbClr val="3DEF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749040" y="2862072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775558" y="2888590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31920" y="2706624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safety-critical operation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639312" y="3200400"/>
            <a:ext cx="2798064" cy="402336"/>
          </a:xfrm>
          <a:prstGeom prst="rect">
            <a:avLst/>
          </a:prstGeom>
          <a:solidFill>
            <a:srgbClr val="0A1430"/>
          </a:solidFill>
          <a:ln w="7620">
            <a:solidFill>
              <a:srgbClr val="3DEF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749040" y="3355848"/>
            <a:ext cx="91440" cy="91440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775558" y="3382366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31920" y="32004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required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65392" y="877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allocation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65392" y="1225296"/>
            <a:ext cx="2322576" cy="1371600"/>
          </a:xfrm>
          <a:prstGeom prst="rect">
            <a:avLst/>
          </a:prstGeom>
          <a:solidFill>
            <a:srgbClr val="0A1430"/>
          </a:solidFill>
          <a:ln w="12700">
            <a:solidFill>
              <a:srgbClr val="5B9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565392" y="1225296"/>
            <a:ext cx="2322576" cy="4572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762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711696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711696" y="1755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711696" y="20482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and supplies the AI system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65392" y="2706624"/>
            <a:ext cx="2322576" cy="1371600"/>
          </a:xfrm>
          <a:prstGeom prst="rect">
            <a:avLst/>
          </a:prstGeom>
          <a:solidFill>
            <a:srgbClr val="0A1430"/>
          </a:solidFill>
          <a:ln w="12700">
            <a:solidFill>
              <a:srgbClr val="36E0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565392" y="2706624"/>
            <a:ext cx="2322576" cy="4572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762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11696" y="2852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711696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711696" y="35295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Operates the system in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1143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889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307238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309359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6E0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 Monitoring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observability of the AI system — not the production 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7818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tracked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1069848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1069848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9496" y="1380744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014" y="1407262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1069848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78608" y="1069848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78608" y="1069848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43784" y="1380744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70302" y="1407262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35808" y="1069848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documents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1911096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" y="1911096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9496" y="2221992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014" y="2248510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1911096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responses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78608" y="1911096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78608" y="1911096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843784" y="2221992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870302" y="2248510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035808" y="1911096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outputs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2752344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2752344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39496" y="306324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66014" y="308975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1520" y="2752344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578608" y="2752344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578608" y="2752344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843784" y="306324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870302" y="308975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035808" y="2752344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3593592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4320" y="3593592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39496" y="3904488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66014" y="3931006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31520" y="3593592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578608" y="3593592"/>
            <a:ext cx="2176272" cy="713232"/>
          </a:xfrm>
          <a:prstGeom prst="rect">
            <a:avLst/>
          </a:prstGeom>
          <a:solidFill>
            <a:srgbClr val="0A1430"/>
          </a:solidFill>
          <a:ln w="7620">
            <a:solidFill>
              <a:srgbClr val="36E0FF">
                <a:alpha val="4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578608" y="3593592"/>
            <a:ext cx="54864" cy="713232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635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843784" y="3904488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870302" y="3931006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035808" y="3593592"/>
            <a:ext cx="16642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56048" y="841248"/>
            <a:ext cx="3931920" cy="2377440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956048" y="841248"/>
            <a:ext cx="3931920" cy="457200"/>
          </a:xfrm>
          <a:prstGeom prst="rect">
            <a:avLst/>
          </a:prstGeom>
          <a:solidFill>
            <a:srgbClr val="3DEFC4">
              <a:alpha val="18000"/>
            </a:srgbClr>
          </a:solidFill>
          <a:ln w="12700">
            <a:solidFill>
              <a:srgbClr val="3DEFC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138928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138928" y="14264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transparency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675120" y="1426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 action is visible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138928" y="18470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auditability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675120" y="18470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review of outputs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138928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in AI insights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675120" y="2267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for decision-makers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138928" y="2688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evidence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675120" y="26883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for regulatory review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956048" y="3346704"/>
            <a:ext cx="3931920" cy="1408176"/>
          </a:xfrm>
          <a:prstGeom prst="rect">
            <a:avLst/>
          </a:prstGeom>
          <a:solidFill>
            <a:srgbClr val="08112A"/>
          </a:solidFill>
          <a:ln w="12700">
            <a:solidFill>
              <a:srgbClr val="5B9BFF">
                <a:alpha val="60000"/>
              </a:srgbClr>
            </a:solidFill>
            <a:prstDash val="solid"/>
          </a:ln>
          <a:effectLst>
            <a:outerShdw blurRad="101600" dist="50800" dir="16200000" algn="bl" rotWithShape="0">
              <a:srgbClr val="5B9BF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956048" y="3346704"/>
            <a:ext cx="91440" cy="1408176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762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157216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traceability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157216" y="378561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AI-generated report, recommendation and investigation can be traced back to its source and reviewed by authorized personnel.</a:t>
            </a:r>
            <a:endParaRPr lang="en-US" sz="1050" dirty="0"/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D1A0ABCB-79C7-9DB4-3B67-21D6BD6A80F6}"/>
              </a:ext>
            </a:extLst>
          </p:cNvPr>
          <p:cNvSpPr/>
          <p:nvPr/>
        </p:nvSpPr>
        <p:spPr>
          <a:xfrm>
            <a:off x="182880" y="44348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</a:t>
            </a:r>
            <a: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not watching machines, it’s watching the AI itself. </a:t>
            </a:r>
            <a:br>
              <a:rPr lang="en-US" sz="10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9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ensuring each draft, recommendation and investigation is traceable and reviewable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1143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889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22860" y="141732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8" y="144383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3716" y="2944368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" y="2965582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6E0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Rollout Plan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small, prove value, reduce implementation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1060704"/>
            <a:ext cx="8595360" cy="20117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61288" y="996696"/>
            <a:ext cx="146304" cy="14630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03716" y="1039124"/>
            <a:ext cx="61448" cy="61448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1207008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97280" y="9784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426464"/>
            <a:ext cx="2066544" cy="3291840"/>
          </a:xfrm>
          <a:prstGeom prst="rect">
            <a:avLst/>
          </a:prstGeom>
          <a:solidFill>
            <a:srgbClr val="0A1430"/>
          </a:solidFill>
          <a:ln w="12700">
            <a:solidFill>
              <a:srgbClr val="5B9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1426464"/>
            <a:ext cx="2066544" cy="475488"/>
          </a:xfrm>
          <a:prstGeom prst="rect">
            <a:avLst/>
          </a:prstGeom>
          <a:solidFill>
            <a:srgbClr val="5B9BFF">
              <a:alpha val="20000"/>
            </a:srgbClr>
          </a:solidFill>
          <a:ln w="12700">
            <a:solidFill>
              <a:srgbClr val="5B9B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1426464"/>
            <a:ext cx="2066544" cy="4572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762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1472184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84048" y="197510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trusted single source of truth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232257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24871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4048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&amp; manufacturing data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datasets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048" y="333298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5B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34975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Layer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4048" y="377190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" y="404622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model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40864" y="1664208"/>
            <a:ext cx="128016" cy="0"/>
          </a:xfrm>
          <a:prstGeom prst="line">
            <a:avLst/>
          </a:prstGeom>
          <a:noFill/>
          <a:ln w="12700">
            <a:solidFill>
              <a:srgbClr val="5B9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355848" y="996696"/>
            <a:ext cx="146304" cy="146304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398276" y="1039124"/>
            <a:ext cx="61448" cy="61448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68880" y="1207008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91840" y="9784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68880" y="1426464"/>
            <a:ext cx="2066544" cy="3291840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468880" y="1426464"/>
            <a:ext cx="2066544" cy="475488"/>
          </a:xfrm>
          <a:prstGeom prst="rect">
            <a:avLst/>
          </a:prstGeom>
          <a:solidFill>
            <a:srgbClr val="3DEFC4">
              <a:alpha val="20000"/>
            </a:srgbClr>
          </a:solidFill>
          <a:ln w="12700">
            <a:solidFill>
              <a:srgbClr val="3DEFC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468880" y="1426464"/>
            <a:ext cx="2066544" cy="45720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762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578608" y="1472184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Agent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578608" y="197510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dependency on individual experts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578608" y="232257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96896" y="24871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 data lookup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78608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OEE calculation logic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78608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data sources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78608" y="333298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3DE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578608" y="34975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info access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78608" y="377190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retention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578608" y="404622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bottlenecks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35424" y="1664208"/>
            <a:ext cx="128016" cy="0"/>
          </a:xfrm>
          <a:prstGeom prst="line">
            <a:avLst/>
          </a:prstGeom>
          <a:noFill/>
          <a:ln w="12700">
            <a:solidFill>
              <a:srgbClr val="3DEF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550408" y="996696"/>
            <a:ext cx="146304" cy="146304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592836" y="1039124"/>
            <a:ext cx="61448" cy="61448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663440" y="1207008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6400" y="9784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1426464"/>
            <a:ext cx="2066544" cy="3291840"/>
          </a:xfrm>
          <a:prstGeom prst="rect">
            <a:avLst/>
          </a:prstGeom>
          <a:solidFill>
            <a:srgbClr val="0A1430"/>
          </a:solidFill>
          <a:ln w="12700">
            <a:solidFill>
              <a:srgbClr val="A78BFF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663440" y="1426464"/>
            <a:ext cx="2066544" cy="475488"/>
          </a:xfrm>
          <a:prstGeom prst="rect">
            <a:avLst/>
          </a:prstGeom>
          <a:solidFill>
            <a:srgbClr val="A78BFF">
              <a:alpha val="20000"/>
            </a:srgbClr>
          </a:solidFill>
          <a:ln w="12700">
            <a:solidFill>
              <a:srgbClr val="A78B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663440" y="1426464"/>
            <a:ext cx="2066544" cy="45720"/>
          </a:xfrm>
          <a:prstGeom prst="rect">
            <a:avLst/>
          </a:prstGeom>
          <a:solidFill>
            <a:srgbClr val="A78BFF"/>
          </a:solidFill>
          <a:ln w="12700">
            <a:solidFill>
              <a:srgbClr val="A78BFF"/>
            </a:solidFill>
            <a:prstDash val="solid"/>
          </a:ln>
          <a:effectLst>
            <a:outerShdw blurRad="76200" dist="50800" dir="16200000" algn="bl" rotWithShape="0">
              <a:srgbClr val="A78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73168" y="1472184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Agent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773168" y="197510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report preparation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773168" y="232257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791456" y="24871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 reports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773168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preparation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773168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summaries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73168" y="333298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A7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773168" y="34975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 effort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773168" y="377190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documentation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773168" y="404622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audits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29984" y="1664208"/>
            <a:ext cx="128016" cy="0"/>
          </a:xfrm>
          <a:prstGeom prst="line">
            <a:avLst/>
          </a:prstGeom>
          <a:noFill/>
          <a:ln w="12700">
            <a:solidFill>
              <a:srgbClr val="A78B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744968" y="996696"/>
            <a:ext cx="146304" cy="146304"/>
          </a:xfrm>
          <a:prstGeom prst="ellipse">
            <a:avLst/>
          </a:prstGeom>
          <a:solidFill>
            <a:srgbClr val="FFC23D"/>
          </a:solidFill>
          <a:ln w="6350">
            <a:solidFill>
              <a:srgbClr val="FFC23D"/>
            </a:solidFill>
            <a:prstDash val="solid"/>
          </a:ln>
          <a:effectLst>
            <a:outerShdw blurRad="139700" dist="50800" dir="16200000" algn="bl" rotWithShape="0">
              <a:srgbClr val="FFC23D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787396" y="1039124"/>
            <a:ext cx="61448" cy="61448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858000" y="1207008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680960" y="9784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06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858000" y="1426464"/>
            <a:ext cx="2066544" cy="3291840"/>
          </a:xfrm>
          <a:prstGeom prst="rect">
            <a:avLst/>
          </a:prstGeom>
          <a:solidFill>
            <a:srgbClr val="0A1430"/>
          </a:solidFill>
          <a:ln w="12700">
            <a:solidFill>
              <a:srgbClr val="FFC23D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858000" y="1426464"/>
            <a:ext cx="2066544" cy="475488"/>
          </a:xfrm>
          <a:prstGeom prst="rect">
            <a:avLst/>
          </a:prstGeom>
          <a:solidFill>
            <a:srgbClr val="FFC23D">
              <a:alpha val="20000"/>
            </a:srgbClr>
          </a:solidFill>
          <a:ln w="12700">
            <a:solidFill>
              <a:srgbClr val="FFC23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858000" y="1426464"/>
            <a:ext cx="2066544" cy="45720"/>
          </a:xfrm>
          <a:prstGeom prst="rect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  <a:effectLst>
            <a:outerShdw blurRad="76200" dist="50800" dir="16200000" algn="bl" rotWithShape="0">
              <a:srgbClr val="FFC23D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967728" y="1472184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&amp; Monitoring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6967728" y="1975104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visibility &amp; issue detection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967728" y="2322576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986016" y="24871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analysis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967728" y="276148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warning alerts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967728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trend monitoring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967728" y="333298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967728" y="34975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downtime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6967728" y="377190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rework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967728" y="404622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investigations</a:t>
            </a:r>
            <a:endParaRPr lang="en-US" sz="800" dirty="0"/>
          </a:p>
        </p:txBody>
      </p:sp>
      <p:sp>
        <p:nvSpPr>
          <p:cNvPr id="99" name="Pfeil: Fünfeck 98">
            <a:extLst>
              <a:ext uri="{FF2B5EF4-FFF2-40B4-BE49-F238E27FC236}">
                <a16:creationId xmlns:a16="http://schemas.microsoft.com/office/drawing/2014/main" id="{89115413-D65F-B5C1-EDD0-7364B271D0C9}"/>
              </a:ext>
            </a:extLst>
          </p:cNvPr>
          <p:cNvSpPr/>
          <p:nvPr/>
        </p:nvSpPr>
        <p:spPr>
          <a:xfrm>
            <a:off x="402336" y="4412437"/>
            <a:ext cx="8430768" cy="195681"/>
          </a:xfrm>
          <a:prstGeom prst="homePlate">
            <a:avLst/>
          </a:prstGeom>
          <a:solidFill>
            <a:srgbClr val="0A1430"/>
          </a:solidFill>
          <a:ln w="12700">
            <a:solidFill>
              <a:srgbClr val="FF5FA8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algn="ctr"/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DBEF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Ongoing Quick Wins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6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0072A-4DFF-A7BC-40CF-1BC849ED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hink-cell data - do not delete" hidden="1">
            <a:extLst>
              <a:ext uri="{FF2B5EF4-FFF2-40B4-BE49-F238E27FC236}">
                <a16:creationId xmlns:a16="http://schemas.microsoft.com/office/drawing/2014/main" id="{0DA6C786-6D9E-E394-01B0-529845D2022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3052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70" imgH="371" progId="TCLayout.ActiveDocument.1">
                  <p:embed/>
                </p:oleObj>
              </mc:Choice>
              <mc:Fallback>
                <p:oleObj name="think-cell Folie" r:id="rId4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4133E981-F1FC-C8D8-CC0A-A7D7226036BC}"/>
              </a:ext>
            </a:extLst>
          </p:cNvPr>
          <p:cNvSpPr/>
          <p:nvPr/>
        </p:nvSpPr>
        <p:spPr>
          <a:xfrm>
            <a:off x="6035040" y="-1828800"/>
            <a:ext cx="5029200" cy="5029200"/>
          </a:xfrm>
          <a:prstGeom prst="ellipse">
            <a:avLst/>
          </a:prstGeom>
          <a:solidFill>
            <a:srgbClr val="0B1E4D">
              <a:alpha val="20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153956-0016-37E1-5EC6-ABEFD6CF802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B829F2-B24A-5A3C-81D0-540982453E21}"/>
              </a:ext>
            </a:extLst>
          </p:cNvPr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1143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88EAF6-78D1-7867-30C5-E95303B23C4E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6E0FF"/>
          </a:solidFill>
          <a:ln w="12700">
            <a:solidFill>
              <a:srgbClr val="36E0FF"/>
            </a:solidFill>
            <a:prstDash val="solid"/>
          </a:ln>
          <a:effectLst>
            <a:outerShdw blurRad="88900" dist="50800" dir="16200000" algn="bl" rotWithShape="0">
              <a:srgbClr val="36E0FF">
                <a:alpha val="6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A282BAA-588A-59F2-D16E-737A04B02DEB}"/>
              </a:ext>
            </a:extLst>
          </p:cNvPr>
          <p:cNvSpPr/>
          <p:nvPr/>
        </p:nvSpPr>
        <p:spPr>
          <a:xfrm>
            <a:off x="7955280" y="310896"/>
            <a:ext cx="502920" cy="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8461DB-A0A2-76FE-A80D-AF2D292CA99B}"/>
              </a:ext>
            </a:extLst>
          </p:cNvPr>
          <p:cNvSpPr/>
          <p:nvPr/>
        </p:nvSpPr>
        <p:spPr>
          <a:xfrm>
            <a:off x="8458200" y="182880"/>
            <a:ext cx="338328" cy="274320"/>
          </a:xfrm>
          <a:prstGeom prst="line">
            <a:avLst/>
          </a:prstGeom>
          <a:noFill/>
          <a:ln w="12700">
            <a:solidFill>
              <a:srgbClr val="36E0FF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8C198C9-F5F6-5A41-C881-332321406EC1}"/>
              </a:ext>
            </a:extLst>
          </p:cNvPr>
          <p:cNvSpPr/>
          <p:nvPr/>
        </p:nvSpPr>
        <p:spPr>
          <a:xfrm>
            <a:off x="7955280" y="310896"/>
            <a:ext cx="274320" cy="219456"/>
          </a:xfrm>
          <a:prstGeom prst="line">
            <a:avLst/>
          </a:prstGeom>
          <a:noFill/>
          <a:ln w="12700">
            <a:solidFill>
              <a:srgbClr val="36E0FF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704C643-A540-EDEE-C8DC-7DAEC7AF5DC8}"/>
              </a:ext>
            </a:extLst>
          </p:cNvPr>
          <p:cNvSpPr/>
          <p:nvPr/>
        </p:nvSpPr>
        <p:spPr>
          <a:xfrm>
            <a:off x="7914132" y="269748"/>
            <a:ext cx="82296" cy="8229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C27AFEB-080B-0D15-2498-2F57BCD9B7AF}"/>
              </a:ext>
            </a:extLst>
          </p:cNvPr>
          <p:cNvSpPr/>
          <p:nvPr/>
        </p:nvSpPr>
        <p:spPr>
          <a:xfrm>
            <a:off x="7937998" y="293614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A2D7314-9BD0-6AC6-C9B9-8BC12EB5A4A2}"/>
              </a:ext>
            </a:extLst>
          </p:cNvPr>
          <p:cNvSpPr/>
          <p:nvPr/>
        </p:nvSpPr>
        <p:spPr>
          <a:xfrm>
            <a:off x="8407908" y="132588"/>
            <a:ext cx="100584" cy="100584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477E29E-1EF9-A72E-0C9F-188F6BF3CD98}"/>
              </a:ext>
            </a:extLst>
          </p:cNvPr>
          <p:cNvSpPr/>
          <p:nvPr/>
        </p:nvSpPr>
        <p:spPr>
          <a:xfrm>
            <a:off x="8437077" y="16175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2F228D-55BC-CCEF-DA0B-DD6B5585D2EA}"/>
              </a:ext>
            </a:extLst>
          </p:cNvPr>
          <p:cNvSpPr/>
          <p:nvPr/>
        </p:nvSpPr>
        <p:spPr>
          <a:xfrm>
            <a:off x="8759952" y="42062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6E92581-F8FA-A9A6-B143-A55D93B4122F}"/>
              </a:ext>
            </a:extLst>
          </p:cNvPr>
          <p:cNvSpPr/>
          <p:nvPr/>
        </p:nvSpPr>
        <p:spPr>
          <a:xfrm>
            <a:off x="8781166" y="44183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DFF399C-17D2-E7E5-832C-710DF9ADB5A2}"/>
              </a:ext>
            </a:extLst>
          </p:cNvPr>
          <p:cNvSpPr/>
          <p:nvPr/>
        </p:nvSpPr>
        <p:spPr>
          <a:xfrm>
            <a:off x="8197596" y="498348"/>
            <a:ext cx="64008" cy="6400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0BB6A0B-3B95-7AC5-A634-62CD37DC3868}"/>
              </a:ext>
            </a:extLst>
          </p:cNvPr>
          <p:cNvSpPr/>
          <p:nvPr/>
        </p:nvSpPr>
        <p:spPr>
          <a:xfrm>
            <a:off x="8216158" y="516910"/>
            <a:ext cx="26883" cy="26883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45D385-D750-1763-95F4-2592BE350D77}"/>
              </a:ext>
            </a:extLst>
          </p:cNvPr>
          <p:cNvSpPr/>
          <p:nvPr/>
        </p:nvSpPr>
        <p:spPr>
          <a:xfrm>
            <a:off x="274320" y="822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Phased Rollout Plan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7D6849A-4197-0EA0-05C5-9A9EFDC8D309}"/>
              </a:ext>
            </a:extLst>
          </p:cNvPr>
          <p:cNvSpPr/>
          <p:nvPr/>
        </p:nvSpPr>
        <p:spPr>
          <a:xfrm>
            <a:off x="274320" y="420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9DBEF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Start small, prove value, reduce implementation risk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7C00C6D-22E3-3664-8BED-D95F4D63BCC0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934F376-D8E8-C4E4-34F2-A9F82CA3F443}"/>
              </a:ext>
            </a:extLst>
          </p:cNvPr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0903642-26BC-0146-0C9E-A60CF1D275FC}"/>
              </a:ext>
            </a:extLst>
          </p:cNvPr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F537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7A76212-A91E-BE8D-2C8B-7CCD21F46DC2}"/>
              </a:ext>
            </a:extLst>
          </p:cNvPr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F5379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8/13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D4A9C04D-AFC1-A9D8-12AB-465EB31ED328}"/>
              </a:ext>
            </a:extLst>
          </p:cNvPr>
          <p:cNvSpPr/>
          <p:nvPr/>
        </p:nvSpPr>
        <p:spPr>
          <a:xfrm>
            <a:off x="274320" y="841248"/>
            <a:ext cx="6016752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5" name="Shape 38">
            <a:extLst>
              <a:ext uri="{FF2B5EF4-FFF2-40B4-BE49-F238E27FC236}">
                <a16:creationId xmlns:a16="http://schemas.microsoft.com/office/drawing/2014/main" id="{4ED87527-3E76-A615-5B98-712615E51964}"/>
              </a:ext>
            </a:extLst>
          </p:cNvPr>
          <p:cNvSpPr/>
          <p:nvPr/>
        </p:nvSpPr>
        <p:spPr>
          <a:xfrm>
            <a:off x="274320" y="841248"/>
            <a:ext cx="91440" cy="3913632"/>
          </a:xfrm>
          <a:prstGeom prst="rect">
            <a:avLst/>
          </a:prstGeom>
          <a:solidFill>
            <a:srgbClr val="3DEFC4"/>
          </a:solidFill>
          <a:ln w="12700">
            <a:solidFill>
              <a:srgbClr val="3DEFC4"/>
            </a:solidFill>
            <a:prstDash val="solid"/>
          </a:ln>
          <a:effectLst>
            <a:outerShdw blurRad="63500" dist="50800" dir="16200000" algn="bl" rotWithShape="0">
              <a:srgbClr val="3DEFC4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3CA76AF0-2C17-CFA3-6D67-719420D17C24}"/>
              </a:ext>
            </a:extLst>
          </p:cNvPr>
          <p:cNvSpPr/>
          <p:nvPr/>
        </p:nvSpPr>
        <p:spPr>
          <a:xfrm>
            <a:off x="475488" y="941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</a:t>
            </a:r>
            <a:endParaRPr lang="en-US" sz="120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D410E9EF-78B2-60CB-81DD-9EBAFA0EE8C2}"/>
              </a:ext>
            </a:extLst>
          </p:cNvPr>
          <p:cNvSpPr/>
          <p:nvPr/>
        </p:nvSpPr>
        <p:spPr>
          <a:xfrm>
            <a:off x="475488" y="3532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2-Day Discovery Workshop</a:t>
            </a:r>
            <a:endParaRPr lang="en-US" sz="1200" dirty="0"/>
          </a:p>
        </p:txBody>
      </p:sp>
      <p:sp>
        <p:nvSpPr>
          <p:cNvPr id="119" name="Text 42">
            <a:extLst>
              <a:ext uri="{FF2B5EF4-FFF2-40B4-BE49-F238E27FC236}">
                <a16:creationId xmlns:a16="http://schemas.microsoft.com/office/drawing/2014/main" id="{CDA326A1-2665-9E82-E658-A41AAE508972}"/>
              </a:ext>
            </a:extLst>
          </p:cNvPr>
          <p:cNvSpPr/>
          <p:nvPr/>
        </p:nvSpPr>
        <p:spPr>
          <a:xfrm>
            <a:off x="475488" y="3857244"/>
            <a:ext cx="52059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8.000 €. We do not recommend committing to a full implementation before understanding the actual system landscape, data quality, and business priorities. Therefore, we recommend starting with a focused two-day discovery workshop, resulting in a validated architecture, implementation roadmap, business case, and final project estimate.</a:t>
            </a:r>
            <a:endParaRPr lang="en-US" sz="950" dirty="0"/>
          </a:p>
        </p:txBody>
      </p:sp>
      <p:sp>
        <p:nvSpPr>
          <p:cNvPr id="120" name="Shape 43">
            <a:extLst>
              <a:ext uri="{FF2B5EF4-FFF2-40B4-BE49-F238E27FC236}">
                <a16:creationId xmlns:a16="http://schemas.microsoft.com/office/drawing/2014/main" id="{8C395F5A-289C-34A7-B875-73DF4185E994}"/>
              </a:ext>
            </a:extLst>
          </p:cNvPr>
          <p:cNvSpPr/>
          <p:nvPr/>
        </p:nvSpPr>
        <p:spPr>
          <a:xfrm>
            <a:off x="6400800" y="841248"/>
            <a:ext cx="2487168" cy="3913632"/>
          </a:xfrm>
          <a:prstGeom prst="rect">
            <a:avLst/>
          </a:prstGeom>
          <a:solidFill>
            <a:srgbClr val="0A1430"/>
          </a:solidFill>
          <a:ln w="12700">
            <a:solidFill>
              <a:srgbClr val="3DEFC4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 44">
            <a:extLst>
              <a:ext uri="{FF2B5EF4-FFF2-40B4-BE49-F238E27FC236}">
                <a16:creationId xmlns:a16="http://schemas.microsoft.com/office/drawing/2014/main" id="{4EB705F3-D511-E75E-D26E-559C96B721FF}"/>
              </a:ext>
            </a:extLst>
          </p:cNvPr>
          <p:cNvSpPr/>
          <p:nvPr/>
        </p:nvSpPr>
        <p:spPr>
          <a:xfrm>
            <a:off x="6400800" y="841248"/>
            <a:ext cx="2487168" cy="457200"/>
          </a:xfrm>
          <a:prstGeom prst="rect">
            <a:avLst/>
          </a:prstGeom>
          <a:solidFill>
            <a:srgbClr val="3DEFC4">
              <a:alpha val="18000"/>
            </a:srgbClr>
          </a:solidFill>
          <a:ln w="12700">
            <a:solidFill>
              <a:srgbClr val="3DEFC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45">
            <a:extLst>
              <a:ext uri="{FF2B5EF4-FFF2-40B4-BE49-F238E27FC236}">
                <a16:creationId xmlns:a16="http://schemas.microsoft.com/office/drawing/2014/main" id="{8E849D3A-FB1F-CA8F-B076-26B43E5F2D3D}"/>
              </a:ext>
            </a:extLst>
          </p:cNvPr>
          <p:cNvSpPr/>
          <p:nvPr/>
        </p:nvSpPr>
        <p:spPr>
          <a:xfrm>
            <a:off x="6620256" y="8412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Aptos" pitchFamily="34" charset="0"/>
              </a:rPr>
              <a:t>Recommended Approach</a:t>
            </a:r>
            <a:endParaRPr lang="en-US" sz="1300" dirty="0"/>
          </a:p>
        </p:txBody>
      </p: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E2475566-FA43-DC8F-243A-BA74212A091A}"/>
              </a:ext>
            </a:extLst>
          </p:cNvPr>
          <p:cNvGrpSpPr/>
          <p:nvPr/>
        </p:nvGrpSpPr>
        <p:grpSpPr>
          <a:xfrm>
            <a:off x="6620256" y="2356317"/>
            <a:ext cx="2066544" cy="2249424"/>
            <a:chOff x="274320" y="1426464"/>
            <a:chExt cx="2066544" cy="2249424"/>
          </a:xfrm>
        </p:grpSpPr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2DE3396D-471F-B714-B7D8-1D6B6A197F4A}"/>
                </a:ext>
              </a:extLst>
            </p:cNvPr>
            <p:cNvSpPr/>
            <p:nvPr/>
          </p:nvSpPr>
          <p:spPr>
            <a:xfrm>
              <a:off x="274320" y="1426464"/>
              <a:ext cx="2066544" cy="475488"/>
            </a:xfrm>
            <a:prstGeom prst="rect">
              <a:avLst/>
            </a:prstGeom>
            <a:solidFill>
              <a:srgbClr val="5B9BFF">
                <a:alpha val="20000"/>
              </a:srgbClr>
            </a:solidFill>
            <a:ln w="12700">
              <a:solidFill>
                <a:srgbClr val="5B9B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519C3624-6238-BDF3-FBD2-7EBEABAFC7AC}"/>
                </a:ext>
              </a:extLst>
            </p:cNvPr>
            <p:cNvSpPr/>
            <p:nvPr/>
          </p:nvSpPr>
          <p:spPr>
            <a:xfrm>
              <a:off x="274320" y="1426464"/>
              <a:ext cx="2066544" cy="45720"/>
            </a:xfrm>
            <a:prstGeom prst="rect">
              <a:avLst/>
            </a:prstGeom>
            <a:solidFill>
              <a:srgbClr val="5B9BFF"/>
            </a:solidFill>
            <a:ln w="12700">
              <a:solidFill>
                <a:srgbClr val="5B9BFF"/>
              </a:solidFill>
              <a:prstDash val="solid"/>
            </a:ln>
            <a:effectLst>
              <a:outerShdw blurRad="76200" dist="50800" dir="16200000" algn="bl" rotWithShape="0">
                <a:srgbClr val="5B9BFF">
                  <a:alpha val="6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6B12747D-F762-46E6-922F-65514CA2E55A}"/>
                </a:ext>
              </a:extLst>
            </p:cNvPr>
            <p:cNvSpPr/>
            <p:nvPr/>
          </p:nvSpPr>
          <p:spPr>
            <a:xfrm>
              <a:off x="384048" y="1472184"/>
              <a:ext cx="1847088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rgbClr val="EAF2FF"/>
                  </a:solidFill>
                  <a:effectLst/>
                  <a:uLnTx/>
                  <a:uFillTx/>
                  <a:latin typeface="Aptos" pitchFamily="34" charset="0"/>
                  <a:ea typeface="Aptos" pitchFamily="34" charset="-122"/>
                  <a:cs typeface="Aptos" pitchFamily="34" charset="-120"/>
                </a:rPr>
                <a:t>Data Foundation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01480F3A-DF12-DA99-1CBE-D0FD5796BDFF}"/>
                </a:ext>
              </a:extLst>
            </p:cNvPr>
            <p:cNvSpPr/>
            <p:nvPr/>
          </p:nvSpPr>
          <p:spPr>
            <a:xfrm>
              <a:off x="274320" y="2017776"/>
              <a:ext cx="2066544" cy="475488"/>
            </a:xfrm>
            <a:prstGeom prst="rect">
              <a:avLst/>
            </a:prstGeom>
            <a:solidFill>
              <a:srgbClr val="3DEFC4">
                <a:alpha val="20000"/>
              </a:srgbClr>
            </a:solidFill>
            <a:ln w="12700">
              <a:solidFill>
                <a:srgbClr val="3DEFC4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757A8AE8-684B-EC6A-8FC1-D4A046FC8A98}"/>
                </a:ext>
              </a:extLst>
            </p:cNvPr>
            <p:cNvSpPr/>
            <p:nvPr/>
          </p:nvSpPr>
          <p:spPr>
            <a:xfrm>
              <a:off x="274320" y="2017776"/>
              <a:ext cx="2066544" cy="45720"/>
            </a:xfrm>
            <a:prstGeom prst="rect">
              <a:avLst/>
            </a:prstGeom>
            <a:solidFill>
              <a:srgbClr val="3DEFC4"/>
            </a:solidFill>
            <a:ln w="12700">
              <a:solidFill>
                <a:srgbClr val="3DEFC4"/>
              </a:solidFill>
              <a:prstDash val="solid"/>
            </a:ln>
            <a:effectLst>
              <a:outerShdw blurRad="76200" dist="50800" dir="16200000" algn="bl" rotWithShape="0">
                <a:srgbClr val="3DEFC4">
                  <a:alpha val="6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4BECC1ED-DC0F-C5CD-E683-B20A214C56F2}"/>
                </a:ext>
              </a:extLst>
            </p:cNvPr>
            <p:cNvSpPr/>
            <p:nvPr/>
          </p:nvSpPr>
          <p:spPr>
            <a:xfrm>
              <a:off x="384048" y="2063496"/>
              <a:ext cx="1847088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rgbClr val="EAF2FF"/>
                  </a:solidFill>
                  <a:effectLst/>
                  <a:uLnTx/>
                  <a:uFillTx/>
                  <a:latin typeface="Aptos" pitchFamily="34" charset="0"/>
                  <a:ea typeface="Aptos" pitchFamily="34" charset="-122"/>
                  <a:cs typeface="Aptos" pitchFamily="34" charset="-120"/>
                </a:rPr>
                <a:t>Knowledge Agent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888648A9-6C11-C247-E7E8-A7B2C389B5D5}"/>
                </a:ext>
              </a:extLst>
            </p:cNvPr>
            <p:cNvSpPr/>
            <p:nvPr/>
          </p:nvSpPr>
          <p:spPr>
            <a:xfrm>
              <a:off x="274320" y="2604517"/>
              <a:ext cx="2066544" cy="475488"/>
            </a:xfrm>
            <a:prstGeom prst="rect">
              <a:avLst/>
            </a:prstGeom>
            <a:solidFill>
              <a:srgbClr val="A78BFF">
                <a:alpha val="20000"/>
              </a:srgbClr>
            </a:solidFill>
            <a:ln w="12700">
              <a:solidFill>
                <a:srgbClr val="A78B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Shape 68">
              <a:extLst>
                <a:ext uri="{FF2B5EF4-FFF2-40B4-BE49-F238E27FC236}">
                  <a16:creationId xmlns:a16="http://schemas.microsoft.com/office/drawing/2014/main" id="{D9F3FA90-5606-E990-15EB-1D315A750755}"/>
                </a:ext>
              </a:extLst>
            </p:cNvPr>
            <p:cNvSpPr/>
            <p:nvPr/>
          </p:nvSpPr>
          <p:spPr>
            <a:xfrm>
              <a:off x="274320" y="2604517"/>
              <a:ext cx="2066544" cy="45720"/>
            </a:xfrm>
            <a:prstGeom prst="rect">
              <a:avLst/>
            </a:prstGeom>
            <a:solidFill>
              <a:srgbClr val="A78BFF"/>
            </a:solidFill>
            <a:ln w="12700">
              <a:solidFill>
                <a:srgbClr val="A78BFF"/>
              </a:solidFill>
              <a:prstDash val="solid"/>
            </a:ln>
            <a:effectLst>
              <a:outerShdw blurRad="76200" dist="50800" dir="16200000" algn="bl" rotWithShape="0">
                <a:srgbClr val="A78BFF">
                  <a:alpha val="6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Text 69">
              <a:extLst>
                <a:ext uri="{FF2B5EF4-FFF2-40B4-BE49-F238E27FC236}">
                  <a16:creationId xmlns:a16="http://schemas.microsoft.com/office/drawing/2014/main" id="{DBD75B0D-0BBE-870A-3E27-E20B5B7E5371}"/>
                </a:ext>
              </a:extLst>
            </p:cNvPr>
            <p:cNvSpPr/>
            <p:nvPr/>
          </p:nvSpPr>
          <p:spPr>
            <a:xfrm>
              <a:off x="384048" y="2650237"/>
              <a:ext cx="1847088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rgbClr val="EAF2FF"/>
                  </a:solidFill>
                  <a:effectLst/>
                  <a:uLnTx/>
                  <a:uFillTx/>
                  <a:latin typeface="Aptos" pitchFamily="34" charset="0"/>
                  <a:ea typeface="Aptos" pitchFamily="34" charset="-122"/>
                  <a:cs typeface="Aptos" pitchFamily="34" charset="-120"/>
                </a:rPr>
                <a:t>Reporting Agent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Shape 85">
              <a:extLst>
                <a:ext uri="{FF2B5EF4-FFF2-40B4-BE49-F238E27FC236}">
                  <a16:creationId xmlns:a16="http://schemas.microsoft.com/office/drawing/2014/main" id="{F3D08F29-E53C-8693-C7BC-58904360D8A9}"/>
                </a:ext>
              </a:extLst>
            </p:cNvPr>
            <p:cNvSpPr/>
            <p:nvPr/>
          </p:nvSpPr>
          <p:spPr>
            <a:xfrm>
              <a:off x="274320" y="3200400"/>
              <a:ext cx="2066544" cy="475488"/>
            </a:xfrm>
            <a:prstGeom prst="rect">
              <a:avLst/>
            </a:prstGeom>
            <a:solidFill>
              <a:srgbClr val="FFC23D">
                <a:alpha val="20000"/>
              </a:srgbClr>
            </a:solidFill>
            <a:ln w="12700">
              <a:solidFill>
                <a:srgbClr val="FFC23D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Shape 86">
              <a:extLst>
                <a:ext uri="{FF2B5EF4-FFF2-40B4-BE49-F238E27FC236}">
                  <a16:creationId xmlns:a16="http://schemas.microsoft.com/office/drawing/2014/main" id="{B542AE0E-A1B8-A6A9-F576-0D456F36EB5F}"/>
                </a:ext>
              </a:extLst>
            </p:cNvPr>
            <p:cNvSpPr/>
            <p:nvPr/>
          </p:nvSpPr>
          <p:spPr>
            <a:xfrm>
              <a:off x="274320" y="3200400"/>
              <a:ext cx="2066544" cy="45720"/>
            </a:xfrm>
            <a:prstGeom prst="rect">
              <a:avLst/>
            </a:prstGeom>
            <a:solidFill>
              <a:srgbClr val="FFC23D"/>
            </a:solidFill>
            <a:ln w="12700">
              <a:solidFill>
                <a:srgbClr val="FFC23D"/>
              </a:solidFill>
              <a:prstDash val="solid"/>
            </a:ln>
            <a:effectLst>
              <a:outerShdw blurRad="76200" dist="50800" dir="16200000" algn="bl" rotWithShape="0">
                <a:srgbClr val="FFC23D">
                  <a:alpha val="6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 87">
              <a:extLst>
                <a:ext uri="{FF2B5EF4-FFF2-40B4-BE49-F238E27FC236}">
                  <a16:creationId xmlns:a16="http://schemas.microsoft.com/office/drawing/2014/main" id="{2692EE5E-A2D1-6B81-C32F-931B2601CD73}"/>
                </a:ext>
              </a:extLst>
            </p:cNvPr>
            <p:cNvSpPr/>
            <p:nvPr/>
          </p:nvSpPr>
          <p:spPr>
            <a:xfrm>
              <a:off x="384048" y="3246120"/>
              <a:ext cx="1847088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rgbClr val="EAF2FF"/>
                  </a:solidFill>
                  <a:effectLst/>
                  <a:uLnTx/>
                  <a:uFillTx/>
                  <a:latin typeface="Aptos" pitchFamily="34" charset="0"/>
                  <a:ea typeface="Aptos" pitchFamily="34" charset="-122"/>
                  <a:cs typeface="Aptos" pitchFamily="34" charset="-120"/>
                </a:rPr>
                <a:t>Investigation &amp; Monitoring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4" name="Text 42">
            <a:extLst>
              <a:ext uri="{FF2B5EF4-FFF2-40B4-BE49-F238E27FC236}">
                <a16:creationId xmlns:a16="http://schemas.microsoft.com/office/drawing/2014/main" id="{5D22BB9A-208B-D649-4299-302E5E6A4E55}"/>
              </a:ext>
            </a:extLst>
          </p:cNvPr>
          <p:cNvSpPr/>
          <p:nvPr/>
        </p:nvSpPr>
        <p:spPr>
          <a:xfrm>
            <a:off x="475488" y="1216152"/>
            <a:ext cx="393192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employees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CNC machines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bending machines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assembly 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various data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greenfield project</a:t>
            </a:r>
          </a:p>
          <a:p>
            <a:b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Program Range: €260,000 – €530,000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Timeline: 6–12 Months</a:t>
            </a:r>
            <a:endParaRPr lang="en-US" sz="950" dirty="0"/>
          </a:p>
        </p:txBody>
      </p:sp>
      <p:sp>
        <p:nvSpPr>
          <p:cNvPr id="125" name="Shape 71">
            <a:extLst>
              <a:ext uri="{FF2B5EF4-FFF2-40B4-BE49-F238E27FC236}">
                <a16:creationId xmlns:a16="http://schemas.microsoft.com/office/drawing/2014/main" id="{545D2B45-65E8-504B-C263-D9B109D8BFA5}"/>
              </a:ext>
            </a:extLst>
          </p:cNvPr>
          <p:cNvSpPr/>
          <p:nvPr/>
        </p:nvSpPr>
        <p:spPr>
          <a:xfrm>
            <a:off x="6620256" y="1390710"/>
            <a:ext cx="2066544" cy="859536"/>
          </a:xfrm>
          <a:prstGeom prst="rect">
            <a:avLst/>
          </a:prstGeom>
          <a:solidFill>
            <a:srgbClr val="0A1430"/>
          </a:solidFill>
          <a:ln w="12700">
            <a:solidFill>
              <a:srgbClr val="FF5FA8">
                <a:alpha val="65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6" name="Shape 72">
            <a:extLst>
              <a:ext uri="{FF2B5EF4-FFF2-40B4-BE49-F238E27FC236}">
                <a16:creationId xmlns:a16="http://schemas.microsoft.com/office/drawing/2014/main" id="{22572C82-1F8E-3890-487E-4A0869F52979}"/>
              </a:ext>
            </a:extLst>
          </p:cNvPr>
          <p:cNvSpPr/>
          <p:nvPr/>
        </p:nvSpPr>
        <p:spPr>
          <a:xfrm>
            <a:off x="6620256" y="1390710"/>
            <a:ext cx="2066544" cy="45720"/>
          </a:xfrm>
          <a:prstGeom prst="rect">
            <a:avLst/>
          </a:prstGeom>
          <a:solidFill>
            <a:srgbClr val="FF5FA8"/>
          </a:solidFill>
          <a:ln w="12700">
            <a:solidFill>
              <a:srgbClr val="FF5FA8"/>
            </a:solidFill>
            <a:prstDash val="solid"/>
          </a:ln>
          <a:effectLst>
            <a:outerShdw blurRad="76200" dist="50800" dir="16200000" algn="bl" rotWithShape="0">
              <a:srgbClr val="FF5FA8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Text 73">
            <a:extLst>
              <a:ext uri="{FF2B5EF4-FFF2-40B4-BE49-F238E27FC236}">
                <a16:creationId xmlns:a16="http://schemas.microsoft.com/office/drawing/2014/main" id="{4F2A492E-E628-2C27-9790-09A27D4DB80C}"/>
              </a:ext>
            </a:extLst>
          </p:cNvPr>
          <p:cNvSpPr/>
          <p:nvPr/>
        </p:nvSpPr>
        <p:spPr>
          <a:xfrm>
            <a:off x="6656832" y="1463862"/>
            <a:ext cx="1973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2-Day Discovery Workshop</a:t>
            </a:r>
          </a:p>
        </p:txBody>
      </p:sp>
      <p:sp>
        <p:nvSpPr>
          <p:cNvPr id="128" name="Text 74">
            <a:extLst>
              <a:ext uri="{FF2B5EF4-FFF2-40B4-BE49-F238E27FC236}">
                <a16:creationId xmlns:a16="http://schemas.microsoft.com/office/drawing/2014/main" id="{1700923D-AC1A-A08D-A902-8E587883897E}"/>
              </a:ext>
            </a:extLst>
          </p:cNvPr>
          <p:cNvSpPr/>
          <p:nvPr/>
        </p:nvSpPr>
        <p:spPr>
          <a:xfrm>
            <a:off x="6675120" y="1719894"/>
            <a:ext cx="192722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architecture /</a:t>
            </a:r>
            <a:b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roadmap /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estimate / ROI  assessment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plan</a:t>
            </a:r>
            <a:endParaRPr lang="en-US" sz="850" dirty="0"/>
          </a:p>
        </p:txBody>
      </p:sp>
      <p:sp>
        <p:nvSpPr>
          <p:cNvPr id="130" name="Shape 81">
            <a:extLst>
              <a:ext uri="{FF2B5EF4-FFF2-40B4-BE49-F238E27FC236}">
                <a16:creationId xmlns:a16="http://schemas.microsoft.com/office/drawing/2014/main" id="{2B313802-41A0-F4A8-0B30-AE134EED32DD}"/>
              </a:ext>
            </a:extLst>
          </p:cNvPr>
          <p:cNvSpPr/>
          <p:nvPr/>
        </p:nvSpPr>
        <p:spPr>
          <a:xfrm>
            <a:off x="7479792" y="1390710"/>
            <a:ext cx="0" cy="0"/>
          </a:xfrm>
          <a:prstGeom prst="line">
            <a:avLst/>
          </a:prstGeom>
          <a:noFill/>
          <a:ln w="12700">
            <a:solidFill>
              <a:srgbClr val="5B9B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41">
            <a:extLst>
              <a:ext uri="{FF2B5EF4-FFF2-40B4-BE49-F238E27FC236}">
                <a16:creationId xmlns:a16="http://schemas.microsoft.com/office/drawing/2014/main" id="{673E4BF9-FDC0-A419-200E-88C34C630411}"/>
              </a:ext>
            </a:extLst>
          </p:cNvPr>
          <p:cNvSpPr/>
          <p:nvPr/>
        </p:nvSpPr>
        <p:spPr>
          <a:xfrm>
            <a:off x="475488" y="3141391"/>
            <a:ext cx="5724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DBEF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First Step: Gain a detailed understanding of the current system landscape, data sources, reporting processes, compliance requirements, and business priorities. We do 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27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1645920"/>
            <a:ext cx="6400800" cy="6400800"/>
          </a:xfrm>
          <a:prstGeom prst="ellipse">
            <a:avLst/>
          </a:prstGeom>
          <a:solidFill>
            <a:srgbClr val="0B1E4D">
              <a:alpha val="22000"/>
            </a:srgbClr>
          </a:solidFill>
          <a:ln w="12700">
            <a:solidFill>
              <a:srgbClr val="0B1E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1097280"/>
            <a:ext cx="1005840" cy="7315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1828800"/>
            <a:ext cx="548640" cy="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0" cy="91440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1828800"/>
            <a:ext cx="640080" cy="109728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43200"/>
            <a:ext cx="640080" cy="11887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2743200"/>
            <a:ext cx="0" cy="91440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2926080"/>
            <a:ext cx="0" cy="100584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1097280"/>
            <a:ext cx="548640" cy="1645920"/>
          </a:xfrm>
          <a:prstGeom prst="line">
            <a:avLst/>
          </a:prstGeom>
          <a:noFill/>
          <a:ln w="12700">
            <a:solidFill>
              <a:srgbClr val="2E5BC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94576" y="1042416"/>
            <a:ext cx="109728" cy="109728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26397" y="1074237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91272" y="1764792"/>
            <a:ext cx="128016" cy="128016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28397" y="1801917"/>
            <a:ext cx="53767" cy="53767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58200" y="868680"/>
            <a:ext cx="91440" cy="91440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84718" y="89519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43216" y="2688336"/>
            <a:ext cx="109728" cy="109728"/>
          </a:xfrm>
          <a:prstGeom prst="ellipse">
            <a:avLst/>
          </a:prstGeom>
          <a:solidFill>
            <a:srgbClr val="3DEFC4"/>
          </a:solidFill>
          <a:ln w="6350">
            <a:solidFill>
              <a:srgbClr val="3DEFC4"/>
            </a:solidFill>
            <a:prstDash val="solid"/>
          </a:ln>
          <a:effectLst>
            <a:outerShdw blurRad="139700" dist="50800" dir="16200000" algn="bl" rotWithShape="0">
              <a:srgbClr val="3DEFC4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75037" y="2720157"/>
            <a:ext cx="46086" cy="46086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49640" y="2880360"/>
            <a:ext cx="91440" cy="91440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76158" y="290687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3886200"/>
            <a:ext cx="91440" cy="91440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8958" y="3912718"/>
            <a:ext cx="38405" cy="3840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99732" y="3616452"/>
            <a:ext cx="82296" cy="82296"/>
          </a:xfrm>
          <a:prstGeom prst="ellipse">
            <a:avLst/>
          </a:prstGeom>
          <a:solidFill>
            <a:srgbClr val="A78BFF"/>
          </a:solidFill>
          <a:ln w="6350">
            <a:solidFill>
              <a:srgbClr val="A78BFF"/>
            </a:solidFill>
            <a:prstDash val="solid"/>
          </a:ln>
          <a:effectLst>
            <a:outerShdw blurRad="139700" dist="50800" dir="16200000" algn="bl" rotWithShape="0">
              <a:srgbClr val="A78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23598" y="3640318"/>
            <a:ext cx="34564" cy="3456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88900" dist="50800" dir="16200000" algn="bl" rotWithShape="0">
              <a:srgbClr val="5B9B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-27432" y="1595628"/>
            <a:ext cx="100584" cy="100584"/>
          </a:xfrm>
          <a:prstGeom prst="ellipse">
            <a:avLst/>
          </a:prstGeom>
          <a:solidFill>
            <a:srgbClr val="5B9BFF"/>
          </a:solidFill>
          <a:ln w="6350">
            <a:solidFill>
              <a:srgbClr val="5B9BFF"/>
            </a:solidFill>
            <a:prstDash val="solid"/>
          </a:ln>
          <a:effectLst>
            <a:outerShdw blurRad="1397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7" y="1624797"/>
            <a:ext cx="42245" cy="42245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-13716" y="3255264"/>
            <a:ext cx="73152" cy="73152"/>
          </a:xfrm>
          <a:prstGeom prst="ellipse">
            <a:avLst/>
          </a:prstGeom>
          <a:solidFill>
            <a:srgbClr val="36E0FF"/>
          </a:solidFill>
          <a:ln w="6350">
            <a:solidFill>
              <a:srgbClr val="36E0FF"/>
            </a:solidFill>
            <a:prstDash val="solid"/>
          </a:ln>
          <a:effectLst>
            <a:outerShdw blurRad="139700" dist="50800" dir="16200000" algn="bl" rotWithShape="0">
              <a:srgbClr val="36E0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" y="3276478"/>
            <a:ext cx="30724" cy="30724"/>
          </a:xfrm>
          <a:prstGeom prst="ellipse">
            <a:avLst/>
          </a:prstGeom>
          <a:solidFill>
            <a:srgbClr val="DCE9FF"/>
          </a:solidFill>
          <a:ln w="12700">
            <a:solidFill>
              <a:srgbClr val="DC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914400"/>
            <a:ext cx="8229600" cy="109728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5B9B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274320" y="21488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B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look forward to working with Vulkan Werke.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2194560" cy="22860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  <a:effectLst>
            <a:outerShdw blurRad="101600" dist="50800" dir="16200000" algn="bl" rotWithShape="0">
              <a:srgbClr val="5B9B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9809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33284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 Comments? We're ready.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2E5BC9"/>
          </a:solidFill>
          <a:ln w="12700">
            <a:solidFill>
              <a:srgbClr val="2E5B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F53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13/13</a:t>
            </a:r>
            <a:endParaRPr lang="en-US" sz="7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1570</Words>
  <Application>Microsoft Office PowerPoint</Application>
  <PresentationFormat>Bildschirmpräsentation (16:9)</PresentationFormat>
  <Paragraphs>394</Paragraphs>
  <Slides>14</Slides>
  <Notes>14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Werke – AI Data Intelligence</dc:title>
  <dc:subject>PptxGenJS Presentation</dc:subject>
  <dc:creator>PptxGenJS</dc:creator>
  <cp:lastModifiedBy>Kleber, Gunter</cp:lastModifiedBy>
  <cp:revision>8</cp:revision>
  <dcterms:created xsi:type="dcterms:W3CDTF">2026-06-02T12:56:39Z</dcterms:created>
  <dcterms:modified xsi:type="dcterms:W3CDTF">2026-06-02T14:30:05Z</dcterms:modified>
</cp:coreProperties>
</file>