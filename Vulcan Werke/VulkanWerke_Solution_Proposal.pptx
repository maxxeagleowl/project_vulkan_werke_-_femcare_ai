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8" autoAdjust="0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86" y="3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0105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0117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046720" y="457200"/>
            <a:ext cx="896112" cy="896112"/>
          </a:xfrm>
          <a:prstGeom prst="ellipse">
            <a:avLst/>
          </a:prstGeom>
          <a:solidFill>
            <a:srgbClr val="2E2E2E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11312" y="621792"/>
            <a:ext cx="566928" cy="566928"/>
          </a:xfrm>
          <a:prstGeom prst="ellipse">
            <a:avLst/>
          </a:prstGeom>
          <a:solidFill>
            <a:srgbClr val="141414"/>
          </a:solidFill>
          <a:ln w="10160">
            <a:solidFill>
              <a:srgbClr val="4A4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357616" y="768096"/>
            <a:ext cx="274320" cy="2743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46720" y="457200"/>
            <a:ext cx="896112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0A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2011680"/>
            <a:ext cx="201168" cy="20117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0" y="3108960"/>
            <a:ext cx="128016" cy="20117"/>
          </a:xfrm>
          <a:prstGeom prst="rect">
            <a:avLst/>
          </a:prstGeom>
          <a:solidFill>
            <a:srgbClr val="F97316">
              <a:alpha val="55000"/>
            </a:srgbClr>
          </a:solidFill>
          <a:ln w="12700">
            <a:solidFill>
              <a:srgbClr val="F97316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4023360"/>
            <a:ext cx="82296" cy="20117"/>
          </a:xfrm>
          <a:prstGeom prst="rect">
            <a:avLst/>
          </a:prstGeom>
          <a:solidFill>
            <a:srgbClr val="F97316">
              <a:alpha val="35000"/>
            </a:srgbClr>
          </a:solidFill>
          <a:ln w="12700">
            <a:solidFill>
              <a:srgbClr val="F97316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56032" y="50292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6032" y="960120"/>
            <a:ext cx="7772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Data Intelligence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256032" y="2084832"/>
            <a:ext cx="5486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&amp; Solution Proposal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256032" y="2651760"/>
            <a:ext cx="201168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56032" y="28163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 Consulting  ·  June 1, 2026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56032" y="4974336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Confidential – Internal Use Only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1/11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8229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Summary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" y="420624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case for a centralized data &amp; knowledge platform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2/11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" y="841248"/>
            <a:ext cx="5440680" cy="3913632"/>
          </a:xfrm>
          <a:prstGeom prst="rect">
            <a:avLst/>
          </a:prstGeom>
          <a:solidFill>
            <a:srgbClr val="141414"/>
          </a:solidFill>
          <a:ln w="6350">
            <a:solidFill>
              <a:srgbClr val="2E2E2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" y="841248"/>
            <a:ext cx="544068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1060704"/>
            <a:ext cx="5074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challenge</a:t>
            </a:r>
            <a:endParaRPr lang="en-US" sz="1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faces growing operational friction: fragmented data, disconnected systems, manual reporting, and heavy dependence on individual experts for critical information.</a:t>
            </a:r>
            <a:endParaRPr lang="en-US" sz="12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1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Production, quality, and operational data live in systems that don't talk to each other. Root cause investigations are slow, quality issues surface too late, reporting eats time, and knowledge stays locked in a few heads.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answer</a:t>
            </a:r>
            <a:endParaRPr lang="en-US" sz="1200" dirty="0"/>
          </a:p>
          <a:p>
            <a:pPr marL="0" indent="0">
              <a:buNone/>
            </a:pPr>
            <a:r>
              <a:rPr lang="en-US" sz="11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combines operational data from multiple systems into a single trusted source of truth — built on proven software, with AI applied only where it creates measurable business value.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877824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applied only where it pays off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70448" y="1243584"/>
            <a:ext cx="3017520" cy="1024128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870448" y="1243584"/>
            <a:ext cx="109728" cy="10241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071616" y="137160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retrieval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71616" y="1700784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access to operational and technical know-how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870448" y="2414016"/>
            <a:ext cx="3017520" cy="1024128"/>
          </a:xfrm>
          <a:prstGeom prst="rect">
            <a:avLst/>
          </a:prstGeom>
          <a:solidFill>
            <a:srgbClr val="141414"/>
          </a:solidFill>
          <a:ln w="10160">
            <a:solidFill>
              <a:srgbClr val="3B82F6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870448" y="2414016"/>
            <a:ext cx="109728" cy="10241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71616" y="2542032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support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071616" y="287121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Faster, evidence-based root cause analysis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870448" y="3584448"/>
            <a:ext cx="3017520" cy="1024128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870448" y="3584448"/>
            <a:ext cx="109728" cy="10241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071616" y="371246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generation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071616" y="404164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ISO, quality, and audit reporting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E63329"/>
          </a:solidFill>
          <a:ln w="12700">
            <a:solidFill>
              <a:srgbClr val="E633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E63329"/>
          </a:solidFill>
          <a:ln w="12700">
            <a:solidFill>
              <a:srgbClr val="E633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8229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Problems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" y="420624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domains, one root cause: fragmented data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3/11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" y="841248"/>
            <a:ext cx="2798064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E63329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" y="841248"/>
            <a:ext cx="2798064" cy="512064"/>
          </a:xfrm>
          <a:prstGeom prst="rect">
            <a:avLst/>
          </a:prstGeom>
          <a:solidFill>
            <a:srgbClr val="E63329">
              <a:alpha val="85000"/>
            </a:srgbClr>
          </a:solidFill>
          <a:ln w="12700">
            <a:solidFill>
              <a:srgbClr val="E63329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02336" y="841248"/>
            <a:ext cx="2505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2336" y="1554480"/>
            <a:ext cx="256032" cy="256032"/>
          </a:xfrm>
          <a:prstGeom prst="rect">
            <a:avLst/>
          </a:prstGeom>
          <a:solidFill>
            <a:srgbClr val="E63329">
              <a:alpha val="75000"/>
            </a:srgbClr>
          </a:solidFill>
          <a:ln w="12700">
            <a:solidFill>
              <a:srgbClr val="E63329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02336" y="15544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49808" y="1517904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Defects &amp; quality issues detected too late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02336" y="2523744"/>
            <a:ext cx="256032" cy="256032"/>
          </a:xfrm>
          <a:prstGeom prst="rect">
            <a:avLst/>
          </a:prstGeom>
          <a:solidFill>
            <a:srgbClr val="E63329">
              <a:alpha val="75000"/>
            </a:srgbClr>
          </a:solidFill>
          <a:ln w="12700">
            <a:solidFill>
              <a:srgbClr val="E63329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02336" y="2523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9808" y="2487168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Rework costs continue to increase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" y="3493008"/>
            <a:ext cx="256032" cy="256032"/>
          </a:xfrm>
          <a:prstGeom prst="rect">
            <a:avLst/>
          </a:prstGeom>
          <a:solidFill>
            <a:srgbClr val="E63329">
              <a:alpha val="75000"/>
            </a:srgbClr>
          </a:solidFill>
          <a:ln w="12700">
            <a:solidFill>
              <a:srgbClr val="E63329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02336" y="3493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9808" y="3456432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Downtime investigations slow and difficult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182112" y="841248"/>
            <a:ext cx="2798064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F97316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182112" y="841248"/>
            <a:ext cx="2798064" cy="512064"/>
          </a:xfrm>
          <a:prstGeom prst="rect">
            <a:avLst/>
          </a:prstGeom>
          <a:solidFill>
            <a:srgbClr val="F97316">
              <a:alpha val="85000"/>
            </a:srgbClr>
          </a:solidFill>
          <a:ln w="12700">
            <a:solidFill>
              <a:srgbClr val="F97316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328416" y="841248"/>
            <a:ext cx="2505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328416" y="1554480"/>
            <a:ext cx="256032" cy="256032"/>
          </a:xfrm>
          <a:prstGeom prst="rect">
            <a:avLst/>
          </a:prstGeom>
          <a:solidFill>
            <a:srgbClr val="F97316">
              <a:alpha val="75000"/>
            </a:srgbClr>
          </a:solidFill>
          <a:ln w="12700">
            <a:solidFill>
              <a:srgbClr val="F9731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328416" y="15544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675888" y="1517904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Critical knowledge depends on few individuals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28416" y="2523744"/>
            <a:ext cx="256032" cy="256032"/>
          </a:xfrm>
          <a:prstGeom prst="rect">
            <a:avLst/>
          </a:prstGeom>
          <a:solidFill>
            <a:srgbClr val="F97316">
              <a:alpha val="75000"/>
            </a:srgbClr>
          </a:solidFill>
          <a:ln w="12700">
            <a:solidFill>
              <a:srgbClr val="F9731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328416" y="2523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675888" y="2487168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retrieval is manual and time-consuming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328416" y="3493008"/>
            <a:ext cx="256032" cy="256032"/>
          </a:xfrm>
          <a:prstGeom prst="rect">
            <a:avLst/>
          </a:prstGeom>
          <a:solidFill>
            <a:srgbClr val="F97316">
              <a:alpha val="75000"/>
            </a:srgbClr>
          </a:solidFill>
          <a:ln w="12700">
            <a:solidFill>
              <a:srgbClr val="F9731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328416" y="3493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75888" y="3456432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scattered across many systems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08192" y="841248"/>
            <a:ext cx="2798064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108192" y="841248"/>
            <a:ext cx="2798064" cy="512064"/>
          </a:xfrm>
          <a:prstGeom prst="rect">
            <a:avLst/>
          </a:prstGeom>
          <a:solidFill>
            <a:srgbClr val="A855F7">
              <a:alpha val="85000"/>
            </a:srgbClr>
          </a:solidFill>
          <a:ln w="12700">
            <a:solidFill>
              <a:srgbClr val="A855F7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254496" y="841248"/>
            <a:ext cx="2505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254496" y="1554480"/>
            <a:ext cx="256032" cy="256032"/>
          </a:xfrm>
          <a:prstGeom prst="rect">
            <a:avLst/>
          </a:prstGeom>
          <a:solidFill>
            <a:srgbClr val="A855F7">
              <a:alpha val="75000"/>
            </a:srgbClr>
          </a:solidFill>
          <a:ln w="12700">
            <a:solidFill>
              <a:srgbClr val="A855F7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254496" y="15544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601968" y="1517904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preparation requires significant effort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54496" y="2523744"/>
            <a:ext cx="256032" cy="256032"/>
          </a:xfrm>
          <a:prstGeom prst="rect">
            <a:avLst/>
          </a:prstGeom>
          <a:solidFill>
            <a:srgbClr val="A855F7">
              <a:alpha val="75000"/>
            </a:srgbClr>
          </a:solidFill>
          <a:ln w="12700">
            <a:solidFill>
              <a:srgbClr val="A855F7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254496" y="2523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601968" y="2487168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reporting is largely manual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54496" y="3493008"/>
            <a:ext cx="256032" cy="256032"/>
          </a:xfrm>
          <a:prstGeom prst="rect">
            <a:avLst/>
          </a:prstGeom>
          <a:solidFill>
            <a:srgbClr val="A855F7">
              <a:alpha val="75000"/>
            </a:srgbClr>
          </a:solidFill>
          <a:ln w="12700">
            <a:solidFill>
              <a:srgbClr val="A855F7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254496" y="3493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601968" y="3456432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evidence for improvements hard to provide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0117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82296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 Architecture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56032" y="4297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  ·  GDPR-compliant  ·  AI Act Minimal Risk  ·  AI never sees raw data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4/11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6510528" y="731520"/>
            <a:ext cx="20117" cy="4187952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09728" y="841248"/>
            <a:ext cx="36576" cy="841248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64592" y="841248"/>
            <a:ext cx="676656" cy="201168"/>
          </a:xfrm>
          <a:prstGeom prst="rect">
            <a:avLst/>
          </a:prstGeom>
          <a:solidFill>
            <a:srgbClr val="3B82F6">
              <a:alpha val="22000"/>
            </a:srgbClr>
          </a:solidFill>
          <a:ln w="6350">
            <a:solidFill>
              <a:srgbClr val="3B82F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64592" y="841248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CONSUME</a:t>
            </a:r>
            <a:endParaRPr lang="en-US" sz="550" dirty="0"/>
          </a:p>
        </p:txBody>
      </p:sp>
      <p:sp>
        <p:nvSpPr>
          <p:cNvPr id="16" name="Shape 14"/>
          <p:cNvSpPr/>
          <p:nvPr/>
        </p:nvSpPr>
        <p:spPr>
          <a:xfrm>
            <a:off x="109728" y="1828800"/>
            <a:ext cx="36576" cy="1005840"/>
          </a:xfrm>
          <a:prstGeom prst="rect">
            <a:avLst/>
          </a:prstGeom>
          <a:solidFill>
            <a:srgbClr val="22C55E">
              <a:alpha val="60000"/>
            </a:srgbClr>
          </a:solidFill>
          <a:ln w="12700">
            <a:solidFill>
              <a:srgbClr val="22C55E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64592" y="1828800"/>
            <a:ext cx="676656" cy="201168"/>
          </a:xfrm>
          <a:prstGeom prst="rect">
            <a:avLst/>
          </a:prstGeom>
          <a:solidFill>
            <a:srgbClr val="22C55E">
              <a:alpha val="22000"/>
            </a:srgbClr>
          </a:solidFill>
          <a:ln w="635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64592" y="1828800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</a:t>
            </a:r>
            <a:endParaRPr lang="en-US" sz="550" dirty="0"/>
          </a:p>
        </p:txBody>
      </p:sp>
      <p:sp>
        <p:nvSpPr>
          <p:cNvPr id="19" name="Shape 17"/>
          <p:cNvSpPr/>
          <p:nvPr/>
        </p:nvSpPr>
        <p:spPr>
          <a:xfrm>
            <a:off x="109728" y="2980944"/>
            <a:ext cx="36576" cy="841248"/>
          </a:xfrm>
          <a:prstGeom prst="rect">
            <a:avLst/>
          </a:prstGeom>
          <a:solidFill>
            <a:srgbClr val="F97316">
              <a:alpha val="60000"/>
            </a:srgbClr>
          </a:solidFill>
          <a:ln w="12700">
            <a:solidFill>
              <a:srgbClr val="F9731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64592" y="2980944"/>
            <a:ext cx="676656" cy="201168"/>
          </a:xfrm>
          <a:prstGeom prst="rect">
            <a:avLst/>
          </a:prstGeom>
          <a:solidFill>
            <a:srgbClr val="F97316">
              <a:alpha val="22000"/>
            </a:srgbClr>
          </a:solidFill>
          <a:ln w="6350">
            <a:solidFill>
              <a:srgbClr val="F9731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64592" y="2980944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109728" y="3968496"/>
            <a:ext cx="36576" cy="896112"/>
          </a:xfrm>
          <a:prstGeom prst="rect">
            <a:avLst/>
          </a:prstGeom>
          <a:solidFill>
            <a:srgbClr val="888888">
              <a:alpha val="60000"/>
            </a:srgbClr>
          </a:solidFill>
          <a:ln w="12700">
            <a:solidFill>
              <a:srgbClr val="88888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64592" y="3968496"/>
            <a:ext cx="676656" cy="201168"/>
          </a:xfrm>
          <a:prstGeom prst="rect">
            <a:avLst/>
          </a:prstGeom>
          <a:solidFill>
            <a:srgbClr val="888888">
              <a:alpha val="22000"/>
            </a:srgbClr>
          </a:solidFill>
          <a:ln w="6350">
            <a:solidFill>
              <a:srgbClr val="88888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64592" y="3968496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932688" y="822960"/>
            <a:ext cx="1627632" cy="841248"/>
          </a:xfrm>
          <a:prstGeom prst="rect">
            <a:avLst/>
          </a:prstGeom>
          <a:solidFill>
            <a:srgbClr val="141414"/>
          </a:solidFill>
          <a:ln w="10160">
            <a:solidFill>
              <a:srgbClr val="3B82F6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932688" y="822960"/>
            <a:ext cx="1627632" cy="146304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B82F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87552" y="932688"/>
            <a:ext cx="151790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746504" y="1664208"/>
            <a:ext cx="0" cy="128016"/>
          </a:xfrm>
          <a:prstGeom prst="line">
            <a:avLst/>
          </a:prstGeom>
          <a:noFill/>
          <a:ln w="12700">
            <a:solidFill>
              <a:srgbClr val="3B82F6"/>
            </a:solidFill>
            <a:prstDash val="solid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743200" y="822960"/>
            <a:ext cx="1627632" cy="841248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743200" y="822960"/>
            <a:ext cx="1627632" cy="146304"/>
          </a:xfrm>
          <a:prstGeom prst="rect">
            <a:avLst/>
          </a:prstGeom>
          <a:solidFill>
            <a:srgbClr val="22C55E">
              <a:alpha val="75000"/>
            </a:srgbClr>
          </a:solidFill>
          <a:ln w="12700">
            <a:solidFill>
              <a:srgbClr val="22C55E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798064" y="932688"/>
            <a:ext cx="151790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557016" y="1664208"/>
            <a:ext cx="0" cy="128016"/>
          </a:xfrm>
          <a:prstGeom prst="line">
            <a:avLst/>
          </a:prstGeom>
          <a:noFill/>
          <a:ln w="12700">
            <a:solidFill>
              <a:srgbClr val="22C55E"/>
            </a:solidFill>
            <a:prstDash val="solid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553712" y="822960"/>
            <a:ext cx="1627632" cy="841248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553712" y="822960"/>
            <a:ext cx="1627632" cy="146304"/>
          </a:xfrm>
          <a:prstGeom prst="rect">
            <a:avLst/>
          </a:prstGeom>
          <a:solidFill>
            <a:srgbClr val="A855F7">
              <a:alpha val="75000"/>
            </a:srgbClr>
          </a:solidFill>
          <a:ln w="12700">
            <a:solidFill>
              <a:srgbClr val="A855F7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608576" y="932688"/>
            <a:ext cx="151790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&amp; Reports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7528" y="1664208"/>
            <a:ext cx="0" cy="128016"/>
          </a:xfrm>
          <a:prstGeom prst="line">
            <a:avLst/>
          </a:prstGeom>
          <a:noFill/>
          <a:ln w="12700">
            <a:solidFill>
              <a:srgbClr val="A855F7"/>
            </a:solidFill>
            <a:prstDash val="solid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914400" y="1810512"/>
            <a:ext cx="5394960" cy="1060704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1005840" y="1883664"/>
            <a:ext cx="1627632" cy="914400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1005840" y="1883664"/>
            <a:ext cx="1627632" cy="182880"/>
          </a:xfrm>
          <a:prstGeom prst="rect">
            <a:avLst/>
          </a:prstGeom>
          <a:solidFill>
            <a:srgbClr val="22C55E">
              <a:alpha val="75000"/>
            </a:srgbClr>
          </a:solidFill>
          <a:ln w="12700">
            <a:solidFill>
              <a:srgbClr val="22C55E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1042416" y="208483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Agent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42416" y="2450592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know-how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779776" y="1883664"/>
            <a:ext cx="1627632" cy="914400"/>
          </a:xfrm>
          <a:prstGeom prst="rect">
            <a:avLst/>
          </a:prstGeom>
          <a:solidFill>
            <a:srgbClr val="141414"/>
          </a:solidFill>
          <a:ln w="10160">
            <a:solidFill>
              <a:srgbClr val="3B82F6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2779776" y="1883664"/>
            <a:ext cx="1627632" cy="182880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B82F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2816352" y="208483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Agent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816352" y="2450592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cause analysis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553712" y="1883664"/>
            <a:ext cx="1627632" cy="914400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553712" y="1883664"/>
            <a:ext cx="1627632" cy="182880"/>
          </a:xfrm>
          <a:prstGeom prst="rect">
            <a:avLst/>
          </a:prstGeom>
          <a:solidFill>
            <a:srgbClr val="A855F7">
              <a:alpha val="75000"/>
            </a:srgbClr>
          </a:solidFill>
          <a:ln w="12700">
            <a:solidFill>
              <a:srgbClr val="A855F7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590288" y="208483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Agent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590288" y="2450592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55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/ audit reports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02736" y="1792224"/>
            <a:ext cx="0" cy="0"/>
          </a:xfrm>
          <a:prstGeom prst="line">
            <a:avLst/>
          </a:prstGeom>
          <a:noFill/>
          <a:ln w="12700">
            <a:solidFill>
              <a:srgbClr val="22C55E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932688" y="2944368"/>
            <a:ext cx="1627632" cy="859536"/>
          </a:xfrm>
          <a:prstGeom prst="rect">
            <a:avLst/>
          </a:prstGeom>
          <a:solidFill>
            <a:srgbClr val="0D0D0D"/>
          </a:solidFill>
          <a:ln w="20320">
            <a:solidFill>
              <a:srgbClr val="F97316"/>
            </a:solidFill>
            <a:prstDash val="solid"/>
          </a:ln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932688" y="2944368"/>
            <a:ext cx="1627632" cy="16459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969264" y="294436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A0A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Unified Data Layer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987552" y="3145536"/>
            <a:ext cx="1517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source of truth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2743200" y="2944368"/>
            <a:ext cx="1627632" cy="859536"/>
          </a:xfrm>
          <a:prstGeom prst="rect">
            <a:avLst/>
          </a:prstGeom>
          <a:solidFill>
            <a:srgbClr val="141414"/>
          </a:solidFill>
          <a:ln w="10160">
            <a:solidFill>
              <a:srgbClr val="E63329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2743200" y="2944368"/>
            <a:ext cx="1627632" cy="164592"/>
          </a:xfrm>
          <a:prstGeom prst="rect">
            <a:avLst/>
          </a:prstGeom>
          <a:solidFill>
            <a:srgbClr val="E63329">
              <a:alpha val="75000"/>
            </a:srgbClr>
          </a:solidFill>
          <a:ln w="12700">
            <a:solidFill>
              <a:srgbClr val="E63329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2779776" y="294436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Layer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2798064" y="3145536"/>
            <a:ext cx="1517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633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· NDA · Minimization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553712" y="2944368"/>
            <a:ext cx="1627632" cy="859536"/>
          </a:xfrm>
          <a:prstGeom prst="rect">
            <a:avLst/>
          </a:prstGeom>
          <a:solidFill>
            <a:srgbClr val="141414"/>
          </a:solidFill>
          <a:ln w="10160">
            <a:solidFill>
              <a:srgbClr val="F5C518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553712" y="2944368"/>
            <a:ext cx="1627632" cy="164592"/>
          </a:xfrm>
          <a:prstGeom prst="rect">
            <a:avLst/>
          </a:prstGeom>
          <a:solidFill>
            <a:srgbClr val="F5C518">
              <a:alpha val="75000"/>
            </a:srgbClr>
          </a:solidFill>
          <a:ln w="12700">
            <a:solidFill>
              <a:srgbClr val="F5C518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590288" y="294436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&amp; Analytics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4608576" y="3145536"/>
            <a:ext cx="1517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5C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Engine · Aggregation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2560320" y="3374136"/>
            <a:ext cx="18288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370832" y="3374136"/>
            <a:ext cx="18288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3602736" y="2944368"/>
            <a:ext cx="0" cy="0"/>
          </a:xfrm>
          <a:prstGeom prst="line">
            <a:avLst/>
          </a:prstGeom>
          <a:noFill/>
          <a:ln w="12700">
            <a:solidFill>
              <a:srgbClr val="F97316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914400" y="395020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Systems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32688" y="4206240"/>
            <a:ext cx="877824" cy="146304"/>
          </a:xfrm>
          <a:prstGeom prst="ellipse">
            <a:avLst/>
          </a:prstGeom>
          <a:solidFill>
            <a:srgbClr val="F97316">
              <a:alpha val="38000"/>
            </a:srgbClr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932688" y="4279392"/>
            <a:ext cx="877824" cy="384048"/>
          </a:xfrm>
          <a:prstGeom prst="rect">
            <a:avLst/>
          </a:prstGeom>
          <a:solidFill>
            <a:srgbClr val="F97316">
              <a:alpha val="28000"/>
            </a:srgbClr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932688" y="4498848"/>
            <a:ext cx="877824" cy="146304"/>
          </a:xfrm>
          <a:prstGeom prst="ellipse">
            <a:avLst/>
          </a:prstGeom>
          <a:solidFill>
            <a:srgbClr val="F97316">
              <a:alpha val="20000"/>
            </a:srgbClr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932688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SAP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1371600" y="4206240"/>
            <a:ext cx="374904" cy="0"/>
          </a:xfrm>
          <a:prstGeom prst="line">
            <a:avLst/>
          </a:prstGeom>
          <a:noFill/>
          <a:ln w="10160">
            <a:solidFill>
              <a:srgbClr val="F97316">
                <a:alpha val="45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2011680" y="4206240"/>
            <a:ext cx="877824" cy="146304"/>
          </a:xfrm>
          <a:prstGeom prst="ellipse">
            <a:avLst/>
          </a:prstGeom>
          <a:solidFill>
            <a:srgbClr val="F97316">
              <a:alpha val="38000"/>
            </a:srgbClr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2011680" y="4279392"/>
            <a:ext cx="877824" cy="384048"/>
          </a:xfrm>
          <a:prstGeom prst="rect">
            <a:avLst/>
          </a:prstGeom>
          <a:solidFill>
            <a:srgbClr val="F97316">
              <a:alpha val="28000"/>
            </a:srgbClr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2011680" y="4498848"/>
            <a:ext cx="877824" cy="146304"/>
          </a:xfrm>
          <a:prstGeom prst="ellipse">
            <a:avLst/>
          </a:prstGeom>
          <a:solidFill>
            <a:srgbClr val="F97316">
              <a:alpha val="20000"/>
            </a:srgbClr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2011680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2450592" y="4206240"/>
            <a:ext cx="0" cy="0"/>
          </a:xfrm>
          <a:prstGeom prst="line">
            <a:avLst/>
          </a:prstGeom>
          <a:noFill/>
          <a:ln w="10160">
            <a:solidFill>
              <a:srgbClr val="F97316">
                <a:alpha val="45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3090672" y="4206240"/>
            <a:ext cx="877824" cy="146304"/>
          </a:xfrm>
          <a:prstGeom prst="ellipse">
            <a:avLst/>
          </a:prstGeom>
          <a:solidFill>
            <a:srgbClr val="F97316">
              <a:alpha val="38000"/>
            </a:srgbClr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3090672" y="4279392"/>
            <a:ext cx="877824" cy="384048"/>
          </a:xfrm>
          <a:prstGeom prst="rect">
            <a:avLst/>
          </a:prstGeom>
          <a:solidFill>
            <a:srgbClr val="F97316">
              <a:alpha val="28000"/>
            </a:srgbClr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3090672" y="4498848"/>
            <a:ext cx="877824" cy="146304"/>
          </a:xfrm>
          <a:prstGeom prst="ellipse">
            <a:avLst/>
          </a:prstGeom>
          <a:solidFill>
            <a:srgbClr val="F97316">
              <a:alpha val="20000"/>
            </a:srgbClr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3090672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QMS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3529584" y="4206240"/>
            <a:ext cx="0" cy="0"/>
          </a:xfrm>
          <a:prstGeom prst="line">
            <a:avLst/>
          </a:prstGeom>
          <a:noFill/>
          <a:ln w="10160">
            <a:solidFill>
              <a:srgbClr val="F97316">
                <a:alpha val="45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4169664" y="4206240"/>
            <a:ext cx="877824" cy="146304"/>
          </a:xfrm>
          <a:prstGeom prst="ellipse">
            <a:avLst/>
          </a:prstGeom>
          <a:solidFill>
            <a:srgbClr val="888888">
              <a:alpha val="38000"/>
            </a:srgbClr>
          </a:solidFill>
          <a:ln w="1524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4169664" y="4279392"/>
            <a:ext cx="877824" cy="384048"/>
          </a:xfrm>
          <a:prstGeom prst="rect">
            <a:avLst/>
          </a:prstGeom>
          <a:solidFill>
            <a:srgbClr val="888888">
              <a:alpha val="28000"/>
            </a:srgbClr>
          </a:solidFill>
          <a:ln w="1524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4169664" y="4498848"/>
            <a:ext cx="877824" cy="146304"/>
          </a:xfrm>
          <a:prstGeom prst="ellipse">
            <a:avLst/>
          </a:prstGeom>
          <a:solidFill>
            <a:srgbClr val="888888">
              <a:alpha val="20000"/>
            </a:srgbClr>
          </a:solidFill>
          <a:ln w="1524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4169664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4608576" y="4206240"/>
            <a:ext cx="0" cy="0"/>
          </a:xfrm>
          <a:prstGeom prst="line">
            <a:avLst/>
          </a:prstGeom>
          <a:noFill/>
          <a:ln w="10160">
            <a:solidFill>
              <a:srgbClr val="888888">
                <a:alpha val="45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5248656" y="4206240"/>
            <a:ext cx="877824" cy="146304"/>
          </a:xfrm>
          <a:prstGeom prst="ellipse">
            <a:avLst/>
          </a:prstGeom>
          <a:solidFill>
            <a:srgbClr val="888888">
              <a:alpha val="38000"/>
            </a:srgbClr>
          </a:solidFill>
          <a:ln w="1524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5248656" y="4279392"/>
            <a:ext cx="877824" cy="384048"/>
          </a:xfrm>
          <a:prstGeom prst="rect">
            <a:avLst/>
          </a:prstGeom>
          <a:solidFill>
            <a:srgbClr val="888888">
              <a:alpha val="28000"/>
            </a:srgbClr>
          </a:solidFill>
          <a:ln w="1524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5248656" y="4498848"/>
            <a:ext cx="877824" cy="146304"/>
          </a:xfrm>
          <a:prstGeom prst="ellipse">
            <a:avLst/>
          </a:prstGeom>
          <a:solidFill>
            <a:srgbClr val="888888">
              <a:alpha val="20000"/>
            </a:srgbClr>
          </a:solidFill>
          <a:ln w="1524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5248656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Maint.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5687568" y="4206240"/>
            <a:ext cx="0" cy="0"/>
          </a:xfrm>
          <a:prstGeom prst="line">
            <a:avLst/>
          </a:prstGeom>
          <a:noFill/>
          <a:ln w="10160">
            <a:solidFill>
              <a:srgbClr val="888888">
                <a:alpha val="45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6601968" y="804672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GUARANTEE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6601968" y="1042416"/>
            <a:ext cx="2432304" cy="1371600"/>
          </a:xfrm>
          <a:prstGeom prst="rect">
            <a:avLst/>
          </a:prstGeom>
          <a:solidFill>
            <a:srgbClr val="141414"/>
          </a:solidFill>
          <a:ln w="12700">
            <a:solidFill>
              <a:srgbClr val="F97316">
                <a:alpha val="60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6748272" y="1152144"/>
            <a:ext cx="215798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AI never receives raw production data.</a:t>
            </a:r>
            <a:endParaRPr lang="en-US" sz="1050" dirty="0"/>
          </a:p>
          <a:p>
            <a:pPr marL="0" indent="0">
              <a:buNone/>
            </a:pPr>
            <a:r>
              <a:rPr lang="en-US" sz="9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request passes access validation, NDA checks, filtering, KPI calculation and aggregation first. Only the resulting business context reaches the LLM.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6601968" y="2542032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6601968" y="2798064"/>
            <a:ext cx="2432304" cy="438912"/>
          </a:xfrm>
          <a:prstGeom prst="rect">
            <a:avLst/>
          </a:prstGeom>
          <a:solidFill>
            <a:srgbClr val="141414"/>
          </a:solidFill>
          <a:ln w="10160">
            <a:solidFill>
              <a:srgbClr val="E63329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6601968" y="2798064"/>
            <a:ext cx="566928" cy="438912"/>
          </a:xfrm>
          <a:prstGeom prst="rect">
            <a:avLst/>
          </a:prstGeom>
          <a:solidFill>
            <a:srgbClr val="E63329">
              <a:alpha val="30000"/>
            </a:srgbClr>
          </a:solidFill>
          <a:ln w="12700">
            <a:solidFill>
              <a:srgbClr val="E63329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>
            <a:off x="6601968" y="2798064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GDPR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7223760" y="2834640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PII to AI  ·  Art. 6(1)(f)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601968" y="3310128"/>
            <a:ext cx="2432304" cy="438912"/>
          </a:xfrm>
          <a:prstGeom prst="rect">
            <a:avLst/>
          </a:prstGeom>
          <a:solidFill>
            <a:srgbClr val="141414"/>
          </a:solidFill>
          <a:ln w="10160">
            <a:solidFill>
              <a:srgbClr val="F9731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6601968" y="3310128"/>
            <a:ext cx="566928" cy="438912"/>
          </a:xfrm>
          <a:prstGeom prst="rect">
            <a:avLst/>
          </a:prstGeom>
          <a:solidFill>
            <a:srgbClr val="F97316">
              <a:alpha val="30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100"/>
          <p:cNvSpPr/>
          <p:nvPr/>
        </p:nvSpPr>
        <p:spPr>
          <a:xfrm>
            <a:off x="6601968" y="3310128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Act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7223760" y="3346704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 Risk  ·  Human approval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601968" y="3822192"/>
            <a:ext cx="2432304" cy="438912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6601968" y="3822192"/>
            <a:ext cx="566928" cy="438912"/>
          </a:xfrm>
          <a:prstGeom prst="rect">
            <a:avLst/>
          </a:prstGeom>
          <a:solidFill>
            <a:srgbClr val="22C55E">
              <a:alpha val="30000"/>
            </a:srgbClr>
          </a:solidFill>
          <a:ln w="12700">
            <a:solidFill>
              <a:srgbClr val="22C55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04"/>
          <p:cNvSpPr/>
          <p:nvPr/>
        </p:nvSpPr>
        <p:spPr>
          <a:xfrm>
            <a:off x="6601968" y="3822192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9001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7223760" y="3858768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 audit trails  ·  Traceable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601968" y="4334256"/>
            <a:ext cx="2432304" cy="43891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6601968" y="4334256"/>
            <a:ext cx="566928" cy="438912"/>
          </a:xfrm>
          <a:prstGeom prst="rect">
            <a:avLst/>
          </a:prstGeom>
          <a:solidFill>
            <a:srgbClr val="A855F7">
              <a:alpha val="30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 108"/>
          <p:cNvSpPr/>
          <p:nvPr/>
        </p:nvSpPr>
        <p:spPr>
          <a:xfrm>
            <a:off x="6601968" y="4334256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NDA / IP</a:t>
            </a:r>
            <a:endParaRPr lang="en-US" sz="800" dirty="0"/>
          </a:p>
        </p:txBody>
      </p:sp>
      <p:sp>
        <p:nvSpPr>
          <p:cNvPr id="111" name="Text 109"/>
          <p:cNvSpPr/>
          <p:nvPr/>
        </p:nvSpPr>
        <p:spPr>
          <a:xfrm>
            <a:off x="7223760" y="4370832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  ·  Role-based access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8229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" y="420624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question becomes a trusted, traceable answer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56032" y="84124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 pipeline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170432"/>
            <a:ext cx="4206240" cy="402336"/>
          </a:xfrm>
          <a:prstGeom prst="rect">
            <a:avLst/>
          </a:prstGeom>
          <a:solidFill>
            <a:srgbClr val="141414"/>
          </a:solidFill>
          <a:ln w="10160">
            <a:solidFill>
              <a:srgbClr val="88888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1234440"/>
            <a:ext cx="274320" cy="274320"/>
          </a:xfrm>
          <a:prstGeom prst="ellipse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41248" y="117043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Question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1572768"/>
            <a:ext cx="0" cy="109728"/>
          </a:xfrm>
          <a:prstGeom prst="line">
            <a:avLst/>
          </a:prstGeom>
          <a:noFill/>
          <a:ln w="12700">
            <a:solidFill>
              <a:srgbClr val="888888">
                <a:alpha val="50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" y="1682496"/>
            <a:ext cx="4206240" cy="402336"/>
          </a:xfrm>
          <a:prstGeom prst="rect">
            <a:avLst/>
          </a:prstGeom>
          <a:solidFill>
            <a:srgbClr val="141414"/>
          </a:solidFill>
          <a:ln w="10160">
            <a:solidFill>
              <a:srgbClr val="E63329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1746504"/>
            <a:ext cx="274320" cy="274320"/>
          </a:xfrm>
          <a:prstGeom prst="ellipse">
            <a:avLst/>
          </a:prstGeom>
          <a:solidFill>
            <a:srgbClr val="E63329"/>
          </a:solidFill>
          <a:ln w="12700">
            <a:solidFill>
              <a:srgbClr val="E633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1746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1248" y="1682496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 Check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" y="2084832"/>
            <a:ext cx="0" cy="109728"/>
          </a:xfrm>
          <a:prstGeom prst="line">
            <a:avLst/>
          </a:prstGeom>
          <a:noFill/>
          <a:ln w="12700">
            <a:solidFill>
              <a:srgbClr val="E63329">
                <a:alpha val="50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65760" y="2194560"/>
            <a:ext cx="4206240" cy="402336"/>
          </a:xfrm>
          <a:prstGeom prst="rect">
            <a:avLst/>
          </a:prstGeom>
          <a:solidFill>
            <a:srgbClr val="141414"/>
          </a:solidFill>
          <a:ln w="10160">
            <a:solidFill>
              <a:srgbClr val="3B82F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2258568"/>
            <a:ext cx="274320" cy="27432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41248" y="2194560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Relevant Data Selection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4360" y="2596896"/>
            <a:ext cx="0" cy="109728"/>
          </a:xfrm>
          <a:prstGeom prst="line">
            <a:avLst/>
          </a:prstGeom>
          <a:noFill/>
          <a:ln w="12700">
            <a:solidFill>
              <a:srgbClr val="3B82F6">
                <a:alpha val="50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65760" y="2706624"/>
            <a:ext cx="4206240" cy="402336"/>
          </a:xfrm>
          <a:prstGeom prst="rect">
            <a:avLst/>
          </a:prstGeom>
          <a:solidFill>
            <a:srgbClr val="141414"/>
          </a:solidFill>
          <a:ln w="10160">
            <a:solidFill>
              <a:srgbClr val="F5C51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7200" y="2770632"/>
            <a:ext cx="274320" cy="274320"/>
          </a:xfrm>
          <a:prstGeom prst="ellipse">
            <a:avLst/>
          </a:prstGeom>
          <a:solidFill>
            <a:srgbClr val="F5C518"/>
          </a:solidFill>
          <a:ln w="12700">
            <a:solidFill>
              <a:srgbClr val="F5C5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2770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0A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248" y="2706624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Calculation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94360" y="3108960"/>
            <a:ext cx="0" cy="109728"/>
          </a:xfrm>
          <a:prstGeom prst="line">
            <a:avLst/>
          </a:prstGeom>
          <a:noFill/>
          <a:ln w="12700">
            <a:solidFill>
              <a:srgbClr val="F5C518">
                <a:alpha val="50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65760" y="3218688"/>
            <a:ext cx="4206240" cy="402336"/>
          </a:xfrm>
          <a:prstGeom prst="rect">
            <a:avLst/>
          </a:prstGeom>
          <a:solidFill>
            <a:srgbClr val="141414"/>
          </a:solidFill>
          <a:ln w="10160">
            <a:solidFill>
              <a:srgbClr val="F9731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57200" y="3282696"/>
            <a:ext cx="274320" cy="2743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57200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41248" y="3218688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Package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94360" y="3621024"/>
            <a:ext cx="0" cy="109728"/>
          </a:xfrm>
          <a:prstGeom prst="line">
            <a:avLst/>
          </a:prstGeom>
          <a:noFill/>
          <a:ln w="12700">
            <a:solidFill>
              <a:srgbClr val="F97316">
                <a:alpha val="50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365760" y="3730752"/>
            <a:ext cx="4206240" cy="402336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57200" y="3794760"/>
            <a:ext cx="274320" cy="27432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57200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41248" y="373075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Analysis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94360" y="4133088"/>
            <a:ext cx="0" cy="109728"/>
          </a:xfrm>
          <a:prstGeom prst="line">
            <a:avLst/>
          </a:prstGeom>
          <a:noFill/>
          <a:ln w="12700">
            <a:solidFill>
              <a:srgbClr val="22C55E">
                <a:alpha val="50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365760" y="4242816"/>
            <a:ext cx="4206240" cy="402336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57200" y="4306824"/>
            <a:ext cx="274320" cy="27432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57200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41248" y="4242816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→ Final Decision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892040" y="841248"/>
            <a:ext cx="3995928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3B82F6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892040" y="841248"/>
            <a:ext cx="3995928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507492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074920" y="1335024"/>
            <a:ext cx="3630168" cy="548640"/>
          </a:xfrm>
          <a:prstGeom prst="rect">
            <a:avLst/>
          </a:prstGeom>
          <a:solidFill>
            <a:srgbClr val="1C1C1C"/>
          </a:solidFill>
          <a:ln w="635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184648" y="1335024"/>
            <a:ext cx="34107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"Why did rework increase on Line 3 last week?"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5074920" y="202996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package sent to the AI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074920" y="2340864"/>
            <a:ext cx="3630168" cy="384048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074920" y="2340864"/>
            <a:ext cx="45720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230368" y="2340864"/>
            <a:ext cx="34198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Rework increased from 3.2% to 7.4%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74920" y="2798064"/>
            <a:ext cx="3630168" cy="384048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5074920" y="2798064"/>
            <a:ext cx="45720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5230368" y="2798064"/>
            <a:ext cx="34198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Torque station alarms up by 38%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074920" y="3255264"/>
            <a:ext cx="3630168" cy="384048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5074920" y="3255264"/>
            <a:ext cx="45720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5230368" y="3255264"/>
            <a:ext cx="34198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Maintenance intervention occurred Tuesday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074920" y="3712464"/>
            <a:ext cx="3630168" cy="384048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5074920" y="3712464"/>
            <a:ext cx="45720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5230368" y="3712464"/>
            <a:ext cx="34198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event recorded in March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5074920" y="4224528"/>
            <a:ext cx="36301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The AI receives only this filtered context — never the full production databases or customer data.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8229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Components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" y="420624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agents — each scoped to a clear business value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6/11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" y="841248"/>
            <a:ext cx="2798064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" y="841248"/>
            <a:ext cx="2798064" cy="457200"/>
          </a:xfrm>
          <a:prstGeom prst="rect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02336" y="841248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Agent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02336" y="1371600"/>
            <a:ext cx="25054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access to operational and technical knowledge.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02336" y="1865376"/>
            <a:ext cx="2505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02336" y="206654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system holds downtime data?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02336" y="2377440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is OEE calculated?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02336" y="2688336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What's needed for ISO reporting?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02336" y="3108960"/>
            <a:ext cx="2505456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02336" y="3200400"/>
            <a:ext cx="2505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02336" y="3401568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expert dependency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02336" y="371246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onboarding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02336" y="4023360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knowledge retention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182112" y="841248"/>
            <a:ext cx="2798064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3B82F6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182112" y="841248"/>
            <a:ext cx="2798064" cy="457200"/>
          </a:xfrm>
          <a:prstGeom prst="rect">
            <a:avLst/>
          </a:prstGeom>
          <a:solidFill>
            <a:srgbClr val="3B82F6">
              <a:alpha val="85000"/>
            </a:srgbClr>
          </a:solidFill>
          <a:ln w="12700">
            <a:solidFill>
              <a:srgbClr val="3B82F6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328416" y="841248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Agent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328416" y="1371600"/>
            <a:ext cx="25054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 root cause investigations.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328416" y="1865376"/>
            <a:ext cx="2505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328416" y="206654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did rework increase?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328416" y="2377440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did downtime occur?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328416" y="2688336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Have similar incidents happened?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28416" y="3108960"/>
            <a:ext cx="2505456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328416" y="3200400"/>
            <a:ext cx="2505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328416" y="3401568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investigations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3328416" y="371246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operational decisions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328416" y="4023360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Improved transparency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108192" y="841248"/>
            <a:ext cx="2798064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108192" y="841248"/>
            <a:ext cx="2798064" cy="457200"/>
          </a:xfrm>
          <a:prstGeom prst="rect">
            <a:avLst/>
          </a:prstGeom>
          <a:solidFill>
            <a:srgbClr val="A855F7">
              <a:alpha val="85000"/>
            </a:srgbClr>
          </a:solidFill>
          <a:ln w="12700">
            <a:solidFill>
              <a:srgbClr val="A855F7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254496" y="841248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Agent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254496" y="1371600"/>
            <a:ext cx="25054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55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 report preparation.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54496" y="1865376"/>
            <a:ext cx="2505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254496" y="206654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9001 reports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254496" y="2377440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&amp; management summaries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254496" y="2688336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preparation packages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254496" y="3108960"/>
            <a:ext cx="2505456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254496" y="3200400"/>
            <a:ext cx="2505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A855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254496" y="3401568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reporting effort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54496" y="371246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audits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254496" y="4023360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documentation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E63329"/>
          </a:solidFill>
          <a:ln w="12700">
            <a:solidFill>
              <a:srgbClr val="E633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E63329"/>
          </a:solidFill>
          <a:ln w="12700">
            <a:solidFill>
              <a:srgbClr val="E633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8229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GDPR Strategy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" y="420624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Machine-first data processing with strict personal-data controls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7/11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" y="841248"/>
            <a:ext cx="4224528" cy="1920240"/>
          </a:xfrm>
          <a:prstGeom prst="rect">
            <a:avLst/>
          </a:prstGeom>
          <a:solidFill>
            <a:srgbClr val="141414"/>
          </a:solidFill>
          <a:ln w="6350">
            <a:solidFill>
              <a:srgbClr val="2E2E2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" y="841248"/>
            <a:ext cx="4224528" cy="54864"/>
          </a:xfrm>
          <a:prstGeom prst="rect">
            <a:avLst/>
          </a:prstGeom>
          <a:solidFill>
            <a:srgbClr val="E63329"/>
          </a:solidFill>
          <a:ln w="12700">
            <a:solidFill>
              <a:srgbClr val="E633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38912" y="9875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33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data is processed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8912" y="1298448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primarily processes machine and operational data. Limited personal data may include: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1828800"/>
            <a:ext cx="1828800" cy="329184"/>
          </a:xfrm>
          <a:prstGeom prst="rect">
            <a:avLst/>
          </a:prstGeom>
          <a:solidFill>
            <a:srgbClr val="1C1C1C"/>
          </a:solidFill>
          <a:ln w="6350">
            <a:solidFill>
              <a:srgbClr val="E63329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30352" y="182880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accounts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04872" y="1828800"/>
            <a:ext cx="1828800" cy="329184"/>
          </a:xfrm>
          <a:prstGeom prst="rect">
            <a:avLst/>
          </a:prstGeom>
          <a:solidFill>
            <a:srgbClr val="1C1C1C"/>
          </a:solidFill>
          <a:ln w="6350">
            <a:solidFill>
              <a:srgbClr val="E63329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496312" y="182880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Employee names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38912" y="2249424"/>
            <a:ext cx="1828800" cy="329184"/>
          </a:xfrm>
          <a:prstGeom prst="rect">
            <a:avLst/>
          </a:prstGeom>
          <a:solidFill>
            <a:srgbClr val="1C1C1C"/>
          </a:solidFill>
          <a:ln w="6350">
            <a:solidFill>
              <a:srgbClr val="E63329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30352" y="224942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 information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404872" y="2249424"/>
            <a:ext cx="1828800" cy="329184"/>
          </a:xfrm>
          <a:prstGeom prst="rect">
            <a:avLst/>
          </a:prstGeom>
          <a:solidFill>
            <a:srgbClr val="1C1C1C"/>
          </a:solidFill>
          <a:ln w="6350">
            <a:solidFill>
              <a:srgbClr val="E63329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496312" y="224942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Maintenance records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56032" y="2871216"/>
            <a:ext cx="4224528" cy="1883664"/>
          </a:xfrm>
          <a:prstGeom prst="rect">
            <a:avLst/>
          </a:prstGeom>
          <a:solidFill>
            <a:srgbClr val="141414"/>
          </a:solidFill>
          <a:ln w="10160">
            <a:solidFill>
              <a:srgbClr val="F97316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56032" y="2871216"/>
            <a:ext cx="109728" cy="18836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29992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Lawful basis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3101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Legitimate Interest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57200" y="376732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Article 6(1)(f) GDPR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4078224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 is necessary for legitimate operational interests, balanced against data-subject rights through the controls applied.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841248"/>
            <a:ext cx="4224528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663440" y="841248"/>
            <a:ext cx="4224528" cy="457200"/>
          </a:xfrm>
          <a:prstGeom prst="rect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8412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Controls in place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846320" y="1426464"/>
            <a:ext cx="3858768" cy="548640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846320" y="1426464"/>
            <a:ext cx="45720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992624" y="1481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Role-based access control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92624" y="17190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authorized users reach permitted data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846320" y="2066544"/>
            <a:ext cx="3858768" cy="548640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846320" y="2066544"/>
            <a:ext cx="45720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992624" y="2121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Encryption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992624" y="23591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protected at rest and in transit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46320" y="2706624"/>
            <a:ext cx="3858768" cy="548640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846320" y="2706624"/>
            <a:ext cx="45720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992624" y="2761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logging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992624" y="29992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access and request is recorded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46320" y="3346704"/>
            <a:ext cx="3858768" cy="548640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846320" y="3346704"/>
            <a:ext cx="45720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992624" y="34015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Pseudonymization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992624" y="36393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where appropriate to limit exposure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46320" y="3986784"/>
            <a:ext cx="3858768" cy="548640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846320" y="3986784"/>
            <a:ext cx="45720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992624" y="40416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minimization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992624" y="42793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required fields are processed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8229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NDA &amp; IP Protection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" y="420624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NDAs and OEM agreements enforced by design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8/11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" y="841248"/>
            <a:ext cx="3840480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" y="841248"/>
            <a:ext cx="109728" cy="3913632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102412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855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governing principle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1371600"/>
            <a:ext cx="3520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AI can only access information that the requesting user is authorized to view.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7200" y="269748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operates under customer NDAs and OEM agreements. Protection is not a policy layer on top — it is enforced at every request, end to end.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279392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Protection measures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79392" y="1243584"/>
            <a:ext cx="2212848" cy="98755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>
                <a:alpha val="50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279392" y="1243584"/>
            <a:ext cx="2212848" cy="91440"/>
          </a:xfrm>
          <a:prstGeom prst="rect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425696" y="1463040"/>
            <a:ext cx="310896" cy="310896"/>
          </a:xfrm>
          <a:prstGeom prst="ellipse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425696" y="1463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25696" y="1792224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On-premises deployment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620256" y="1243584"/>
            <a:ext cx="2212848" cy="98755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>
                <a:alpha val="50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620256" y="1243584"/>
            <a:ext cx="2212848" cy="91440"/>
          </a:xfrm>
          <a:prstGeom prst="rect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766560" y="1463040"/>
            <a:ext cx="310896" cy="310896"/>
          </a:xfrm>
          <a:prstGeom prst="ellipse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766560" y="1463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66560" y="1792224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unrestricted external data transfer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279392" y="2377440"/>
            <a:ext cx="2212848" cy="98755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>
                <a:alpha val="50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279392" y="2377440"/>
            <a:ext cx="2212848" cy="91440"/>
          </a:xfrm>
          <a:prstGeom prst="rect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425696" y="2596896"/>
            <a:ext cx="310896" cy="310896"/>
          </a:xfrm>
          <a:prstGeom prst="ellipse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425696" y="2596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425696" y="2926080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classification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620256" y="2377440"/>
            <a:ext cx="2212848" cy="98755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>
                <a:alpha val="50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620256" y="2377440"/>
            <a:ext cx="2212848" cy="91440"/>
          </a:xfrm>
          <a:prstGeom prst="rect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766560" y="2596896"/>
            <a:ext cx="310896" cy="310896"/>
          </a:xfrm>
          <a:prstGeom prst="ellipse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766560" y="2596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766560" y="2926080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Role-based permissions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279392" y="3511296"/>
            <a:ext cx="2212848" cy="98755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>
                <a:alpha val="50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279392" y="3511296"/>
            <a:ext cx="2212848" cy="91440"/>
          </a:xfrm>
          <a:prstGeom prst="rect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425696" y="3730752"/>
            <a:ext cx="310896" cy="310896"/>
          </a:xfrm>
          <a:prstGeom prst="ellipse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425696" y="3730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425696" y="4059936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Restricted customer data access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20256" y="3511296"/>
            <a:ext cx="2212848" cy="98755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>
                <a:alpha val="50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620256" y="3511296"/>
            <a:ext cx="2212848" cy="91440"/>
          </a:xfrm>
          <a:prstGeom prst="rect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766560" y="3730752"/>
            <a:ext cx="310896" cy="310896"/>
          </a:xfrm>
          <a:prstGeom prst="ellipse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766560" y="3730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766560" y="4059936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trail for all AI requests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8229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 AI Act Classification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" y="420624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system qualifies as Minimal Risk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9/11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" y="841248"/>
            <a:ext cx="3200400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" y="841248"/>
            <a:ext cx="320040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56032" y="1188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LEVEL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6032" y="1517904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56032" y="2139696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1170432" y="2889504"/>
            <a:ext cx="13716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56032" y="303580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 tier under the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 AI Act framework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639312" y="8778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Justification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39312" y="1225296"/>
            <a:ext cx="2798064" cy="402336"/>
          </a:xfrm>
          <a:prstGeom prst="rect">
            <a:avLst/>
          </a:prstGeom>
          <a:solidFill>
            <a:srgbClr val="141414"/>
          </a:solidFill>
          <a:ln w="762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39312" y="1225296"/>
            <a:ext cx="45720" cy="40233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803904" y="1225296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automated decisions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39312" y="1719072"/>
            <a:ext cx="2798064" cy="402336"/>
          </a:xfrm>
          <a:prstGeom prst="rect">
            <a:avLst/>
          </a:prstGeom>
          <a:solidFill>
            <a:srgbClr val="141414"/>
          </a:solidFill>
          <a:ln w="762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639312" y="1719072"/>
            <a:ext cx="45720" cy="40233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803904" y="1719072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machine control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39312" y="2212848"/>
            <a:ext cx="2798064" cy="402336"/>
          </a:xfrm>
          <a:prstGeom prst="rect">
            <a:avLst/>
          </a:prstGeom>
          <a:solidFill>
            <a:srgbClr val="141414"/>
          </a:solidFill>
          <a:ln w="762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639312" y="2212848"/>
            <a:ext cx="45720" cy="40233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803904" y="2212848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employee evaluation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639312" y="2706624"/>
            <a:ext cx="2798064" cy="402336"/>
          </a:xfrm>
          <a:prstGeom prst="rect">
            <a:avLst/>
          </a:prstGeom>
          <a:solidFill>
            <a:srgbClr val="141414"/>
          </a:solidFill>
          <a:ln w="762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639312" y="2706624"/>
            <a:ext cx="45720" cy="40233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803904" y="2706624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safety-critical operation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39312" y="3200400"/>
            <a:ext cx="2798064" cy="402336"/>
          </a:xfrm>
          <a:prstGeom prst="rect">
            <a:avLst/>
          </a:prstGeom>
          <a:solidFill>
            <a:srgbClr val="141414"/>
          </a:solidFill>
          <a:ln w="762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639312" y="3200400"/>
            <a:ext cx="45720" cy="40233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803904" y="3200400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approval required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565392" y="87782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allocation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565392" y="1225296"/>
            <a:ext cx="2322576" cy="1371600"/>
          </a:xfrm>
          <a:prstGeom prst="rect">
            <a:avLst/>
          </a:prstGeom>
          <a:solidFill>
            <a:srgbClr val="141414"/>
          </a:solidFill>
          <a:ln w="10160">
            <a:solidFill>
              <a:srgbClr val="F97316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565392" y="1225296"/>
            <a:ext cx="2322576" cy="109728"/>
          </a:xfrm>
          <a:prstGeom prst="rect">
            <a:avLst/>
          </a:prstGeom>
          <a:solidFill>
            <a:srgbClr val="F97316">
              <a:alpha val="75000"/>
            </a:srgbClr>
          </a:solidFill>
          <a:ln w="12700">
            <a:solidFill>
              <a:srgbClr val="F9731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711696" y="142646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711696" y="181051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711696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Builds and supplies the AI system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565392" y="2706624"/>
            <a:ext cx="2322576" cy="1371600"/>
          </a:xfrm>
          <a:prstGeom prst="rect">
            <a:avLst/>
          </a:prstGeom>
          <a:solidFill>
            <a:srgbClr val="141414"/>
          </a:solidFill>
          <a:ln w="10160">
            <a:solidFill>
              <a:srgbClr val="3B82F6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565392" y="2706624"/>
            <a:ext cx="2322576" cy="109728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B82F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711696" y="290779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711696" y="32918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Deployer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711696" y="358444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Operates the system in production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8229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LangSmith Monitoring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" y="420624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observability of the AI system — not the production systems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56032" y="84124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tracked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6032" y="1188720"/>
            <a:ext cx="2176272" cy="713232"/>
          </a:xfrm>
          <a:prstGeom prst="rect">
            <a:avLst/>
          </a:prstGeom>
          <a:solidFill>
            <a:srgbClr val="141414"/>
          </a:solidFill>
          <a:ln w="7620">
            <a:solidFill>
              <a:srgbClr val="3B82F6">
                <a:alpha val="45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56032" y="1188720"/>
            <a:ext cx="4572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20624" y="118872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requests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560320" y="1188720"/>
            <a:ext cx="2176272" cy="713232"/>
          </a:xfrm>
          <a:prstGeom prst="rect">
            <a:avLst/>
          </a:prstGeom>
          <a:solidFill>
            <a:srgbClr val="141414"/>
          </a:solidFill>
          <a:ln w="7620">
            <a:solidFill>
              <a:srgbClr val="3B82F6">
                <a:alpha val="45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560320" y="1188720"/>
            <a:ext cx="4572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24912" y="118872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Retrieved documents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56032" y="2029968"/>
            <a:ext cx="2176272" cy="713232"/>
          </a:xfrm>
          <a:prstGeom prst="rect">
            <a:avLst/>
          </a:prstGeom>
          <a:solidFill>
            <a:srgbClr val="141414"/>
          </a:solidFill>
          <a:ln w="7620">
            <a:solidFill>
              <a:srgbClr val="3B82F6">
                <a:alpha val="45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56032" y="2029968"/>
            <a:ext cx="4572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20624" y="2029968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responses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60320" y="2029968"/>
            <a:ext cx="2176272" cy="713232"/>
          </a:xfrm>
          <a:prstGeom prst="rect">
            <a:avLst/>
          </a:prstGeom>
          <a:solidFill>
            <a:srgbClr val="141414"/>
          </a:solidFill>
          <a:ln w="7620">
            <a:solidFill>
              <a:srgbClr val="3B82F6">
                <a:alpha val="45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560320" y="2029968"/>
            <a:ext cx="4572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724912" y="2029968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outputs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56032" y="2871216"/>
            <a:ext cx="2176272" cy="713232"/>
          </a:xfrm>
          <a:prstGeom prst="rect">
            <a:avLst/>
          </a:prstGeom>
          <a:solidFill>
            <a:srgbClr val="141414"/>
          </a:solidFill>
          <a:ln w="7620">
            <a:solidFill>
              <a:srgbClr val="3B82F6">
                <a:alpha val="45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56032" y="2871216"/>
            <a:ext cx="4572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20624" y="2871216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generation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560320" y="2871216"/>
            <a:ext cx="2176272" cy="713232"/>
          </a:xfrm>
          <a:prstGeom prst="rect">
            <a:avLst/>
          </a:prstGeom>
          <a:solidFill>
            <a:srgbClr val="141414"/>
          </a:solidFill>
          <a:ln w="7620">
            <a:solidFill>
              <a:srgbClr val="3B82F6">
                <a:alpha val="45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560320" y="2871216"/>
            <a:ext cx="4572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724912" y="2871216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56032" y="3712464"/>
            <a:ext cx="2176272" cy="713232"/>
          </a:xfrm>
          <a:prstGeom prst="rect">
            <a:avLst/>
          </a:prstGeom>
          <a:solidFill>
            <a:srgbClr val="141414"/>
          </a:solidFill>
          <a:ln w="7620">
            <a:solidFill>
              <a:srgbClr val="3B82F6">
                <a:alpha val="45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56032" y="3712464"/>
            <a:ext cx="4572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20624" y="3712464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560320" y="3712464"/>
            <a:ext cx="2176272" cy="713232"/>
          </a:xfrm>
          <a:prstGeom prst="rect">
            <a:avLst/>
          </a:prstGeom>
          <a:solidFill>
            <a:srgbClr val="141414"/>
          </a:solidFill>
          <a:ln w="7620">
            <a:solidFill>
              <a:srgbClr val="3B82F6">
                <a:alpha val="45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560320" y="3712464"/>
            <a:ext cx="4572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724912" y="3712464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feedback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956048" y="841248"/>
            <a:ext cx="3931920" cy="2377440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956048" y="841248"/>
            <a:ext cx="3931920" cy="457200"/>
          </a:xfrm>
          <a:prstGeom prst="rect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138928" y="841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138928" y="1426464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transparency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675120" y="142646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AI action is visible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138928" y="184708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auditability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675120" y="18470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review of outputs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138928" y="226771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in AI insights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675120" y="226771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 for decision-makers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138928" y="2688336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evidence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75120" y="268833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for regulatory review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56048" y="3346704"/>
            <a:ext cx="3931920" cy="1408176"/>
          </a:xfrm>
          <a:prstGeom prst="rect">
            <a:avLst/>
          </a:prstGeom>
          <a:solidFill>
            <a:srgbClr val="1C1C1C"/>
          </a:solidFill>
          <a:ln w="12700">
            <a:solidFill>
              <a:srgbClr val="F97316">
                <a:alpha val="60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956048" y="3346704"/>
            <a:ext cx="109728" cy="14081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5157216" y="3474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traceability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157216" y="3785616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AI-generated report, recommendation and investigation can be traced back to its source and reviewed by authorized personnel.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0117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914400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1463040"/>
            <a:ext cx="201168" cy="20117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2560320"/>
            <a:ext cx="128016" cy="20117"/>
          </a:xfrm>
          <a:prstGeom prst="rect">
            <a:avLst/>
          </a:prstGeom>
          <a:solidFill>
            <a:srgbClr val="F97316">
              <a:alpha val="55000"/>
            </a:srgbClr>
          </a:solidFill>
          <a:ln w="12700">
            <a:solidFill>
              <a:srgbClr val="F97316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56032" y="914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you.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256032" y="2148840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look forward to working with Vulkan Werke.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6032" y="2834640"/>
            <a:ext cx="219456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6032" y="2980944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 Consulting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56032" y="33284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Questions? Comments? We're ready.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98080" y="3108960"/>
            <a:ext cx="1298448" cy="1298448"/>
          </a:xfrm>
          <a:prstGeom prst="ellipse">
            <a:avLst/>
          </a:prstGeom>
          <a:solidFill>
            <a:srgbClr val="1C1C1C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717536" y="3328416"/>
            <a:ext cx="859536" cy="859536"/>
          </a:xfrm>
          <a:prstGeom prst="ellipse">
            <a:avLst/>
          </a:prstGeom>
          <a:solidFill>
            <a:srgbClr val="141414"/>
          </a:solidFill>
          <a:ln w="10160">
            <a:solidFill>
              <a:srgbClr val="4A4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6992" y="3547872"/>
            <a:ext cx="420624" cy="420624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498080" y="3108960"/>
            <a:ext cx="1298448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A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STC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11/11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233fac-3102-4b22-9f43-dcb6aed9aea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DB8003689506747B63DBB244879DC73" ma:contentTypeVersion="19" ma:contentTypeDescription="Create a new document." ma:contentTypeScope="" ma:versionID="d35a33557a9ed6dabda847809e6d6077">
  <xsd:schema xmlns:xsd="http://www.w3.org/2001/XMLSchema" xmlns:xs="http://www.w3.org/2001/XMLSchema" xmlns:p="http://schemas.microsoft.com/office/2006/metadata/properties" xmlns:ns3="10233fac-3102-4b22-9f43-dcb6aed9aea4" xmlns:ns4="1a48b24f-2696-4d0d-bf6d-8304c3ed2b04" targetNamespace="http://schemas.microsoft.com/office/2006/metadata/properties" ma:root="true" ma:fieldsID="fe8615f8f857165f4d8a1bc8217ec248" ns3:_="" ns4:_="">
    <xsd:import namespace="10233fac-3102-4b22-9f43-dcb6aed9aea4"/>
    <xsd:import namespace="1a48b24f-2696-4d0d-bf6d-8304c3ed2b0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233fac-3102-4b22-9f43-dcb6aed9ae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48b24f-2696-4d0d-bf6d-8304c3ed2b04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7FD3CFF-D856-4895-BC8C-2D54E55CAFB2}">
  <ds:schemaRefs>
    <ds:schemaRef ds:uri="http://www.w3.org/XML/1998/namespace"/>
    <ds:schemaRef ds:uri="1a48b24f-2696-4d0d-bf6d-8304c3ed2b04"/>
    <ds:schemaRef ds:uri="http://schemas.microsoft.com/office/2006/documentManagement/types"/>
    <ds:schemaRef ds:uri="http://purl.org/dc/dcmitype/"/>
    <ds:schemaRef ds:uri="http://purl.org/dc/terms/"/>
    <ds:schemaRef ds:uri="10233fac-3102-4b22-9f43-dcb6aed9aea4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855469DE-EC21-40ED-AA6F-ED689295087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680B7C7-988E-4E4A-875B-95A068F0E41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233fac-3102-4b22-9f43-dcb6aed9aea4"/>
    <ds:schemaRef ds:uri="1a48b24f-2696-4d0d-bf6d-8304c3ed2b0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1037</Words>
  <Application>Microsoft Office PowerPoint</Application>
  <PresentationFormat>Bildschirmpräsentation (16:9)</PresentationFormat>
  <Paragraphs>261</Paragraphs>
  <Slides>11</Slides>
  <Notes>11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4" baseType="lpstr">
      <vt:lpstr>Aptos</vt:lpstr>
      <vt:lpstr>Arial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Vulkan Werke – AI Data Intelligence</dc:title>
  <dc:subject>PptxGenJS Presentation</dc:subject>
  <dc:creator>Gunter.Kleber@globefuelcell.com</dc:creator>
  <cp:lastModifiedBy>Kleber, Gunter</cp:lastModifiedBy>
  <cp:revision>3</cp:revision>
  <dcterms:created xsi:type="dcterms:W3CDTF">2026-06-02T07:31:36Z</dcterms:created>
  <dcterms:modified xsi:type="dcterms:W3CDTF">2026-06-02T07:43:04Z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0x0101006DB8003689506747B63DBB244879DC73</vt:lpwstr>
  </property>
</Properties>
</file>