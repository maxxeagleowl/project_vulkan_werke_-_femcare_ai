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8" r:id="rId7"/>
    <p:sldId id="261" r:id="rId8"/>
    <p:sldId id="260" r:id="rId9"/>
    <p:sldId id="259" r:id="rId10"/>
    <p:sldId id="262" r:id="rId11"/>
    <p:sldId id="263" r:id="rId12"/>
    <p:sldId id="264" r:id="rId13"/>
    <p:sldId id="265" r:id="rId14"/>
    <p:sldId id="266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8" autoAdjust="0"/>
    <p:restoredTop sz="96622" autoAdjust="0"/>
  </p:normalViewPr>
  <p:slideViewPr>
    <p:cSldViewPr snapToGrid="0" snapToObjects="1">
      <p:cViewPr>
        <p:scale>
          <a:sx n="150" d="100"/>
          <a:sy n="150" d="100"/>
        </p:scale>
        <p:origin x="96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0105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AB09CA3-A80A-7440-04BC-102ACA699343}"/>
              </a:ext>
            </a:extLst>
          </p:cNvPr>
          <p:cNvGraphicFramePr>
            <a:graphicFrameLocks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3161943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70" imgH="371" progId="TCLayout.ActiveDocument.1">
                  <p:embed/>
                </p:oleObj>
              </mc:Choice>
              <mc:Fallback>
                <p:oleObj name="think-cell Folie" r:id="rId4" imgW="370" imgH="37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7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0" y="457200"/>
            <a:ext cx="896112" cy="896112"/>
          </a:xfrm>
          <a:prstGeom prst="ellipse">
            <a:avLst/>
          </a:prstGeom>
          <a:solidFill>
            <a:srgbClr val="2E2E2E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11312" y="621792"/>
            <a:ext cx="566928" cy="566928"/>
          </a:xfrm>
          <a:prstGeom prst="ellipse">
            <a:avLst/>
          </a:prstGeom>
          <a:solidFill>
            <a:srgbClr val="141414"/>
          </a:solidFill>
          <a:ln w="1016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357616" y="768096"/>
            <a:ext cx="274320" cy="2743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0" y="457200"/>
            <a:ext cx="8961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A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2011680"/>
            <a:ext cx="201168" cy="20117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3108960"/>
            <a:ext cx="128016" cy="20117"/>
          </a:xfrm>
          <a:prstGeom prst="rect">
            <a:avLst/>
          </a:prstGeom>
          <a:solidFill>
            <a:srgbClr val="F97316">
              <a:alpha val="5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4023360"/>
            <a:ext cx="82296" cy="20117"/>
          </a:xfrm>
          <a:prstGeom prst="rect">
            <a:avLst/>
          </a:prstGeom>
          <a:solidFill>
            <a:srgbClr val="F97316">
              <a:alpha val="35000"/>
            </a:srgbClr>
          </a:solidFill>
          <a:ln w="12700">
            <a:solidFill>
              <a:srgbClr val="F97316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" y="5029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" y="96012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Data Intelligence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56032" y="2084832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Solution Proposal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56032" y="2651760"/>
            <a:ext cx="201168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6032" y="28163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SilverTrust Consulting  ·  June 1, 2026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0" y="4956048"/>
            <a:ext cx="9144000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6032" y="4974336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– Internal Use Only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1/11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20117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82296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56032" y="42062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case for a centralized data &amp; knowledge platform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4956048"/>
            <a:ext cx="9144000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  ·  SilverTrust Consulting  ·  Confidential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2/11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" y="841248"/>
            <a:ext cx="5440680" cy="3913632"/>
          </a:xfrm>
          <a:prstGeom prst="rect">
            <a:avLst/>
          </a:prstGeom>
          <a:solidFill>
            <a:srgbClr val="141414"/>
          </a:solidFill>
          <a:ln w="6350">
            <a:solidFill>
              <a:srgbClr val="2E2E2E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841248"/>
            <a:ext cx="54406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060704"/>
            <a:ext cx="5074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challenge</a:t>
            </a:r>
            <a:endParaRPr lang="en-US" sz="1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 faces growing operational friction: fragmented data, disconnected systems, manual reporting, and heavy dependence on individual experts for critical information.</a:t>
            </a:r>
            <a:endParaRPr lang="en-US" sz="12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1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Production, quality, and operational data live in systems that don't talk to each other. Root cause investigations are slow, quality issues surface too late, reporting eats time, and knowledge stays locked in a few heads.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answer</a:t>
            </a:r>
            <a:endParaRPr lang="en-US" sz="1200" dirty="0"/>
          </a:p>
          <a:p>
            <a:pPr marL="0" indent="0">
              <a:buNone/>
            </a:pPr>
            <a:r>
              <a:rPr lang="en-US" sz="11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combines operational data from multiple systems into a single trusted source of truth — built on proven software, with AI applied only where it creates measurable business value.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70448" y="8778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applied only where it pays off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70448" y="1243584"/>
            <a:ext cx="3017520" cy="1024128"/>
          </a:xfrm>
          <a:prstGeom prst="rect">
            <a:avLst/>
          </a:prstGeom>
          <a:solidFill>
            <a:srgbClr val="141414"/>
          </a:solidFill>
          <a:ln w="10160">
            <a:solidFill>
              <a:srgbClr val="22C55E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870448" y="1243584"/>
            <a:ext cx="109728" cy="10241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71616" y="137160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retrieval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71616" y="170078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access to operational and technical know-how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870448" y="2414016"/>
            <a:ext cx="3017520" cy="1024128"/>
          </a:xfrm>
          <a:prstGeom prst="rect">
            <a:avLst/>
          </a:prstGeom>
          <a:solidFill>
            <a:srgbClr val="141414"/>
          </a:solidFill>
          <a:ln w="10160">
            <a:solidFill>
              <a:srgbClr val="3B82F6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870448" y="2414016"/>
            <a:ext cx="109728" cy="10241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71616" y="254203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Investigation support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71616" y="287121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Faster, evidence-based root cause analysis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70448" y="3584448"/>
            <a:ext cx="3017520" cy="1024128"/>
          </a:xfrm>
          <a:prstGeom prst="rect">
            <a:avLst/>
          </a:prstGeom>
          <a:solidFill>
            <a:srgbClr val="141414"/>
          </a:solidFill>
          <a:ln w="10160">
            <a:solidFill>
              <a:srgbClr val="A855F7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870448" y="3584448"/>
            <a:ext cx="109728" cy="10241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71616" y="371246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generation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71616" y="40416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ISO, quality, and audit reporting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20117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82296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Problems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56032" y="42062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domains, one root cause: fragmented data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4956048"/>
            <a:ext cx="9144000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  ·  SilverTrust Consulting  ·  Confidential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3/11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" y="841248"/>
            <a:ext cx="2798064" cy="3913632"/>
          </a:xfrm>
          <a:prstGeom prst="rect">
            <a:avLst/>
          </a:prstGeom>
          <a:solidFill>
            <a:srgbClr val="141414"/>
          </a:solidFill>
          <a:ln w="10160">
            <a:solidFill>
              <a:srgbClr val="E63329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841248"/>
            <a:ext cx="2798064" cy="512064"/>
          </a:xfrm>
          <a:prstGeom prst="rect">
            <a:avLst/>
          </a:prstGeom>
          <a:solidFill>
            <a:srgbClr val="E63329">
              <a:alpha val="85000"/>
            </a:srgbClr>
          </a:solidFill>
          <a:ln w="12700">
            <a:solidFill>
              <a:srgbClr val="E63329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2336" y="841248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02336" y="1554480"/>
            <a:ext cx="256032" cy="256032"/>
          </a:xfrm>
          <a:prstGeom prst="rect">
            <a:avLst/>
          </a:prstGeom>
          <a:solidFill>
            <a:srgbClr val="E63329">
              <a:alpha val="75000"/>
            </a:srgbClr>
          </a:solidFill>
          <a:ln w="12700">
            <a:solidFill>
              <a:srgbClr val="E63329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2336" y="1554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1517904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Defects &amp; quality issues detected too late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2336" y="2414016"/>
            <a:ext cx="256032" cy="256032"/>
          </a:xfrm>
          <a:prstGeom prst="rect">
            <a:avLst/>
          </a:prstGeom>
          <a:solidFill>
            <a:srgbClr val="E63329">
              <a:alpha val="75000"/>
            </a:srgbClr>
          </a:solidFill>
          <a:ln w="12700">
            <a:solidFill>
              <a:srgbClr val="E63329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2336" y="2414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23774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Rework costs continue to increase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2336" y="3264408"/>
            <a:ext cx="256032" cy="256032"/>
          </a:xfrm>
          <a:prstGeom prst="rect">
            <a:avLst/>
          </a:prstGeom>
          <a:solidFill>
            <a:srgbClr val="E63329">
              <a:alpha val="75000"/>
            </a:srgbClr>
          </a:solidFill>
          <a:ln w="12700">
            <a:solidFill>
              <a:srgbClr val="E63329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02336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3227832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Downtime investigations slow and difficult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82112" y="841248"/>
            <a:ext cx="2798064" cy="3913632"/>
          </a:xfrm>
          <a:prstGeom prst="rect">
            <a:avLst/>
          </a:prstGeom>
          <a:solidFill>
            <a:srgbClr val="141414"/>
          </a:solidFill>
          <a:ln w="10160">
            <a:solidFill>
              <a:srgbClr val="F97316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182112" y="841248"/>
            <a:ext cx="2798064" cy="512064"/>
          </a:xfrm>
          <a:prstGeom prst="rect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28416" y="841248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328416" y="1554480"/>
            <a:ext cx="256032" cy="256032"/>
          </a:xfrm>
          <a:prstGeom prst="rect">
            <a:avLst/>
          </a:prstGeom>
          <a:solidFill>
            <a:srgbClr val="F97316">
              <a:alpha val="75000"/>
            </a:srgbClr>
          </a:solidFill>
          <a:ln w="12700">
            <a:solidFill>
              <a:srgbClr val="F9731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28416" y="1554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75888" y="1517904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knowledge depends on few individuals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28416" y="2523744"/>
            <a:ext cx="256032" cy="256032"/>
          </a:xfrm>
          <a:prstGeom prst="rect">
            <a:avLst/>
          </a:prstGeom>
          <a:solidFill>
            <a:srgbClr val="F97316">
              <a:alpha val="75000"/>
            </a:srgbClr>
          </a:solidFill>
          <a:ln w="12700">
            <a:solidFill>
              <a:srgbClr val="F9731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28416" y="2523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75888" y="248716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retrieval is manual and time-consuming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28416" y="3493008"/>
            <a:ext cx="256032" cy="256032"/>
          </a:xfrm>
          <a:prstGeom prst="rect">
            <a:avLst/>
          </a:prstGeom>
          <a:solidFill>
            <a:srgbClr val="F97316">
              <a:alpha val="75000"/>
            </a:srgbClr>
          </a:solidFill>
          <a:ln w="12700">
            <a:solidFill>
              <a:srgbClr val="F9731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28416" y="3493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75888" y="3456432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scattered across many systems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08192" y="841248"/>
            <a:ext cx="2798064" cy="3913632"/>
          </a:xfrm>
          <a:prstGeom prst="rect">
            <a:avLst/>
          </a:prstGeom>
          <a:solidFill>
            <a:srgbClr val="141414"/>
          </a:solidFill>
          <a:ln w="10160">
            <a:solidFill>
              <a:srgbClr val="A855F7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108192" y="841248"/>
            <a:ext cx="2798064" cy="512064"/>
          </a:xfrm>
          <a:prstGeom prst="rect">
            <a:avLst/>
          </a:prstGeom>
          <a:solidFill>
            <a:srgbClr val="A855F7">
              <a:alpha val="85000"/>
            </a:srgbClr>
          </a:solidFill>
          <a:ln w="12700">
            <a:solidFill>
              <a:srgbClr val="A855F7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54496" y="841248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254496" y="1554480"/>
            <a:ext cx="256032" cy="256032"/>
          </a:xfrm>
          <a:prstGeom prst="rect">
            <a:avLst/>
          </a:prstGeom>
          <a:solidFill>
            <a:srgbClr val="A855F7">
              <a:alpha val="75000"/>
            </a:srgbClr>
          </a:solidFill>
          <a:ln w="12700">
            <a:solidFill>
              <a:srgbClr val="A855F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54496" y="1554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01968" y="1517904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preparation requires significant effort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54496" y="2523744"/>
            <a:ext cx="256032" cy="256032"/>
          </a:xfrm>
          <a:prstGeom prst="rect">
            <a:avLst/>
          </a:prstGeom>
          <a:solidFill>
            <a:srgbClr val="A855F7">
              <a:alpha val="75000"/>
            </a:srgbClr>
          </a:solidFill>
          <a:ln w="12700">
            <a:solidFill>
              <a:srgbClr val="A855F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254496" y="2523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601968" y="248716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reporting is largely manual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54496" y="3493008"/>
            <a:ext cx="256032" cy="256032"/>
          </a:xfrm>
          <a:prstGeom prst="rect">
            <a:avLst/>
          </a:prstGeom>
          <a:solidFill>
            <a:srgbClr val="A855F7">
              <a:alpha val="75000"/>
            </a:srgbClr>
          </a:solidFill>
          <a:ln w="12700">
            <a:solidFill>
              <a:srgbClr val="A855F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254496" y="3493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601968" y="3456432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evidence for improvements hard to provide</a:t>
            </a:r>
            <a:endParaRPr lang="en-US" sz="1100" dirty="0"/>
          </a:p>
        </p:txBody>
      </p:sp>
      <p:sp>
        <p:nvSpPr>
          <p:cNvPr id="51" name="Shape 18">
            <a:extLst>
              <a:ext uri="{FF2B5EF4-FFF2-40B4-BE49-F238E27FC236}">
                <a16:creationId xmlns:a16="http://schemas.microsoft.com/office/drawing/2014/main" id="{9B7AF033-6B3A-5361-E798-33FC193D040D}"/>
              </a:ext>
            </a:extLst>
          </p:cNvPr>
          <p:cNvSpPr/>
          <p:nvPr/>
        </p:nvSpPr>
        <p:spPr>
          <a:xfrm>
            <a:off x="402336" y="4059936"/>
            <a:ext cx="256032" cy="256032"/>
          </a:xfrm>
          <a:prstGeom prst="rect">
            <a:avLst/>
          </a:prstGeom>
          <a:solidFill>
            <a:srgbClr val="E63329">
              <a:alpha val="75000"/>
            </a:srgbClr>
          </a:solidFill>
          <a:ln w="12700">
            <a:solidFill>
              <a:srgbClr val="E63329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19">
            <a:extLst>
              <a:ext uri="{FF2B5EF4-FFF2-40B4-BE49-F238E27FC236}">
                <a16:creationId xmlns:a16="http://schemas.microsoft.com/office/drawing/2014/main" id="{996D3E5B-6EA4-11A6-7843-6CAC4317185B}"/>
              </a:ext>
            </a:extLst>
          </p:cNvPr>
          <p:cNvSpPr/>
          <p:nvPr/>
        </p:nvSpPr>
        <p:spPr>
          <a:xfrm>
            <a:off x="402336" y="4059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01537B8C-4323-8639-83BB-795CC6A2AEB6}"/>
              </a:ext>
            </a:extLst>
          </p:cNvPr>
          <p:cNvSpPr/>
          <p:nvPr/>
        </p:nvSpPr>
        <p:spPr>
          <a:xfrm>
            <a:off x="749808" y="40233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ptos" pitchFamily="34" charset="0"/>
              </a:rPr>
              <a:t>Evidence &amp; data based decision not possible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20117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82296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Components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56032" y="42062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agents — each scoped to a clear business value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4956048"/>
            <a:ext cx="9144000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  ·  SilverTrust Consulting  ·  Confidential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6/11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" y="841248"/>
            <a:ext cx="2798064" cy="3913632"/>
          </a:xfrm>
          <a:prstGeom prst="rect">
            <a:avLst/>
          </a:prstGeom>
          <a:solidFill>
            <a:srgbClr val="141414"/>
          </a:solidFill>
          <a:ln w="10160">
            <a:solidFill>
              <a:srgbClr val="22C55E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841248"/>
            <a:ext cx="2798064" cy="457200"/>
          </a:xfrm>
          <a:prstGeom prst="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2336" y="841248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Agent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02336" y="1371600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access to operational and technical knowledge.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02336" y="1865376"/>
            <a:ext cx="2505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02336" y="2066544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system holds downtime data?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02336" y="2377440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is OEE calculated?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02336" y="2688336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What's needed for ISO reporting?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02336" y="3108960"/>
            <a:ext cx="2505456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2336" y="3200400"/>
            <a:ext cx="2505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value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02336" y="3401568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expert dependency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02336" y="3712464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onboarding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02336" y="4023360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knowledge retention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82112" y="841248"/>
            <a:ext cx="2798064" cy="3913632"/>
          </a:xfrm>
          <a:prstGeom prst="rect">
            <a:avLst/>
          </a:prstGeom>
          <a:solidFill>
            <a:srgbClr val="141414"/>
          </a:solidFill>
          <a:ln w="10160">
            <a:solidFill>
              <a:srgbClr val="3B82F6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182112" y="841248"/>
            <a:ext cx="2798064" cy="457200"/>
          </a:xfrm>
          <a:prstGeom prst="rect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28416" y="841248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Investigation Agent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328416" y="1371600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root cause investigations.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28416" y="1865376"/>
            <a:ext cx="2505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28416" y="2066544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did rework increase?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28416" y="2377440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did downtime occur?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28416" y="2688336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Have similar incidents happened?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28416" y="3108960"/>
            <a:ext cx="2505456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28416" y="3200400"/>
            <a:ext cx="2505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value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28416" y="3401568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investigations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28416" y="3712464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operational decisions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28416" y="4023360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Improved transparency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08192" y="841248"/>
            <a:ext cx="2798064" cy="3913632"/>
          </a:xfrm>
          <a:prstGeom prst="rect">
            <a:avLst/>
          </a:prstGeom>
          <a:solidFill>
            <a:srgbClr val="141414"/>
          </a:solidFill>
          <a:ln w="10160">
            <a:solidFill>
              <a:srgbClr val="A855F7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08192" y="841248"/>
            <a:ext cx="2798064" cy="457200"/>
          </a:xfrm>
          <a:prstGeom prst="rect">
            <a:avLst/>
          </a:prstGeom>
          <a:solidFill>
            <a:srgbClr val="A855F7">
              <a:alpha val="85000"/>
            </a:srgbClr>
          </a:solidFill>
          <a:ln w="12700">
            <a:solidFill>
              <a:srgbClr val="A855F7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54496" y="841248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Agent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254496" y="1371600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5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 report preparation.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54496" y="1865376"/>
            <a:ext cx="2505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54496" y="2066544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9001 reports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54496" y="2377440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&amp; management summaries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54496" y="2688336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preparation packages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54496" y="3108960"/>
            <a:ext cx="2505456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54496" y="3200400"/>
            <a:ext cx="2505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A85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value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254496" y="3401568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reporting effort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54496" y="3712464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audits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54496" y="4023360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documentation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20117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82296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Flow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56032" y="42062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question becomes a trusted, traceable answer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4956048"/>
            <a:ext cx="9144000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  ·  SilverTrust Consulting  ·  Confidential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5/11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56032" y="8412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pipeline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170432"/>
            <a:ext cx="4206240" cy="402336"/>
          </a:xfrm>
          <a:prstGeom prst="rect">
            <a:avLst/>
          </a:prstGeom>
          <a:solidFill>
            <a:srgbClr val="141414"/>
          </a:solidFill>
          <a:ln w="10160">
            <a:solidFill>
              <a:srgbClr val="8888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1234440"/>
            <a:ext cx="274320" cy="274320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" y="117043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Question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1572768"/>
            <a:ext cx="0" cy="109728"/>
          </a:xfrm>
          <a:prstGeom prst="line">
            <a:avLst/>
          </a:prstGeom>
          <a:noFill/>
          <a:ln w="12700">
            <a:solidFill>
              <a:srgbClr val="888888">
                <a:alpha val="50000"/>
              </a:srgbClr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1682496"/>
            <a:ext cx="4206240" cy="402336"/>
          </a:xfrm>
          <a:prstGeom prst="rect">
            <a:avLst/>
          </a:prstGeom>
          <a:solidFill>
            <a:srgbClr val="141414"/>
          </a:solidFill>
          <a:ln w="10160">
            <a:solidFill>
              <a:srgbClr val="E6332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1746504"/>
            <a:ext cx="274320" cy="274320"/>
          </a:xfrm>
          <a:prstGeom prst="ellipse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1746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1682496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 Check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2084832"/>
            <a:ext cx="0" cy="109728"/>
          </a:xfrm>
          <a:prstGeom prst="line">
            <a:avLst/>
          </a:prstGeom>
          <a:noFill/>
          <a:ln w="12700">
            <a:solidFill>
              <a:srgbClr val="E63329">
                <a:alpha val="50000"/>
              </a:srgbClr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2194560"/>
            <a:ext cx="4206240" cy="402336"/>
          </a:xfrm>
          <a:prstGeom prst="rect">
            <a:avLst/>
          </a:prstGeom>
          <a:solidFill>
            <a:srgbClr val="141414"/>
          </a:solidFill>
          <a:ln w="1016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2258568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2258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" y="219456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Data Selection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" y="2596896"/>
            <a:ext cx="0" cy="109728"/>
          </a:xfrm>
          <a:prstGeom prst="line">
            <a:avLst/>
          </a:prstGeom>
          <a:noFill/>
          <a:ln w="12700">
            <a:solidFill>
              <a:srgbClr val="3B82F6">
                <a:alpha val="50000"/>
              </a:srgbClr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5760" y="2706624"/>
            <a:ext cx="4206240" cy="402336"/>
          </a:xfrm>
          <a:prstGeom prst="rect">
            <a:avLst/>
          </a:prstGeom>
          <a:solidFill>
            <a:srgbClr val="141414"/>
          </a:solidFill>
          <a:ln w="10160">
            <a:solidFill>
              <a:srgbClr val="F5C51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2770632"/>
            <a:ext cx="274320" cy="27432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2770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A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" y="270662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Calculation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" y="3108960"/>
            <a:ext cx="0" cy="109728"/>
          </a:xfrm>
          <a:prstGeom prst="line">
            <a:avLst/>
          </a:prstGeom>
          <a:noFill/>
          <a:ln w="12700">
            <a:solidFill>
              <a:srgbClr val="F5C518">
                <a:alpha val="50000"/>
              </a:srgbClr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65760" y="3218688"/>
            <a:ext cx="4206240" cy="402336"/>
          </a:xfrm>
          <a:prstGeom prst="rect">
            <a:avLst/>
          </a:prstGeom>
          <a:solidFill>
            <a:srgbClr val="141414"/>
          </a:solidFill>
          <a:ln w="10160">
            <a:solidFill>
              <a:srgbClr val="F9731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7200" y="3282696"/>
            <a:ext cx="274320" cy="2743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1248" y="321868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Package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4360" y="3621024"/>
            <a:ext cx="0" cy="109728"/>
          </a:xfrm>
          <a:prstGeom prst="line">
            <a:avLst/>
          </a:prstGeom>
          <a:noFill/>
          <a:ln w="12700">
            <a:solidFill>
              <a:srgbClr val="F97316">
                <a:alpha val="50000"/>
              </a:srgbClr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65760" y="3730752"/>
            <a:ext cx="4206240" cy="402336"/>
          </a:xfrm>
          <a:prstGeom prst="rect">
            <a:avLst/>
          </a:prstGeom>
          <a:solidFill>
            <a:srgbClr val="141414"/>
          </a:solidFill>
          <a:ln w="1016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57200" y="3794760"/>
            <a:ext cx="274320" cy="2743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1248" y="373075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Analysis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94360" y="4133088"/>
            <a:ext cx="0" cy="109728"/>
          </a:xfrm>
          <a:prstGeom prst="line">
            <a:avLst/>
          </a:prstGeom>
          <a:noFill/>
          <a:ln w="12700">
            <a:solidFill>
              <a:srgbClr val="22C55E">
                <a:alpha val="50000"/>
              </a:srgbClr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65760" y="4242816"/>
            <a:ext cx="4206240" cy="402336"/>
          </a:xfrm>
          <a:prstGeom prst="rect">
            <a:avLst/>
          </a:prstGeom>
          <a:solidFill>
            <a:srgbClr val="141414"/>
          </a:solidFill>
          <a:ln w="10160">
            <a:solidFill>
              <a:srgbClr val="A855F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57200" y="4306824"/>
            <a:ext cx="274320" cy="27432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7200" y="4306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41248" y="4242816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→ Final Decision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92040" y="841248"/>
            <a:ext cx="3995928" cy="3913632"/>
          </a:xfrm>
          <a:prstGeom prst="rect">
            <a:avLst/>
          </a:prstGeom>
          <a:solidFill>
            <a:srgbClr val="141414"/>
          </a:solidFill>
          <a:ln w="10160">
            <a:solidFill>
              <a:srgbClr val="3B82F6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892040" y="841248"/>
            <a:ext cx="3995928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07492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074920" y="1335024"/>
            <a:ext cx="3630168" cy="548640"/>
          </a:xfrm>
          <a:prstGeom prst="rect">
            <a:avLst/>
          </a:prstGeom>
          <a:solidFill>
            <a:srgbClr val="1C1C1C"/>
          </a:solidFill>
          <a:ln w="635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184648" y="1335024"/>
            <a:ext cx="3410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"Why did rework increase on Line 3 last week?"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074920" y="202996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package sent to the AI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074920" y="2340864"/>
            <a:ext cx="3630168" cy="384048"/>
          </a:xfrm>
          <a:prstGeom prst="rect">
            <a:avLst/>
          </a:prstGeom>
          <a:solidFill>
            <a:srgbClr val="1C1C1C"/>
          </a:solidFill>
          <a:ln w="6350">
            <a:solidFill>
              <a:srgbClr val="22C55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074920" y="2340864"/>
            <a:ext cx="4572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230368" y="2340864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Rework increased from 3.2% to 7.4%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074920" y="2798064"/>
            <a:ext cx="3630168" cy="384048"/>
          </a:xfrm>
          <a:prstGeom prst="rect">
            <a:avLst/>
          </a:prstGeom>
          <a:solidFill>
            <a:srgbClr val="1C1C1C"/>
          </a:solidFill>
          <a:ln w="6350">
            <a:solidFill>
              <a:srgbClr val="22C55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074920" y="2798064"/>
            <a:ext cx="4572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230368" y="2798064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Torque station alarms up by 38%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074920" y="3255264"/>
            <a:ext cx="3630168" cy="384048"/>
          </a:xfrm>
          <a:prstGeom prst="rect">
            <a:avLst/>
          </a:prstGeom>
          <a:solidFill>
            <a:srgbClr val="1C1C1C"/>
          </a:solidFill>
          <a:ln w="6350">
            <a:solidFill>
              <a:srgbClr val="22C55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5074920" y="3255264"/>
            <a:ext cx="4572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230368" y="3255264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Maintenance intervention occurred Tuesday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074920" y="3712464"/>
            <a:ext cx="3630168" cy="384048"/>
          </a:xfrm>
          <a:prstGeom prst="rect">
            <a:avLst/>
          </a:prstGeom>
          <a:solidFill>
            <a:srgbClr val="1C1C1C"/>
          </a:solidFill>
          <a:ln w="6350">
            <a:solidFill>
              <a:srgbClr val="22C55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5074920" y="3712464"/>
            <a:ext cx="4572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230368" y="3712464"/>
            <a:ext cx="3419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 event recorded in March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074920" y="4224528"/>
            <a:ext cx="36301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The AI receives only this filtered context — never the full production databases or customer data.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" name="think-cell data - do not delete" hidden="1">
            <a:extLst>
              <a:ext uri="{FF2B5EF4-FFF2-40B4-BE49-F238E27FC236}">
                <a16:creationId xmlns:a16="http://schemas.microsoft.com/office/drawing/2014/main" id="{4AA552F0-9EF1-F7AB-B7D0-968CDC19E67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732868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70" imgH="371" progId="TCLayout.ActiveDocument.1">
                  <p:embed/>
                </p:oleObj>
              </mc:Choice>
              <mc:Fallback>
                <p:oleObj name="think-cell Folie" r:id="rId4" imgW="370" imgH="37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hape 0"/>
          <p:cNvSpPr/>
          <p:nvPr/>
        </p:nvSpPr>
        <p:spPr>
          <a:xfrm>
            <a:off x="0" y="0"/>
            <a:ext cx="9144000" cy="20117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20117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82296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 Architecture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56032" y="4297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On-premise  ·  GDPR-compliant  ·  AI Act Minimal Risk  ·  AI never sees raw data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4956048"/>
            <a:ext cx="9144000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  ·  SilverTrust Consulting  ·  Confidential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4/11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510528" y="731520"/>
            <a:ext cx="20117" cy="4187952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9728" y="841248"/>
            <a:ext cx="36576" cy="841248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4592" y="841248"/>
            <a:ext cx="676656" cy="201168"/>
          </a:xfrm>
          <a:prstGeom prst="rect">
            <a:avLst/>
          </a:prstGeom>
          <a:solidFill>
            <a:srgbClr val="3B82F6">
              <a:alpha val="22000"/>
            </a:srgbClr>
          </a:solidFill>
          <a:ln w="635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64592" y="84124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100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</a:t>
            </a:r>
            <a:endParaRPr lang="en-US" sz="550" dirty="0"/>
          </a:p>
        </p:txBody>
      </p:sp>
      <p:sp>
        <p:nvSpPr>
          <p:cNvPr id="16" name="Shape 14"/>
          <p:cNvSpPr/>
          <p:nvPr/>
        </p:nvSpPr>
        <p:spPr>
          <a:xfrm>
            <a:off x="109728" y="1828800"/>
            <a:ext cx="36576" cy="1005840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64592" y="1828800"/>
            <a:ext cx="676656" cy="201168"/>
          </a:xfrm>
          <a:prstGeom prst="rect">
            <a:avLst/>
          </a:prstGeom>
          <a:solidFill>
            <a:srgbClr val="22C55E">
              <a:alpha val="22000"/>
            </a:srgbClr>
          </a:solidFill>
          <a:ln w="6350">
            <a:solidFill>
              <a:srgbClr val="22C55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64592" y="1828800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100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109728" y="2980944"/>
            <a:ext cx="36576" cy="841248"/>
          </a:xfrm>
          <a:prstGeom prst="rect">
            <a:avLst/>
          </a:prstGeom>
          <a:solidFill>
            <a:srgbClr val="F97316">
              <a:alpha val="60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64592" y="2980944"/>
            <a:ext cx="676656" cy="201168"/>
          </a:xfrm>
          <a:prstGeom prst="rect">
            <a:avLst/>
          </a:prstGeom>
          <a:solidFill>
            <a:srgbClr val="F97316">
              <a:alpha val="22000"/>
            </a:srgbClr>
          </a:solidFill>
          <a:ln w="6350">
            <a:solidFill>
              <a:srgbClr val="F9731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64592" y="2980944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10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550" dirty="0"/>
          </a:p>
        </p:txBody>
      </p:sp>
      <p:sp>
        <p:nvSpPr>
          <p:cNvPr id="22" name="Shape 20"/>
          <p:cNvSpPr/>
          <p:nvPr/>
        </p:nvSpPr>
        <p:spPr>
          <a:xfrm>
            <a:off x="109728" y="3968496"/>
            <a:ext cx="36576" cy="896112"/>
          </a:xfrm>
          <a:prstGeom prst="rect">
            <a:avLst/>
          </a:prstGeom>
          <a:solidFill>
            <a:srgbClr val="888888">
              <a:alpha val="60000"/>
            </a:srgbClr>
          </a:solidFill>
          <a:ln w="12700">
            <a:solidFill>
              <a:srgbClr val="8888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64592" y="3968496"/>
            <a:ext cx="676656" cy="201168"/>
          </a:xfrm>
          <a:prstGeom prst="rect">
            <a:avLst/>
          </a:prstGeom>
          <a:solidFill>
            <a:srgbClr val="888888">
              <a:alpha val="22000"/>
            </a:srgbClr>
          </a:solidFill>
          <a:ln w="6350">
            <a:solidFill>
              <a:srgbClr val="88888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64592" y="3968496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kern="0" spc="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932688" y="822960"/>
            <a:ext cx="1627632" cy="841248"/>
          </a:xfrm>
          <a:prstGeom prst="rect">
            <a:avLst/>
          </a:prstGeom>
          <a:solidFill>
            <a:srgbClr val="141414"/>
          </a:solidFill>
          <a:ln w="10160">
            <a:solidFill>
              <a:srgbClr val="3B82F6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32688" y="822960"/>
            <a:ext cx="1627632" cy="146304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87552" y="932688"/>
            <a:ext cx="1517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746504" y="1664208"/>
            <a:ext cx="0" cy="128016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0" y="822960"/>
            <a:ext cx="1627632" cy="841248"/>
          </a:xfrm>
          <a:prstGeom prst="rect">
            <a:avLst/>
          </a:prstGeom>
          <a:solidFill>
            <a:srgbClr val="141414"/>
          </a:solidFill>
          <a:ln w="10160">
            <a:solidFill>
              <a:srgbClr val="22C55E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0" y="822960"/>
            <a:ext cx="1627632" cy="146304"/>
          </a:xfrm>
          <a:prstGeom prst="rect">
            <a:avLst/>
          </a:prstGeom>
          <a:solidFill>
            <a:srgbClr val="22C55E">
              <a:alpha val="75000"/>
            </a:srgbClr>
          </a:solidFill>
          <a:ln w="12700">
            <a:solidFill>
              <a:srgbClr val="22C55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98064" y="932688"/>
            <a:ext cx="1517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71312" y="1682496"/>
            <a:ext cx="2" cy="100585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53712" y="822960"/>
            <a:ext cx="1627632" cy="841248"/>
          </a:xfrm>
          <a:prstGeom prst="rect">
            <a:avLst/>
          </a:prstGeom>
          <a:solidFill>
            <a:srgbClr val="141414"/>
          </a:solidFill>
          <a:ln w="10160">
            <a:solidFill>
              <a:srgbClr val="A855F7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53712" y="822960"/>
            <a:ext cx="1627632" cy="146304"/>
          </a:xfrm>
          <a:prstGeom prst="rect">
            <a:avLst/>
          </a:prstGeom>
          <a:solidFill>
            <a:srgbClr val="A855F7">
              <a:alpha val="75000"/>
            </a:srgbClr>
          </a:solidFill>
          <a:ln w="12700">
            <a:solidFill>
              <a:srgbClr val="A855F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08576" y="932688"/>
            <a:ext cx="1517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&amp; Reports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367528" y="1664208"/>
            <a:ext cx="0" cy="128016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14400" y="1810512"/>
            <a:ext cx="5394960" cy="1060704"/>
          </a:xfrm>
          <a:prstGeom prst="rect">
            <a:avLst/>
          </a:prstGeom>
          <a:solidFill>
            <a:srgbClr val="1C1C1C"/>
          </a:solidFill>
          <a:ln w="6350">
            <a:solidFill>
              <a:srgbClr val="22C55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005840" y="1883664"/>
            <a:ext cx="1627632" cy="914400"/>
          </a:xfrm>
          <a:prstGeom prst="rect">
            <a:avLst/>
          </a:prstGeom>
          <a:solidFill>
            <a:srgbClr val="141414"/>
          </a:solidFill>
          <a:ln w="10160">
            <a:solidFill>
              <a:srgbClr val="22C55E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005840" y="1883664"/>
            <a:ext cx="1627632" cy="182880"/>
          </a:xfrm>
          <a:prstGeom prst="rect">
            <a:avLst/>
          </a:prstGeom>
          <a:solidFill>
            <a:srgbClr val="22C55E">
              <a:alpha val="75000"/>
            </a:srgbClr>
          </a:solidFill>
          <a:ln w="12700">
            <a:solidFill>
              <a:srgbClr val="22C55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42416" y="20848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Agent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42416" y="24505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know-how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779776" y="1883664"/>
            <a:ext cx="1627632" cy="914400"/>
          </a:xfrm>
          <a:prstGeom prst="rect">
            <a:avLst/>
          </a:prstGeom>
          <a:solidFill>
            <a:srgbClr val="141414"/>
          </a:solidFill>
          <a:ln w="10160">
            <a:solidFill>
              <a:srgbClr val="3B82F6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779776" y="1883664"/>
            <a:ext cx="1627632" cy="18288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816352" y="20848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Investigation Agent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816352" y="24505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cause analysis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53712" y="1883664"/>
            <a:ext cx="1627632" cy="914400"/>
          </a:xfrm>
          <a:prstGeom prst="rect">
            <a:avLst/>
          </a:prstGeom>
          <a:solidFill>
            <a:srgbClr val="141414"/>
          </a:solidFill>
          <a:ln w="10160">
            <a:solidFill>
              <a:srgbClr val="A855F7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553712" y="1883664"/>
            <a:ext cx="1627632" cy="182880"/>
          </a:xfrm>
          <a:prstGeom prst="rect">
            <a:avLst/>
          </a:prstGeom>
          <a:solidFill>
            <a:srgbClr val="A855F7">
              <a:alpha val="75000"/>
            </a:srgbClr>
          </a:solidFill>
          <a:ln w="12700">
            <a:solidFill>
              <a:srgbClr val="A855F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590288" y="20848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Agent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90288" y="24505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5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/ audit reports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932688" y="2944368"/>
            <a:ext cx="1627632" cy="859536"/>
          </a:xfrm>
          <a:prstGeom prst="rect">
            <a:avLst/>
          </a:prstGeom>
          <a:solidFill>
            <a:srgbClr val="0D0D0D"/>
          </a:solidFill>
          <a:ln w="20320">
            <a:solidFill>
              <a:srgbClr val="F9731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932688" y="2944368"/>
            <a:ext cx="162763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69264" y="294436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A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Data Layer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987552" y="3145536"/>
            <a:ext cx="15179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source of truth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43200" y="2944368"/>
            <a:ext cx="1627632" cy="859536"/>
          </a:xfrm>
          <a:prstGeom prst="rect">
            <a:avLst/>
          </a:prstGeom>
          <a:solidFill>
            <a:srgbClr val="141414"/>
          </a:solidFill>
          <a:ln w="10160">
            <a:solidFill>
              <a:srgbClr val="E63329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743200" y="2944368"/>
            <a:ext cx="1627632" cy="164592"/>
          </a:xfrm>
          <a:prstGeom prst="rect">
            <a:avLst/>
          </a:prstGeom>
          <a:solidFill>
            <a:srgbClr val="E63329">
              <a:alpha val="75000"/>
            </a:srgbClr>
          </a:solidFill>
          <a:ln w="12700">
            <a:solidFill>
              <a:srgbClr val="E63329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779776" y="294436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Layer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2798064" y="3145536"/>
            <a:ext cx="15179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63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· NDA · Minimization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553712" y="2944368"/>
            <a:ext cx="1627632" cy="859536"/>
          </a:xfrm>
          <a:prstGeom prst="rect">
            <a:avLst/>
          </a:prstGeom>
          <a:solidFill>
            <a:srgbClr val="141414"/>
          </a:solidFill>
          <a:ln w="10160">
            <a:solidFill>
              <a:srgbClr val="F5C51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553712" y="2944368"/>
            <a:ext cx="1627632" cy="164592"/>
          </a:xfrm>
          <a:prstGeom prst="rect">
            <a:avLst/>
          </a:prstGeom>
          <a:solidFill>
            <a:srgbClr val="F5C518">
              <a:alpha val="75000"/>
            </a:srgbClr>
          </a:solidFill>
          <a:ln w="12700">
            <a:solidFill>
              <a:srgbClr val="F5C51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590288" y="294436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&amp; Analytics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608576" y="3145536"/>
            <a:ext cx="15179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C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Engine · Aggregation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560320" y="3374136"/>
            <a:ext cx="1828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4370832" y="3374136"/>
            <a:ext cx="18288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 flipV="1">
            <a:off x="3602736" y="2871216"/>
            <a:ext cx="0" cy="73152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932688" y="4206240"/>
            <a:ext cx="877824" cy="146304"/>
          </a:xfrm>
          <a:prstGeom prst="ellipse">
            <a:avLst/>
          </a:prstGeom>
          <a:solidFill>
            <a:srgbClr val="F97316">
              <a:alpha val="38000"/>
            </a:srgbClr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932688" y="4279392"/>
            <a:ext cx="877824" cy="384048"/>
          </a:xfrm>
          <a:prstGeom prst="rect">
            <a:avLst/>
          </a:prstGeom>
          <a:solidFill>
            <a:srgbClr val="F97316">
              <a:alpha val="28000"/>
            </a:srgbClr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932688" y="4498848"/>
            <a:ext cx="877824" cy="146304"/>
          </a:xfrm>
          <a:prstGeom prst="ellipse">
            <a:avLst/>
          </a:prstGeom>
          <a:solidFill>
            <a:srgbClr val="F97316">
              <a:alpha val="20000"/>
            </a:srgbClr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932688" y="4297680"/>
            <a:ext cx="877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 flipV="1">
            <a:off x="1371600" y="3822192"/>
            <a:ext cx="342900" cy="384048"/>
          </a:xfrm>
          <a:prstGeom prst="line">
            <a:avLst/>
          </a:prstGeom>
          <a:noFill/>
          <a:ln w="10160">
            <a:solidFill>
              <a:srgbClr val="F97316">
                <a:alpha val="45000"/>
              </a:srgbClr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2011680" y="4206240"/>
            <a:ext cx="877824" cy="146304"/>
          </a:xfrm>
          <a:prstGeom prst="ellipse">
            <a:avLst/>
          </a:prstGeom>
          <a:solidFill>
            <a:srgbClr val="F97316">
              <a:alpha val="38000"/>
            </a:srgbClr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2011680" y="4279392"/>
            <a:ext cx="877824" cy="384048"/>
          </a:xfrm>
          <a:prstGeom prst="rect">
            <a:avLst/>
          </a:prstGeom>
          <a:solidFill>
            <a:srgbClr val="F97316">
              <a:alpha val="28000"/>
            </a:srgbClr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2011680" y="4498848"/>
            <a:ext cx="877824" cy="146304"/>
          </a:xfrm>
          <a:prstGeom prst="ellipse">
            <a:avLst/>
          </a:prstGeom>
          <a:solidFill>
            <a:srgbClr val="F97316">
              <a:alpha val="20000"/>
            </a:srgbClr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2011680" y="4297680"/>
            <a:ext cx="877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 flipH="1" flipV="1">
            <a:off x="1746504" y="3822192"/>
            <a:ext cx="704088" cy="384048"/>
          </a:xfrm>
          <a:prstGeom prst="line">
            <a:avLst/>
          </a:prstGeom>
          <a:noFill/>
          <a:ln w="10160">
            <a:solidFill>
              <a:srgbClr val="F97316">
                <a:alpha val="45000"/>
              </a:srgbClr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3090672" y="4206240"/>
            <a:ext cx="877824" cy="146304"/>
          </a:xfrm>
          <a:prstGeom prst="ellipse">
            <a:avLst/>
          </a:prstGeom>
          <a:solidFill>
            <a:srgbClr val="F97316">
              <a:alpha val="38000"/>
            </a:srgbClr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3090672" y="4279392"/>
            <a:ext cx="877824" cy="384048"/>
          </a:xfrm>
          <a:prstGeom prst="rect">
            <a:avLst/>
          </a:prstGeom>
          <a:solidFill>
            <a:srgbClr val="F97316">
              <a:alpha val="28000"/>
            </a:srgbClr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3090672" y="4498848"/>
            <a:ext cx="877824" cy="146304"/>
          </a:xfrm>
          <a:prstGeom prst="ellipse">
            <a:avLst/>
          </a:prstGeom>
          <a:solidFill>
            <a:srgbClr val="F97316">
              <a:alpha val="20000"/>
            </a:srgbClr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3090672" y="4297680"/>
            <a:ext cx="877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QMS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169664" y="4206240"/>
            <a:ext cx="877824" cy="146304"/>
          </a:xfrm>
          <a:prstGeom prst="ellipse">
            <a:avLst/>
          </a:prstGeom>
          <a:solidFill>
            <a:srgbClr val="888888">
              <a:alpha val="38000"/>
            </a:srgbClr>
          </a:solidFill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4169664" y="4279392"/>
            <a:ext cx="877824" cy="384048"/>
          </a:xfrm>
          <a:prstGeom prst="rect">
            <a:avLst/>
          </a:prstGeom>
          <a:solidFill>
            <a:srgbClr val="888888">
              <a:alpha val="28000"/>
            </a:srgbClr>
          </a:solidFill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4169664" y="4498848"/>
            <a:ext cx="877824" cy="146304"/>
          </a:xfrm>
          <a:prstGeom prst="ellipse">
            <a:avLst/>
          </a:prstGeom>
          <a:solidFill>
            <a:srgbClr val="888888">
              <a:alpha val="20000"/>
            </a:srgbClr>
          </a:solidFill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4169664" y="4297680"/>
            <a:ext cx="877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 flipH="1" flipV="1">
            <a:off x="1786739" y="3840480"/>
            <a:ext cx="2821837" cy="365760"/>
          </a:xfrm>
          <a:prstGeom prst="line">
            <a:avLst/>
          </a:prstGeom>
          <a:noFill/>
          <a:ln w="10160">
            <a:solidFill>
              <a:srgbClr val="888888">
                <a:alpha val="45000"/>
              </a:srgbClr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5248656" y="4206240"/>
            <a:ext cx="877824" cy="146304"/>
          </a:xfrm>
          <a:prstGeom prst="ellipse">
            <a:avLst/>
          </a:prstGeom>
          <a:solidFill>
            <a:srgbClr val="888888">
              <a:alpha val="38000"/>
            </a:srgbClr>
          </a:solidFill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5248656" y="4279392"/>
            <a:ext cx="877824" cy="384048"/>
          </a:xfrm>
          <a:prstGeom prst="rect">
            <a:avLst/>
          </a:prstGeom>
          <a:solidFill>
            <a:srgbClr val="888888">
              <a:alpha val="28000"/>
            </a:srgbClr>
          </a:solidFill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5248656" y="4498848"/>
            <a:ext cx="877824" cy="146304"/>
          </a:xfrm>
          <a:prstGeom prst="ellipse">
            <a:avLst/>
          </a:prstGeom>
          <a:solidFill>
            <a:srgbClr val="888888">
              <a:alpha val="20000"/>
            </a:srgbClr>
          </a:solidFill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5248656" y="4297680"/>
            <a:ext cx="8778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Maint.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6601968" y="804672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GUARANTEE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6601968" y="1042416"/>
            <a:ext cx="2432304" cy="1371600"/>
          </a:xfrm>
          <a:prstGeom prst="rect">
            <a:avLst/>
          </a:prstGeom>
          <a:solidFill>
            <a:srgbClr val="141414"/>
          </a:solidFill>
          <a:ln w="12700">
            <a:solidFill>
              <a:srgbClr val="F97316">
                <a:alpha val="6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6748272" y="1152144"/>
            <a:ext cx="215798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never receives raw production data.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request passes access validation, NDA checks, filtering, KPI calculation and aggregation first. Only the resulting business context reaches the LLM.</a:t>
            </a:r>
            <a:endParaRPr lang="en-US" sz="1050" dirty="0"/>
          </a:p>
        </p:txBody>
      </p:sp>
      <p:sp>
        <p:nvSpPr>
          <p:cNvPr id="95" name="Text 93"/>
          <p:cNvSpPr/>
          <p:nvPr/>
        </p:nvSpPr>
        <p:spPr>
          <a:xfrm>
            <a:off x="6601968" y="2542032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6601968" y="2798064"/>
            <a:ext cx="2432304" cy="438912"/>
          </a:xfrm>
          <a:prstGeom prst="rect">
            <a:avLst/>
          </a:prstGeom>
          <a:solidFill>
            <a:srgbClr val="141414"/>
          </a:solidFill>
          <a:ln w="10160">
            <a:solidFill>
              <a:srgbClr val="E6332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6601968" y="2798064"/>
            <a:ext cx="566928" cy="438912"/>
          </a:xfrm>
          <a:prstGeom prst="rect">
            <a:avLst/>
          </a:prstGeom>
          <a:solidFill>
            <a:srgbClr val="E63329">
              <a:alpha val="30000"/>
            </a:srgbClr>
          </a:solidFill>
          <a:ln w="12700">
            <a:solidFill>
              <a:srgbClr val="E6332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6601968" y="2798064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GDPR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7223760" y="283464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PII to AI  ·  Art. 6(1)(f)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601968" y="3310128"/>
            <a:ext cx="2432304" cy="438912"/>
          </a:xfrm>
          <a:prstGeom prst="rect">
            <a:avLst/>
          </a:prstGeom>
          <a:solidFill>
            <a:srgbClr val="141414"/>
          </a:solidFill>
          <a:ln w="10160">
            <a:solidFill>
              <a:srgbClr val="F9731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6601968" y="3310128"/>
            <a:ext cx="566928" cy="438912"/>
          </a:xfrm>
          <a:prstGeom prst="rect">
            <a:avLst/>
          </a:prstGeom>
          <a:solidFill>
            <a:srgbClr val="F97316">
              <a:alpha val="30000"/>
            </a:srgbClr>
          </a:solidFill>
          <a:ln w="12700">
            <a:solidFill>
              <a:srgbClr val="F9731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6601968" y="3310128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Act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7223760" y="3346704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Risk  ·  Human approval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6601968" y="3822192"/>
            <a:ext cx="2432304" cy="438912"/>
          </a:xfrm>
          <a:prstGeom prst="rect">
            <a:avLst/>
          </a:prstGeom>
          <a:solidFill>
            <a:srgbClr val="141414"/>
          </a:solidFill>
          <a:ln w="10160">
            <a:solidFill>
              <a:srgbClr val="22C55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6601968" y="3822192"/>
            <a:ext cx="566928" cy="438912"/>
          </a:xfrm>
          <a:prstGeom prst="rect">
            <a:avLst/>
          </a:prstGeom>
          <a:solidFill>
            <a:srgbClr val="22C55E">
              <a:alpha val="3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6601968" y="3822192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9001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7223760" y="385876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 audit trails  ·  Traceable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6601968" y="4334256"/>
            <a:ext cx="2432304" cy="438912"/>
          </a:xfrm>
          <a:prstGeom prst="rect">
            <a:avLst/>
          </a:prstGeom>
          <a:solidFill>
            <a:srgbClr val="141414"/>
          </a:solidFill>
          <a:ln w="10160">
            <a:solidFill>
              <a:srgbClr val="A855F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6601968" y="4334256"/>
            <a:ext cx="566928" cy="438912"/>
          </a:xfrm>
          <a:prstGeom prst="rect">
            <a:avLst/>
          </a:prstGeom>
          <a:solidFill>
            <a:srgbClr val="A855F7">
              <a:alpha val="30000"/>
            </a:srgbClr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6601968" y="4334256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NDA / IP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7223760" y="4370832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On-premise  ·  Role-based access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 flipH="1" flipV="1">
            <a:off x="1778305" y="3839337"/>
            <a:ext cx="3922979" cy="365760"/>
          </a:xfrm>
          <a:prstGeom prst="line">
            <a:avLst/>
          </a:prstGeom>
          <a:noFill/>
          <a:ln w="10160">
            <a:solidFill>
              <a:srgbClr val="888888">
                <a:alpha val="45000"/>
              </a:srgbClr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 flipH="1" flipV="1">
            <a:off x="1714500" y="3822192"/>
            <a:ext cx="1815084" cy="384048"/>
          </a:xfrm>
          <a:prstGeom prst="line">
            <a:avLst/>
          </a:prstGeom>
          <a:noFill/>
          <a:ln w="10160">
            <a:solidFill>
              <a:srgbClr val="F97316">
                <a:alpha val="45000"/>
              </a:srgbClr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20117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82296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GDPR Strategy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56032" y="42062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Machine-first data processing with strict personal-data controls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4956048"/>
            <a:ext cx="9144000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  ·  SilverTrust Consulting  ·  Confidential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7/11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" y="841248"/>
            <a:ext cx="4224528" cy="1920240"/>
          </a:xfrm>
          <a:prstGeom prst="rect">
            <a:avLst/>
          </a:prstGeom>
          <a:solidFill>
            <a:srgbClr val="141414"/>
          </a:solidFill>
          <a:ln w="6350">
            <a:solidFill>
              <a:srgbClr val="2E2E2E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841248"/>
            <a:ext cx="4224528" cy="54864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" y="9875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data is processed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129844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primarily processes machine and operational data. Limited personal data may include: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1828800"/>
            <a:ext cx="1828800" cy="329184"/>
          </a:xfrm>
          <a:prstGeom prst="rect">
            <a:avLst/>
          </a:prstGeom>
          <a:solidFill>
            <a:srgbClr val="1C1C1C"/>
          </a:solidFill>
          <a:ln w="6350">
            <a:solidFill>
              <a:srgbClr val="E6332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" y="182880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accounts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04872" y="1828800"/>
            <a:ext cx="1828800" cy="329184"/>
          </a:xfrm>
          <a:prstGeom prst="rect">
            <a:avLst/>
          </a:prstGeom>
          <a:solidFill>
            <a:srgbClr val="1C1C1C"/>
          </a:solidFill>
          <a:ln w="6350">
            <a:solidFill>
              <a:srgbClr val="E6332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496312" y="182880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names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8912" y="2249424"/>
            <a:ext cx="1828800" cy="329184"/>
          </a:xfrm>
          <a:prstGeom prst="rect">
            <a:avLst/>
          </a:prstGeom>
          <a:solidFill>
            <a:srgbClr val="1C1C1C"/>
          </a:solidFill>
          <a:ln w="6350">
            <a:solidFill>
              <a:srgbClr val="E6332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0352" y="2249424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 information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04872" y="2249424"/>
            <a:ext cx="1828800" cy="329184"/>
          </a:xfrm>
          <a:prstGeom prst="rect">
            <a:avLst/>
          </a:prstGeom>
          <a:solidFill>
            <a:srgbClr val="1C1C1C"/>
          </a:solidFill>
          <a:ln w="6350">
            <a:solidFill>
              <a:srgbClr val="E6332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496312" y="2249424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Maintenance records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2871216"/>
            <a:ext cx="4224528" cy="1883664"/>
          </a:xfrm>
          <a:prstGeom prst="rect">
            <a:avLst/>
          </a:prstGeom>
          <a:solidFill>
            <a:srgbClr val="141414"/>
          </a:solidFill>
          <a:ln w="10160">
            <a:solidFill>
              <a:srgbClr val="F97316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6032" y="2871216"/>
            <a:ext cx="109728" cy="18836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29992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Lawful basis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3101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Legitimate Interest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7200" y="37673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Article 6(1)(f) GDPR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078224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 is necessary for legitimate operational interests, balanced against data-subject rights through the controls applied.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841248"/>
            <a:ext cx="4224528" cy="3913632"/>
          </a:xfrm>
          <a:prstGeom prst="rect">
            <a:avLst/>
          </a:prstGeom>
          <a:solidFill>
            <a:srgbClr val="141414"/>
          </a:solidFill>
          <a:ln w="10160">
            <a:solidFill>
              <a:srgbClr val="22C55E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63440" y="841248"/>
            <a:ext cx="4224528" cy="457200"/>
          </a:xfrm>
          <a:prstGeom prst="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8412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in place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46320" y="1426464"/>
            <a:ext cx="3858768" cy="548640"/>
          </a:xfrm>
          <a:prstGeom prst="rect">
            <a:avLst/>
          </a:prstGeom>
          <a:solidFill>
            <a:srgbClr val="1C1C1C"/>
          </a:solidFill>
          <a:ln w="6350">
            <a:solidFill>
              <a:srgbClr val="22C55E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46320" y="1426464"/>
            <a:ext cx="45720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92624" y="1481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access control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92624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authorized users reach permitted data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46320" y="2066544"/>
            <a:ext cx="3858768" cy="548640"/>
          </a:xfrm>
          <a:prstGeom prst="rect">
            <a:avLst/>
          </a:prstGeom>
          <a:solidFill>
            <a:srgbClr val="1C1C1C"/>
          </a:solidFill>
          <a:ln w="6350">
            <a:solidFill>
              <a:srgbClr val="22C55E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46320" y="2066544"/>
            <a:ext cx="45720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92624" y="2121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92624" y="23591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protected at rest and in transit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46320" y="2706624"/>
            <a:ext cx="3858768" cy="548640"/>
          </a:xfrm>
          <a:prstGeom prst="rect">
            <a:avLst/>
          </a:prstGeom>
          <a:solidFill>
            <a:srgbClr val="1C1C1C"/>
          </a:solidFill>
          <a:ln w="6350">
            <a:solidFill>
              <a:srgbClr val="22C55E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846320" y="2706624"/>
            <a:ext cx="45720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92624" y="2761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logging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92624" y="29992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access and request is recorded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46320" y="3346704"/>
            <a:ext cx="3858768" cy="548640"/>
          </a:xfrm>
          <a:prstGeom prst="rect">
            <a:avLst/>
          </a:prstGeom>
          <a:solidFill>
            <a:srgbClr val="1C1C1C"/>
          </a:solidFill>
          <a:ln w="6350">
            <a:solidFill>
              <a:srgbClr val="22C55E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46320" y="3346704"/>
            <a:ext cx="45720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992624" y="3401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Pseudonymization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992624" y="36393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where appropriate to limit exposure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46320" y="3986784"/>
            <a:ext cx="3858768" cy="548640"/>
          </a:xfrm>
          <a:prstGeom prst="rect">
            <a:avLst/>
          </a:prstGeom>
          <a:solidFill>
            <a:srgbClr val="1C1C1C"/>
          </a:solidFill>
          <a:ln w="6350">
            <a:solidFill>
              <a:srgbClr val="22C55E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846320" y="3986784"/>
            <a:ext cx="45720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992624" y="4041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minimization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992624" y="42793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required fields are processed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20117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82296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NDA &amp; IP Protection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56032" y="42062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NDAs and OEM agreements enforced by design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4956048"/>
            <a:ext cx="9144000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  ·  SilverTrust Consulting  ·  Confidential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8/11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" y="841248"/>
            <a:ext cx="3840480" cy="3913632"/>
          </a:xfrm>
          <a:prstGeom prst="rect">
            <a:avLst/>
          </a:prstGeom>
          <a:solidFill>
            <a:srgbClr val="141414"/>
          </a:solidFill>
          <a:ln w="10160">
            <a:solidFill>
              <a:srgbClr val="A855F7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841248"/>
            <a:ext cx="109728" cy="39136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0241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governing principle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137160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can only access information that the requesting user is authorized to view.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" y="269748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 operates under customer NDAs and OEM agreements. Protection is not a policy layer on top — it is enforced at every request, end to end.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79392" y="87782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 measures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79392" y="1243584"/>
            <a:ext cx="2212848" cy="987552"/>
          </a:xfrm>
          <a:prstGeom prst="rect">
            <a:avLst/>
          </a:prstGeom>
          <a:solidFill>
            <a:srgbClr val="141414"/>
          </a:solidFill>
          <a:ln w="10160">
            <a:solidFill>
              <a:srgbClr val="A855F7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79392" y="1243584"/>
            <a:ext cx="2212848" cy="91440"/>
          </a:xfrm>
          <a:prstGeom prst="rect">
            <a:avLst/>
          </a:prstGeom>
          <a:solidFill>
            <a:srgbClr val="A855F7">
              <a:alpha val="70000"/>
            </a:srgbClr>
          </a:solidFill>
          <a:ln w="12700">
            <a:solidFill>
              <a:srgbClr val="A855F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25696" y="1463040"/>
            <a:ext cx="310896" cy="310896"/>
          </a:xfrm>
          <a:prstGeom prst="ellipse">
            <a:avLst/>
          </a:prstGeom>
          <a:solidFill>
            <a:srgbClr val="A855F7">
              <a:alpha val="70000"/>
            </a:srgbClr>
          </a:solidFill>
          <a:ln w="12700">
            <a:solidFill>
              <a:srgbClr val="A855F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25696" y="1463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25696" y="1792224"/>
            <a:ext cx="19751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On-premises deployment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20256" y="1243584"/>
            <a:ext cx="2212848" cy="987552"/>
          </a:xfrm>
          <a:prstGeom prst="rect">
            <a:avLst/>
          </a:prstGeom>
          <a:solidFill>
            <a:srgbClr val="141414"/>
          </a:solidFill>
          <a:ln w="10160">
            <a:solidFill>
              <a:srgbClr val="A855F7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620256" y="1243584"/>
            <a:ext cx="2212848" cy="91440"/>
          </a:xfrm>
          <a:prstGeom prst="rect">
            <a:avLst/>
          </a:prstGeom>
          <a:solidFill>
            <a:srgbClr val="A855F7">
              <a:alpha val="70000"/>
            </a:srgbClr>
          </a:solidFill>
          <a:ln w="12700">
            <a:solidFill>
              <a:srgbClr val="A855F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766560" y="1463040"/>
            <a:ext cx="310896" cy="310896"/>
          </a:xfrm>
          <a:prstGeom prst="ellipse">
            <a:avLst/>
          </a:prstGeom>
          <a:solidFill>
            <a:srgbClr val="A855F7">
              <a:alpha val="70000"/>
            </a:srgbClr>
          </a:solidFill>
          <a:ln w="12700">
            <a:solidFill>
              <a:srgbClr val="A855F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66560" y="1463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66560" y="1792224"/>
            <a:ext cx="19751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unrestricted external data transfer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79392" y="2377440"/>
            <a:ext cx="2212848" cy="987552"/>
          </a:xfrm>
          <a:prstGeom prst="rect">
            <a:avLst/>
          </a:prstGeom>
          <a:solidFill>
            <a:srgbClr val="141414"/>
          </a:solidFill>
          <a:ln w="10160">
            <a:solidFill>
              <a:srgbClr val="A855F7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279392" y="2377440"/>
            <a:ext cx="2212848" cy="91440"/>
          </a:xfrm>
          <a:prstGeom prst="rect">
            <a:avLst/>
          </a:prstGeom>
          <a:solidFill>
            <a:srgbClr val="A855F7">
              <a:alpha val="70000"/>
            </a:srgbClr>
          </a:solidFill>
          <a:ln w="12700">
            <a:solidFill>
              <a:srgbClr val="A855F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425696" y="2596896"/>
            <a:ext cx="310896" cy="310896"/>
          </a:xfrm>
          <a:prstGeom prst="ellipse">
            <a:avLst/>
          </a:prstGeom>
          <a:solidFill>
            <a:srgbClr val="A855F7">
              <a:alpha val="70000"/>
            </a:srgbClr>
          </a:solidFill>
          <a:ln w="12700">
            <a:solidFill>
              <a:srgbClr val="A855F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25696" y="2596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25696" y="2926080"/>
            <a:ext cx="19751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classification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620256" y="2377440"/>
            <a:ext cx="2212848" cy="987552"/>
          </a:xfrm>
          <a:prstGeom prst="rect">
            <a:avLst/>
          </a:prstGeom>
          <a:solidFill>
            <a:srgbClr val="141414"/>
          </a:solidFill>
          <a:ln w="10160">
            <a:solidFill>
              <a:srgbClr val="A855F7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620256" y="2377440"/>
            <a:ext cx="2212848" cy="91440"/>
          </a:xfrm>
          <a:prstGeom prst="rect">
            <a:avLst/>
          </a:prstGeom>
          <a:solidFill>
            <a:srgbClr val="A855F7">
              <a:alpha val="70000"/>
            </a:srgbClr>
          </a:solidFill>
          <a:ln w="12700">
            <a:solidFill>
              <a:srgbClr val="A855F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766560" y="2596896"/>
            <a:ext cx="310896" cy="310896"/>
          </a:xfrm>
          <a:prstGeom prst="ellipse">
            <a:avLst/>
          </a:prstGeom>
          <a:solidFill>
            <a:srgbClr val="A855F7">
              <a:alpha val="70000"/>
            </a:srgbClr>
          </a:solidFill>
          <a:ln w="12700">
            <a:solidFill>
              <a:srgbClr val="A855F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66560" y="2596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66560" y="2926080"/>
            <a:ext cx="19751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permissions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279392" y="3511296"/>
            <a:ext cx="2212848" cy="987552"/>
          </a:xfrm>
          <a:prstGeom prst="rect">
            <a:avLst/>
          </a:prstGeom>
          <a:solidFill>
            <a:srgbClr val="141414"/>
          </a:solidFill>
          <a:ln w="10160">
            <a:solidFill>
              <a:srgbClr val="A855F7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279392" y="3511296"/>
            <a:ext cx="2212848" cy="91440"/>
          </a:xfrm>
          <a:prstGeom prst="rect">
            <a:avLst/>
          </a:prstGeom>
          <a:solidFill>
            <a:srgbClr val="A855F7">
              <a:alpha val="70000"/>
            </a:srgbClr>
          </a:solidFill>
          <a:ln w="12700">
            <a:solidFill>
              <a:srgbClr val="A855F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425696" y="3730752"/>
            <a:ext cx="310896" cy="310896"/>
          </a:xfrm>
          <a:prstGeom prst="ellipse">
            <a:avLst/>
          </a:prstGeom>
          <a:solidFill>
            <a:srgbClr val="A855F7">
              <a:alpha val="70000"/>
            </a:srgbClr>
          </a:solidFill>
          <a:ln w="12700">
            <a:solidFill>
              <a:srgbClr val="A855F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425696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425696" y="4059936"/>
            <a:ext cx="19751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Restricted customer data access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620256" y="3511296"/>
            <a:ext cx="2212848" cy="987552"/>
          </a:xfrm>
          <a:prstGeom prst="rect">
            <a:avLst/>
          </a:prstGeom>
          <a:solidFill>
            <a:srgbClr val="141414"/>
          </a:solidFill>
          <a:ln w="10160">
            <a:solidFill>
              <a:srgbClr val="A855F7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620256" y="3511296"/>
            <a:ext cx="2212848" cy="91440"/>
          </a:xfrm>
          <a:prstGeom prst="rect">
            <a:avLst/>
          </a:prstGeom>
          <a:solidFill>
            <a:srgbClr val="A855F7">
              <a:alpha val="70000"/>
            </a:srgbClr>
          </a:solidFill>
          <a:ln w="12700">
            <a:solidFill>
              <a:srgbClr val="A855F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766560" y="3730752"/>
            <a:ext cx="310896" cy="310896"/>
          </a:xfrm>
          <a:prstGeom prst="ellipse">
            <a:avLst/>
          </a:prstGeom>
          <a:solidFill>
            <a:srgbClr val="A855F7">
              <a:alpha val="70000"/>
            </a:srgbClr>
          </a:solidFill>
          <a:ln w="12700">
            <a:solidFill>
              <a:srgbClr val="A855F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766560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766560" y="4059936"/>
            <a:ext cx="19751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trail for all AI requests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20117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82296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 AI Act Classification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56032" y="42062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system qualifies as Minimal Risk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4956048"/>
            <a:ext cx="9144000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  ·  SilverTrust Consulting  ·  Confidential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9/11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" y="841248"/>
            <a:ext cx="3200400" cy="3913632"/>
          </a:xfrm>
          <a:prstGeom prst="rect">
            <a:avLst/>
          </a:prstGeom>
          <a:solidFill>
            <a:srgbClr val="141414"/>
          </a:solidFill>
          <a:ln w="10160">
            <a:solidFill>
              <a:srgbClr val="22C55E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841248"/>
            <a:ext cx="32004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" y="1188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LEVEL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" y="1517904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56032" y="213969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1170432" y="2889504"/>
            <a:ext cx="1371600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6032" y="303580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tier under the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 AI Act framework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39312" y="8778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Justification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39312" y="1225296"/>
            <a:ext cx="2798064" cy="402336"/>
          </a:xfrm>
          <a:prstGeom prst="rect">
            <a:avLst/>
          </a:prstGeom>
          <a:solidFill>
            <a:srgbClr val="141414"/>
          </a:solidFill>
          <a:ln w="7620">
            <a:solidFill>
              <a:srgbClr val="22C55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39312" y="1225296"/>
            <a:ext cx="45720" cy="4023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03904" y="1225296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automated decisions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39312" y="1719072"/>
            <a:ext cx="2798064" cy="402336"/>
          </a:xfrm>
          <a:prstGeom prst="rect">
            <a:avLst/>
          </a:prstGeom>
          <a:solidFill>
            <a:srgbClr val="141414"/>
          </a:solidFill>
          <a:ln w="7620">
            <a:solidFill>
              <a:srgbClr val="22C55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39312" y="1719072"/>
            <a:ext cx="45720" cy="4023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03904" y="1719072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machine control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39312" y="2212848"/>
            <a:ext cx="2798064" cy="402336"/>
          </a:xfrm>
          <a:prstGeom prst="rect">
            <a:avLst/>
          </a:prstGeom>
          <a:solidFill>
            <a:srgbClr val="141414"/>
          </a:solidFill>
          <a:ln w="7620">
            <a:solidFill>
              <a:srgbClr val="22C55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39312" y="2212848"/>
            <a:ext cx="45720" cy="4023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03904" y="221284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employee evaluation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39312" y="2706624"/>
            <a:ext cx="2798064" cy="402336"/>
          </a:xfrm>
          <a:prstGeom prst="rect">
            <a:avLst/>
          </a:prstGeom>
          <a:solidFill>
            <a:srgbClr val="141414"/>
          </a:solidFill>
          <a:ln w="7620">
            <a:solidFill>
              <a:srgbClr val="22C55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39312" y="2706624"/>
            <a:ext cx="45720" cy="4023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03904" y="2706624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safety-critical operation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39312" y="3200400"/>
            <a:ext cx="2798064" cy="402336"/>
          </a:xfrm>
          <a:prstGeom prst="rect">
            <a:avLst/>
          </a:prstGeom>
          <a:solidFill>
            <a:srgbClr val="141414"/>
          </a:solidFill>
          <a:ln w="7620">
            <a:solidFill>
              <a:srgbClr val="22C55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639312" y="3200400"/>
            <a:ext cx="45720" cy="4023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803904" y="3200400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approval required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65392" y="8778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allocation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65392" y="1225296"/>
            <a:ext cx="2322576" cy="1371600"/>
          </a:xfrm>
          <a:prstGeom prst="rect">
            <a:avLst/>
          </a:prstGeom>
          <a:solidFill>
            <a:srgbClr val="141414"/>
          </a:solidFill>
          <a:ln w="10160">
            <a:solidFill>
              <a:srgbClr val="F97316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565392" y="1225296"/>
            <a:ext cx="2322576" cy="109728"/>
          </a:xfrm>
          <a:prstGeom prst="rect">
            <a:avLst/>
          </a:prstGeom>
          <a:solidFill>
            <a:srgbClr val="F97316">
              <a:alpha val="75000"/>
            </a:srgbClr>
          </a:solidFill>
          <a:ln w="12700">
            <a:solidFill>
              <a:srgbClr val="F9731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711696" y="142646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SilverTrust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711696" y="18105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11696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Builds and supplies the AI system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65392" y="2706624"/>
            <a:ext cx="2322576" cy="1371600"/>
          </a:xfrm>
          <a:prstGeom prst="rect">
            <a:avLst/>
          </a:prstGeom>
          <a:solidFill>
            <a:srgbClr val="141414"/>
          </a:solidFill>
          <a:ln w="10160">
            <a:solidFill>
              <a:srgbClr val="3B82F6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565392" y="2706624"/>
            <a:ext cx="2322576" cy="109728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711696" y="2907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711696" y="3291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11696" y="35844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Operates the system in production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20117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82296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LangSmith Monitoring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56032" y="42062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observability of the AI system — not the production systems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4956048"/>
            <a:ext cx="9144000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  ·  SilverTrust Consulting  ·  Confidential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10/11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56032" y="8412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tracked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1188720"/>
            <a:ext cx="2176272" cy="713232"/>
          </a:xfrm>
          <a:prstGeom prst="rect">
            <a:avLst/>
          </a:prstGeom>
          <a:solidFill>
            <a:srgbClr val="141414"/>
          </a:solidFill>
          <a:ln w="7620">
            <a:solidFill>
              <a:srgbClr val="3B82F6">
                <a:alpha val="45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6032" y="1188720"/>
            <a:ext cx="45720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0624" y="118872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requests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1188720"/>
            <a:ext cx="2176272" cy="713232"/>
          </a:xfrm>
          <a:prstGeom prst="rect">
            <a:avLst/>
          </a:prstGeom>
          <a:solidFill>
            <a:srgbClr val="141414"/>
          </a:solidFill>
          <a:ln w="7620">
            <a:solidFill>
              <a:srgbClr val="3B82F6">
                <a:alpha val="45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60320" y="1188720"/>
            <a:ext cx="45720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24912" y="1188720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Retrieved documents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" y="2029968"/>
            <a:ext cx="2176272" cy="713232"/>
          </a:xfrm>
          <a:prstGeom prst="rect">
            <a:avLst/>
          </a:prstGeom>
          <a:solidFill>
            <a:srgbClr val="141414"/>
          </a:solidFill>
          <a:ln w="7620">
            <a:solidFill>
              <a:srgbClr val="3B82F6">
                <a:alpha val="45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6032" y="2029968"/>
            <a:ext cx="45720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0624" y="202996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responses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0" y="2029968"/>
            <a:ext cx="2176272" cy="713232"/>
          </a:xfrm>
          <a:prstGeom prst="rect">
            <a:avLst/>
          </a:prstGeom>
          <a:solidFill>
            <a:srgbClr val="141414"/>
          </a:solidFill>
          <a:ln w="7620">
            <a:solidFill>
              <a:srgbClr val="3B82F6">
                <a:alpha val="45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60320" y="2029968"/>
            <a:ext cx="45720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24912" y="202996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Investigation outputs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" y="2871216"/>
            <a:ext cx="2176272" cy="713232"/>
          </a:xfrm>
          <a:prstGeom prst="rect">
            <a:avLst/>
          </a:prstGeom>
          <a:solidFill>
            <a:srgbClr val="141414"/>
          </a:solidFill>
          <a:ln w="7620">
            <a:solidFill>
              <a:srgbClr val="3B82F6">
                <a:alpha val="45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6032" y="2871216"/>
            <a:ext cx="45720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0624" y="2871216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generation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0" y="2871216"/>
            <a:ext cx="2176272" cy="713232"/>
          </a:xfrm>
          <a:prstGeom prst="rect">
            <a:avLst/>
          </a:prstGeom>
          <a:solidFill>
            <a:srgbClr val="141414"/>
          </a:solidFill>
          <a:ln w="7620">
            <a:solidFill>
              <a:srgbClr val="3B82F6">
                <a:alpha val="45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60320" y="2871216"/>
            <a:ext cx="45720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24912" y="2871216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712464"/>
            <a:ext cx="2176272" cy="713232"/>
          </a:xfrm>
          <a:prstGeom prst="rect">
            <a:avLst/>
          </a:prstGeom>
          <a:solidFill>
            <a:srgbClr val="141414"/>
          </a:solidFill>
          <a:ln w="7620">
            <a:solidFill>
              <a:srgbClr val="3B82F6">
                <a:alpha val="45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56032" y="3712464"/>
            <a:ext cx="45720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20624" y="3712464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60320" y="3712464"/>
            <a:ext cx="2176272" cy="713232"/>
          </a:xfrm>
          <a:prstGeom prst="rect">
            <a:avLst/>
          </a:prstGeom>
          <a:solidFill>
            <a:srgbClr val="141414"/>
          </a:solidFill>
          <a:ln w="7620">
            <a:solidFill>
              <a:srgbClr val="3B82F6">
                <a:alpha val="45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560320" y="3712464"/>
            <a:ext cx="45720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24912" y="3712464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feedback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56048" y="841248"/>
            <a:ext cx="3931920" cy="2377440"/>
          </a:xfrm>
          <a:prstGeom prst="rect">
            <a:avLst/>
          </a:prstGeom>
          <a:solidFill>
            <a:srgbClr val="141414"/>
          </a:solidFill>
          <a:ln w="10160">
            <a:solidFill>
              <a:srgbClr val="22C55E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956048" y="841248"/>
            <a:ext cx="3931920" cy="457200"/>
          </a:xfrm>
          <a:prstGeom prst="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138928" y="841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38928" y="142646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transparency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675120" y="142646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AI action is visible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138928" y="184708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auditability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675120" y="18470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review of outputs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138928" y="226771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in AI insights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675120" y="226771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for decision-makers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138928" y="268833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evidence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675120" y="268833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 for regulatory review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956048" y="3346704"/>
            <a:ext cx="3931920" cy="1408176"/>
          </a:xfrm>
          <a:prstGeom prst="rect">
            <a:avLst/>
          </a:prstGeom>
          <a:solidFill>
            <a:srgbClr val="1C1C1C"/>
          </a:solidFill>
          <a:ln w="12700">
            <a:solidFill>
              <a:srgbClr val="F97316">
                <a:alpha val="6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956048" y="3346704"/>
            <a:ext cx="109728" cy="14081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157216" y="3474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traceability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157216" y="3785616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AI-generated report, recommendation and investigation can be traced back to its source and reviewed by authorized personnel.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7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914400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1463040"/>
            <a:ext cx="201168" cy="20117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2560320"/>
            <a:ext cx="128016" cy="20117"/>
          </a:xfrm>
          <a:prstGeom prst="rect">
            <a:avLst/>
          </a:prstGeom>
          <a:solidFill>
            <a:srgbClr val="F97316">
              <a:alpha val="5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you.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256032" y="214884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look forward to working with Vulkan Werke.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6032" y="2834640"/>
            <a:ext cx="219456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" y="2980944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SilverTrust Consulting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" y="33284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Questions? Comments? We're ready.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0" y="3108960"/>
            <a:ext cx="1298448" cy="1298448"/>
          </a:xfrm>
          <a:prstGeom prst="ellipse">
            <a:avLst/>
          </a:prstGeom>
          <a:solidFill>
            <a:srgbClr val="1C1C1C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17536" y="3328416"/>
            <a:ext cx="859536" cy="859536"/>
          </a:xfrm>
          <a:prstGeom prst="ellipse">
            <a:avLst/>
          </a:prstGeom>
          <a:solidFill>
            <a:srgbClr val="141414"/>
          </a:solidFill>
          <a:ln w="1016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936992" y="3547872"/>
            <a:ext cx="420624" cy="42062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98080" y="3108960"/>
            <a:ext cx="129844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0" y="4956048"/>
            <a:ext cx="9144000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6032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Vulkan Werke  ·  SilverTrust Consulting  ·  Confidential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11/11</a:t>
            </a:r>
            <a:endParaRPr lang="en-US" sz="7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0233fac-3102-4b22-9f43-dcb6aed9aea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B8003689506747B63DBB244879DC73" ma:contentTypeVersion="19" ma:contentTypeDescription="Create a new document." ma:contentTypeScope="" ma:versionID="d35a33557a9ed6dabda847809e6d6077">
  <xsd:schema xmlns:xsd="http://www.w3.org/2001/XMLSchema" xmlns:xs="http://www.w3.org/2001/XMLSchema" xmlns:p="http://schemas.microsoft.com/office/2006/metadata/properties" xmlns:ns3="10233fac-3102-4b22-9f43-dcb6aed9aea4" xmlns:ns4="1a48b24f-2696-4d0d-bf6d-8304c3ed2b04" targetNamespace="http://schemas.microsoft.com/office/2006/metadata/properties" ma:root="true" ma:fieldsID="fe8615f8f857165f4d8a1bc8217ec248" ns3:_="" ns4:_="">
    <xsd:import namespace="10233fac-3102-4b22-9f43-dcb6aed9aea4"/>
    <xsd:import namespace="1a48b24f-2696-4d0d-bf6d-8304c3ed2b0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233fac-3102-4b22-9f43-dcb6aed9ae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8b24f-2696-4d0d-bf6d-8304c3ed2b0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FD3CFF-D856-4895-BC8C-2D54E55CAFB2}">
  <ds:schemaRefs>
    <ds:schemaRef ds:uri="http://www.w3.org/XML/1998/namespace"/>
    <ds:schemaRef ds:uri="1a48b24f-2696-4d0d-bf6d-8304c3ed2b04"/>
    <ds:schemaRef ds:uri="http://schemas.microsoft.com/office/2006/documentManagement/types"/>
    <ds:schemaRef ds:uri="http://purl.org/dc/dcmitype/"/>
    <ds:schemaRef ds:uri="http://purl.org/dc/terms/"/>
    <ds:schemaRef ds:uri="10233fac-3102-4b22-9f43-dcb6aed9aea4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855469DE-EC21-40ED-AA6F-ED689295087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680B7C7-988E-4E4A-875B-95A068F0E4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0233fac-3102-4b22-9f43-dcb6aed9aea4"/>
    <ds:schemaRef ds:uri="1a48b24f-2696-4d0d-bf6d-8304c3ed2b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1043</Words>
  <Application>Microsoft Office PowerPoint</Application>
  <PresentationFormat>Bildschirmpräsentation (16:9)</PresentationFormat>
  <Paragraphs>262</Paragraphs>
  <Slides>11</Slides>
  <Notes>11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Aptos</vt:lpstr>
      <vt:lpstr>Arial</vt:lpstr>
      <vt:lpstr>Office Theme</vt:lpstr>
      <vt:lpstr>think-cell Folie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Vulkan Werke – AI Data Intelligence</dc:title>
  <dc:subject>PptxGenJS Presentation</dc:subject>
  <dc:creator>Gunter.Kleber@globefuelcell.com</dc:creator>
  <cp:lastModifiedBy>Kleber, Gunter</cp:lastModifiedBy>
  <cp:revision>5</cp:revision>
  <dcterms:created xsi:type="dcterms:W3CDTF">2026-06-02T07:31:36Z</dcterms:created>
  <dcterms:modified xsi:type="dcterms:W3CDTF">2026-06-02T07:55:43Z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0x0101006DB8003689506747B63DBB244879DC73</vt:lpwstr>
  </property>
</Properties>
</file>